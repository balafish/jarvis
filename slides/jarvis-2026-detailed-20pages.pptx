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</Types>
</file>

<file path=_rels/.rels><?xml version="1.0" encoding="UTF-8" standalone="yes"?>
<Relationships xmlns="http://schemas.openxmlformats.org/package/2006/relationships">
<Relationship Id="rId3" Type="http://schemas.openxmlformats.org/package/2006/relationships/metadata/core-properties" Target="docProps/core.xml"/>
<Relationship Id="rId2" Type="http://schemas.openxmlformats.org/package/2006/relationships/metadata/thumbnail" Target="docProps/thumbnail.jpeg"/>
<Relationship Id="rId1" Type="http://schemas.openxmlformats.org/officeDocument/2006/relationships/officeDocument" Target="ppt/presentation.xml"/>
<Relationship Id="rId4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4"/>
    <p:sldId id="274" r:id="rId25"/>
    <p:sldId id="275" r:id="rId26"/>
  </p:sldIdLst>
  <p:sldSz cx="18288000" cy="10287000"/>
  <p:notesSz cx="6858000" cy="9144000"/>
  <p:embeddedFontLst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626" autoAdjust="0"/>
  </p:normalViewPr>
  <p:slideViewPr>
    <p:cSldViewPr>
      <p:cViewPr varScale="1">
        <p:scale>
          <a:sx n="77" d="100"/>
          <a:sy n="77" d="100"/>
        </p:scale>
        <p:origin x="888" y="2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
  <Relationship Id="rId21" Type="http://schemas.openxmlformats.org/officeDocument/2006/relationships/viewProps" Target="viewProps.xml"/>
  <Relationship Id="rId20" Type="http://schemas.openxmlformats.org/officeDocument/2006/relationships/presProps" Target="presProps.xml"/>
  <Relationship Id="rId1" Type="http://schemas.openxmlformats.org/officeDocument/2006/relationships/slideMaster" Target="slideMasters/slideMaster1.xml"/>
  <Relationship Id="rId23" Type="http://schemas.openxmlformats.org/officeDocument/2006/relationships/tableStyles" Target="tableStyles.xml"/>
  <Relationship Id="rId2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slide" Target="slides/slide12.xml"/>
  <Relationship Id="rId15" Type="http://schemas.openxmlformats.org/officeDocument/2006/relationships/slide" Target="slides/slide13.xml"/>
  <Relationship Id="rId16" Type="http://schemas.openxmlformats.org/officeDocument/2006/relationships/slide" Target="slides/slide14.xml"/>
  <Relationship Id="rId17" Type="http://schemas.openxmlformats.org/officeDocument/2006/relationships/slide" Target="slides/slide15.xml"/>
  <Relationship Id="rId18" Type="http://schemas.openxmlformats.org/officeDocument/2006/relationships/slide" Target="slides/slide16.xml"/>
  <Relationship Id="rId19" Type="http://schemas.openxmlformats.org/officeDocument/2006/relationships/slide" Target="slides/slide17.xml"/>
  <Relationship Id="rId24" Type="http://schemas.openxmlformats.org/officeDocument/2006/relationships/slide" Target="slides/slide18.xml"/>
  <Relationship Id="rId25" Type="http://schemas.openxmlformats.org/officeDocument/2006/relationships/slide" Target="slides/slide19.xml"/>
  <Relationship Id="rId26" Type="http://schemas.openxmlformats.org/officeDocument/2006/relationships/slide" Target="slides/slide20.xml"/>
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<Relationship Id="rId8" Type="http://schemas.openxmlformats.org/officeDocument/2006/relationships/image" Target="../media/image7.svg"/>
<Relationship Id="rId3" Type="http://schemas.openxmlformats.org/officeDocument/2006/relationships/image" Target="../media/image2.png"/>
<Relationship Id="rId7" Type="http://schemas.openxmlformats.org/officeDocument/2006/relationships/image" Target="../media/image6.png"/>
<Relationship Id="rId2" Type="http://schemas.openxmlformats.org/officeDocument/2006/relationships/image" Target="../media/image1.jpeg"/>
<Relationship Id="rId1" Type="http://schemas.openxmlformats.org/officeDocument/2006/relationships/slideLayout" Target="../slideLayouts/slideLayout7.xml"/>
<Relationship Id="rId6" Type="http://schemas.openxmlformats.org/officeDocument/2006/relationships/image" Target="../media/image5.svg"/>
<Relationship Id="rId5" Type="http://schemas.openxmlformats.org/officeDocument/2006/relationships/image" Target="../media/image4.png"/>
<Relationship Id="rId10" Type="http://schemas.openxmlformats.org/officeDocument/2006/relationships/image" Target="../media/image9.svg"/>
<Relationship Id="rId4" Type="http://schemas.openxmlformats.org/officeDocument/2006/relationships/image" Target="../media/image3.svg"/>
<Relationship Id="rId9" Type="http://schemas.openxmlformats.org/officeDocument/2006/relationships/image" Target="../media/image8.png"/>
</Relationships>
</file>

<file path=ppt/slides/_rels/slide2.xml.rels><?xml version="1.0" encoding="UTF-8" standalone="yes"?>
<Relationships xmlns="http://schemas.openxmlformats.org/package/2006/relationships">
<Relationship Id="rId8" Type="http://schemas.openxmlformats.org/officeDocument/2006/relationships/image" Target="../media/image15.svg"/>
<Relationship Id="rId13" Type="http://schemas.openxmlformats.org/officeDocument/2006/relationships/image" Target="../media/image4.png"/>
<Relationship Id="rId18" Type="http://schemas.openxmlformats.org/officeDocument/2006/relationships/image" Target="../media/image7.svg"/>
<Relationship Id="rId3" Type="http://schemas.openxmlformats.org/officeDocument/2006/relationships/image" Target="../media/image10.png"/>
<Relationship Id="rId7" Type="http://schemas.openxmlformats.org/officeDocument/2006/relationships/image" Target="../media/image14.png"/>
<Relationship Id="rId12" Type="http://schemas.openxmlformats.org/officeDocument/2006/relationships/image" Target="../media/image19.svg"/>
<Relationship Id="rId17" Type="http://schemas.openxmlformats.org/officeDocument/2006/relationships/image" Target="../media/image6.png"/>
<Relationship Id="rId2" Type="http://schemas.openxmlformats.org/officeDocument/2006/relationships/image" Target="../media/image1.jpeg"/>
<Relationship Id="rId16" Type="http://schemas.openxmlformats.org/officeDocument/2006/relationships/image" Target="../media/image21.svg"/>
<Relationship Id="rId1" Type="http://schemas.openxmlformats.org/officeDocument/2006/relationships/slideLayout" Target="../slideLayouts/slideLayout7.xml"/>
<Relationship Id="rId6" Type="http://schemas.openxmlformats.org/officeDocument/2006/relationships/image" Target="../media/image13.svg"/>
<Relationship Id="rId11" Type="http://schemas.openxmlformats.org/officeDocument/2006/relationships/image" Target="../media/image18.png"/>
<Relationship Id="rId5" Type="http://schemas.openxmlformats.org/officeDocument/2006/relationships/image" Target="../media/image12.png"/>
<Relationship Id="rId15" Type="http://schemas.openxmlformats.org/officeDocument/2006/relationships/image" Target="../media/image20.png"/>
<Relationship Id="rId10" Type="http://schemas.openxmlformats.org/officeDocument/2006/relationships/image" Target="../media/image17.svg"/>
<Relationship Id="rId4" Type="http://schemas.openxmlformats.org/officeDocument/2006/relationships/image" Target="../media/image11.svg"/>
<Relationship Id="rId9" Type="http://schemas.openxmlformats.org/officeDocument/2006/relationships/image" Target="../media/image16.png"/>
<Relationship Id="rId14" Type="http://schemas.openxmlformats.org/officeDocument/2006/relationships/image" Target="../media/image5.svg"/>
</Relationships>
</file>

<file path=ppt/slides/_rels/slide3.xml.rels><?xml version="1.0" encoding="UTF-8" standalone="yes"?>
<Relationships xmlns="http://schemas.openxmlformats.org/package/2006/relationships">
<Relationship Id="rId8" Type="http://schemas.openxmlformats.org/officeDocument/2006/relationships/image" Target="../media/image27.svg"/>
<Relationship Id="rId13" Type="http://schemas.openxmlformats.org/officeDocument/2006/relationships/image" Target="../media/image32.png"/>
<Relationship Id="rId18" Type="http://schemas.openxmlformats.org/officeDocument/2006/relationships/image" Target="../media/image37.svg"/>
<Relationship Id="rId3" Type="http://schemas.openxmlformats.org/officeDocument/2006/relationships/image" Target="../media/image22.png"/>
<Relationship Id="rId21" Type="http://schemas.openxmlformats.org/officeDocument/2006/relationships/image" Target="../media/image8.png"/>
<Relationship Id="rId7" Type="http://schemas.openxmlformats.org/officeDocument/2006/relationships/image" Target="../media/image26.png"/>
<Relationship Id="rId12" Type="http://schemas.openxmlformats.org/officeDocument/2006/relationships/image" Target="../media/image31.svg"/>
<Relationship Id="rId17" Type="http://schemas.openxmlformats.org/officeDocument/2006/relationships/image" Target="../media/image36.png"/>
<Relationship Id="rId2" Type="http://schemas.openxmlformats.org/officeDocument/2006/relationships/image" Target="../media/image1.jpeg"/>
<Relationship Id="rId16" Type="http://schemas.openxmlformats.org/officeDocument/2006/relationships/image" Target="../media/image35.svg"/>
<Relationship Id="rId20" Type="http://schemas.openxmlformats.org/officeDocument/2006/relationships/image" Target="../media/image7.svg"/>
<Relationship Id="rId1" Type="http://schemas.openxmlformats.org/officeDocument/2006/relationships/slideLayout" Target="../slideLayouts/slideLayout7.xml"/>
<Relationship Id="rId6" Type="http://schemas.openxmlformats.org/officeDocument/2006/relationships/image" Target="../media/image25.svg"/>
<Relationship Id="rId11" Type="http://schemas.openxmlformats.org/officeDocument/2006/relationships/image" Target="../media/image30.png"/>
<Relationship Id="rId5" Type="http://schemas.openxmlformats.org/officeDocument/2006/relationships/image" Target="../media/image24.png"/>
<Relationship Id="rId15" Type="http://schemas.openxmlformats.org/officeDocument/2006/relationships/image" Target="../media/image34.png"/>
<Relationship Id="rId10" Type="http://schemas.openxmlformats.org/officeDocument/2006/relationships/image" Target="../media/image29.svg"/>
<Relationship Id="rId19" Type="http://schemas.openxmlformats.org/officeDocument/2006/relationships/image" Target="../media/image6.png"/>
<Relationship Id="rId4" Type="http://schemas.openxmlformats.org/officeDocument/2006/relationships/image" Target="../media/image23.svg"/>
<Relationship Id="rId9" Type="http://schemas.openxmlformats.org/officeDocument/2006/relationships/image" Target="../media/image28.png"/>
<Relationship Id="rId14" Type="http://schemas.openxmlformats.org/officeDocument/2006/relationships/image" Target="../media/image33.svg"/>
<Relationship Id="rId22" Type="http://schemas.openxmlformats.org/officeDocument/2006/relationships/image" Target="../media/image9.svg"/>
</Relationships>
</file>

<file path=ppt/slides/_rels/slide4.xml.rels><?xml version="1.0" encoding="UTF-8" standalone="yes"?>
<Relationships xmlns="http://schemas.openxmlformats.org/package/2006/relationships">
<Relationship Id="rId8" Type="http://schemas.openxmlformats.org/officeDocument/2006/relationships/image" Target="../media/image43.svg"/>
<Relationship Id="rId13" Type="http://schemas.openxmlformats.org/officeDocument/2006/relationships/image" Target="../media/image48.png"/>
<Relationship Id="rId18" Type="http://schemas.openxmlformats.org/officeDocument/2006/relationships/image" Target="../media/image9.svg"/>
<Relationship Id="rId3" Type="http://schemas.openxmlformats.org/officeDocument/2006/relationships/image" Target="../media/image38.png"/>
<Relationship Id="rId7" Type="http://schemas.openxmlformats.org/officeDocument/2006/relationships/image" Target="../media/image42.png"/>
<Relationship Id="rId12" Type="http://schemas.openxmlformats.org/officeDocument/2006/relationships/image" Target="../media/image47.svg"/>
<Relationship Id="rId17" Type="http://schemas.openxmlformats.org/officeDocument/2006/relationships/image" Target="../media/image8.png"/>
<Relationship Id="rId2" Type="http://schemas.openxmlformats.org/officeDocument/2006/relationships/image" Target="../media/image1.jpeg"/>
<Relationship Id="rId16" Type="http://schemas.openxmlformats.org/officeDocument/2006/relationships/image" Target="../media/image7.svg"/>
<Relationship Id="rId1" Type="http://schemas.openxmlformats.org/officeDocument/2006/relationships/slideLayout" Target="../slideLayouts/slideLayout7.xml"/>
<Relationship Id="rId6" Type="http://schemas.openxmlformats.org/officeDocument/2006/relationships/image" Target="../media/image41.svg"/>
<Relationship Id="rId11" Type="http://schemas.openxmlformats.org/officeDocument/2006/relationships/image" Target="../media/image46.png"/>
<Relationship Id="rId5" Type="http://schemas.openxmlformats.org/officeDocument/2006/relationships/image" Target="../media/image40.png"/>
<Relationship Id="rId15" Type="http://schemas.openxmlformats.org/officeDocument/2006/relationships/image" Target="../media/image6.png"/>
<Relationship Id="rId10" Type="http://schemas.openxmlformats.org/officeDocument/2006/relationships/image" Target="../media/image45.svg"/>
<Relationship Id="rId4" Type="http://schemas.openxmlformats.org/officeDocument/2006/relationships/image" Target="../media/image39.svg"/>
<Relationship Id="rId9" Type="http://schemas.openxmlformats.org/officeDocument/2006/relationships/image" Target="../media/image44.png"/>
<Relationship Id="rId14" Type="http://schemas.openxmlformats.org/officeDocument/2006/relationships/image" Target="../media/image49.svg"/>
</Relationships>
</file>

<file path=ppt/slides/_rels/slide5.xml.rels><?xml version="1.0" encoding="UTF-8" standalone="yes"?>
<Relationships xmlns="http://schemas.openxmlformats.org/package/2006/relationships">
<Relationship Id="rId13" Type="http://schemas.openxmlformats.org/officeDocument/2006/relationships/image" Target="../media/image60.png"/>
<Relationship Id="rId18" Type="http://schemas.openxmlformats.org/officeDocument/2006/relationships/image" Target="../media/image27.svg"/>
<Relationship Id="rId26" Type="http://schemas.openxmlformats.org/officeDocument/2006/relationships/image" Target="../media/image69.svg"/>
<Relationship Id="rId3" Type="http://schemas.openxmlformats.org/officeDocument/2006/relationships/image" Target="../media/image50.png"/>
<Relationship Id="rId21" Type="http://schemas.openxmlformats.org/officeDocument/2006/relationships/image" Target="../media/image64.png"/>
<Relationship Id="rId34" Type="http://schemas.openxmlformats.org/officeDocument/2006/relationships/image" Target="../media/image7.svg"/>
<Relationship Id="rId7" Type="http://schemas.openxmlformats.org/officeDocument/2006/relationships/image" Target="../media/image54.png"/>
<Relationship Id="rId12" Type="http://schemas.openxmlformats.org/officeDocument/2006/relationships/image" Target="../media/image59.svg"/>
<Relationship Id="rId17" Type="http://schemas.openxmlformats.org/officeDocument/2006/relationships/image" Target="../media/image26.png"/>
<Relationship Id="rId25" Type="http://schemas.openxmlformats.org/officeDocument/2006/relationships/image" Target="../media/image68.png"/>
<Relationship Id="rId33" Type="http://schemas.openxmlformats.org/officeDocument/2006/relationships/image" Target="../media/image6.png"/>
<Relationship Id="rId2" Type="http://schemas.openxmlformats.org/officeDocument/2006/relationships/image" Target="../media/image1.jpeg"/>
<Relationship Id="rId16" Type="http://schemas.openxmlformats.org/officeDocument/2006/relationships/image" Target="../media/image25.svg"/>
<Relationship Id="rId20" Type="http://schemas.openxmlformats.org/officeDocument/2006/relationships/image" Target="../media/image63.svg"/>
<Relationship Id="rId29" Type="http://schemas.openxmlformats.org/officeDocument/2006/relationships/image" Target="../media/image72.png"/>
<Relationship Id="rId1" Type="http://schemas.openxmlformats.org/officeDocument/2006/relationships/slideLayout" Target="../slideLayouts/slideLayout7.xml"/>
<Relationship Id="rId6" Type="http://schemas.openxmlformats.org/officeDocument/2006/relationships/image" Target="../media/image53.svg"/>
<Relationship Id="rId11" Type="http://schemas.openxmlformats.org/officeDocument/2006/relationships/image" Target="../media/image58.png"/>
<Relationship Id="rId24" Type="http://schemas.openxmlformats.org/officeDocument/2006/relationships/image" Target="../media/image67.svg"/>
<Relationship Id="rId32" Type="http://schemas.openxmlformats.org/officeDocument/2006/relationships/image" Target="../media/image9.svg"/>
<Relationship Id="rId5" Type="http://schemas.openxmlformats.org/officeDocument/2006/relationships/image" Target="../media/image52.png"/>
<Relationship Id="rId15" Type="http://schemas.openxmlformats.org/officeDocument/2006/relationships/image" Target="../media/image24.png"/>
<Relationship Id="rId23" Type="http://schemas.openxmlformats.org/officeDocument/2006/relationships/image" Target="../media/image66.png"/>
<Relationship Id="rId28" Type="http://schemas.openxmlformats.org/officeDocument/2006/relationships/image" Target="../media/image71.svg"/>
<Relationship Id="rId10" Type="http://schemas.openxmlformats.org/officeDocument/2006/relationships/image" Target="../media/image57.svg"/>
<Relationship Id="rId19" Type="http://schemas.openxmlformats.org/officeDocument/2006/relationships/image" Target="../media/image62.png"/>
<Relationship Id="rId31" Type="http://schemas.openxmlformats.org/officeDocument/2006/relationships/image" Target="../media/image8.png"/>
<Relationship Id="rId4" Type="http://schemas.openxmlformats.org/officeDocument/2006/relationships/image" Target="../media/image51.svg"/>
<Relationship Id="rId9" Type="http://schemas.openxmlformats.org/officeDocument/2006/relationships/image" Target="../media/image56.png"/>
<Relationship Id="rId14" Type="http://schemas.openxmlformats.org/officeDocument/2006/relationships/image" Target="../media/image61.svg"/>
<Relationship Id="rId22" Type="http://schemas.openxmlformats.org/officeDocument/2006/relationships/image" Target="../media/image65.svg"/>
<Relationship Id="rId27" Type="http://schemas.openxmlformats.org/officeDocument/2006/relationships/image" Target="../media/image70.png"/>
<Relationship Id="rId30" Type="http://schemas.openxmlformats.org/officeDocument/2006/relationships/image" Target="../media/image73.svg"/>
<Relationship Id="rId8" Type="http://schemas.openxmlformats.org/officeDocument/2006/relationships/image" Target="../media/image55.svg"/>
</Relationships>
</file>

<file path=ppt/slides/_rels/slide6.xml.rels><?xml version="1.0" encoding="UTF-8" standalone="yes"?>
<Relationships xmlns="http://schemas.openxmlformats.org/package/2006/relationships">
<Relationship Id="rId8" Type="http://schemas.openxmlformats.org/officeDocument/2006/relationships/image" Target="../media/image25.svg"/>
<Relationship Id="rId13" Type="http://schemas.openxmlformats.org/officeDocument/2006/relationships/image" Target="../media/image78.png"/>
<Relationship Id="rId18" Type="http://schemas.openxmlformats.org/officeDocument/2006/relationships/image" Target="../media/image9.svg"/>
<Relationship Id="rId3" Type="http://schemas.openxmlformats.org/officeDocument/2006/relationships/image" Target="../media/image74.png"/>
<Relationship Id="rId7" Type="http://schemas.openxmlformats.org/officeDocument/2006/relationships/image" Target="../media/image24.png"/>
<Relationship Id="rId12" Type="http://schemas.openxmlformats.org/officeDocument/2006/relationships/image" Target="../media/image77.svg"/>
<Relationship Id="rId17" Type="http://schemas.openxmlformats.org/officeDocument/2006/relationships/image" Target="../media/image8.png"/>
<Relationship Id="rId2" Type="http://schemas.openxmlformats.org/officeDocument/2006/relationships/image" Target="../media/image1.jpeg"/>
<Relationship Id="rId16" Type="http://schemas.openxmlformats.org/officeDocument/2006/relationships/image" Target="../media/image7.svg"/>
<Relationship Id="rId1" Type="http://schemas.openxmlformats.org/officeDocument/2006/relationships/slideLayout" Target="../slideLayouts/slideLayout7.xml"/>
<Relationship Id="rId6" Type="http://schemas.openxmlformats.org/officeDocument/2006/relationships/image" Target="../media/image27.svg"/>
<Relationship Id="rId11" Type="http://schemas.openxmlformats.org/officeDocument/2006/relationships/image" Target="../media/image76.png"/>
<Relationship Id="rId5" Type="http://schemas.openxmlformats.org/officeDocument/2006/relationships/image" Target="../media/image26.png"/>
<Relationship Id="rId15" Type="http://schemas.openxmlformats.org/officeDocument/2006/relationships/image" Target="../media/image6.png"/>
<Relationship Id="rId10" Type="http://schemas.openxmlformats.org/officeDocument/2006/relationships/image" Target="../media/image29.svg"/>
<Relationship Id="rId4" Type="http://schemas.openxmlformats.org/officeDocument/2006/relationships/image" Target="../media/image75.svg"/>
<Relationship Id="rId9" Type="http://schemas.openxmlformats.org/officeDocument/2006/relationships/image" Target="../media/image28.png"/>
<Relationship Id="rId14" Type="http://schemas.openxmlformats.org/officeDocument/2006/relationships/image" Target="../media/image79.svg"/>
</Relationships>
</file>

<file path=ppt/slides/_rels/slide7.xml.rels><?xml version="1.0" encoding="UTF-8" standalone="yes"?>
<Relationships xmlns="http://schemas.openxmlformats.org/package/2006/relationships">
<Relationship Id="rId8" Type="http://schemas.openxmlformats.org/officeDocument/2006/relationships/image" Target="../media/image83.svg"/>
<Relationship Id="rId13" Type="http://schemas.openxmlformats.org/officeDocument/2006/relationships/image" Target="../media/image88.png"/>
<Relationship Id="rId18" Type="http://schemas.openxmlformats.org/officeDocument/2006/relationships/image" Target="../media/image93.svg"/>
<Relationship Id="rId3" Type="http://schemas.openxmlformats.org/officeDocument/2006/relationships/image" Target="../media/image80.png"/>
<Relationship Id="rId21" Type="http://schemas.openxmlformats.org/officeDocument/2006/relationships/image" Target="../media/image96.png"/>
<Relationship Id="rId7" Type="http://schemas.openxmlformats.org/officeDocument/2006/relationships/image" Target="../media/image11.svg"/>
<Relationship Id="rId12" Type="http://schemas.openxmlformats.org/officeDocument/2006/relationships/image" Target="../media/image87.svg"/>
<Relationship Id="rId17" Type="http://schemas.openxmlformats.org/officeDocument/2006/relationships/image" Target="../media/image92.png"/>
<Relationship Id="rId2" Type="http://schemas.openxmlformats.org/officeDocument/2006/relationships/image" Target="../media/image1.jpeg"/>
<Relationship Id="rId16" Type="http://schemas.openxmlformats.org/officeDocument/2006/relationships/image" Target="../media/image91.svg"/>
<Relationship Id="rId20" Type="http://schemas.openxmlformats.org/officeDocument/2006/relationships/image" Target="../media/image95.svg"/>
<Relationship Id="rId1" Type="http://schemas.openxmlformats.org/officeDocument/2006/relationships/slideLayout" Target="../slideLayouts/slideLayout7.xml"/>
<Relationship Id="rId6" Type="http://schemas.openxmlformats.org/officeDocument/2006/relationships/image" Target="../media/image10.png"/>
<Relationship Id="rId11" Type="http://schemas.openxmlformats.org/officeDocument/2006/relationships/image" Target="../media/image86.png"/>
<Relationship Id="rId24" Type="http://schemas.openxmlformats.org/officeDocument/2006/relationships/image" Target="../media/image7.svg"/>
<Relationship Id="rId5" Type="http://schemas.openxmlformats.org/officeDocument/2006/relationships/image" Target="../media/image82.svg"/>
<Relationship Id="rId15" Type="http://schemas.openxmlformats.org/officeDocument/2006/relationships/image" Target="../media/image90.png"/>
<Relationship Id="rId23" Type="http://schemas.openxmlformats.org/officeDocument/2006/relationships/image" Target="../media/image6.png"/>
<Relationship Id="rId10" Type="http://schemas.openxmlformats.org/officeDocument/2006/relationships/image" Target="../media/image85.svg"/>
<Relationship Id="rId19" Type="http://schemas.openxmlformats.org/officeDocument/2006/relationships/image" Target="../media/image94.png"/>
<Relationship Id="rId4" Type="http://schemas.openxmlformats.org/officeDocument/2006/relationships/image" Target="../media/image81.svg"/>
<Relationship Id="rId9" Type="http://schemas.openxmlformats.org/officeDocument/2006/relationships/image" Target="../media/image84.png"/>
<Relationship Id="rId14" Type="http://schemas.openxmlformats.org/officeDocument/2006/relationships/image" Target="../media/image89.svg"/>
<Relationship Id="rId22" Type="http://schemas.openxmlformats.org/officeDocument/2006/relationships/image" Target="../media/image97.svg"/>
</Relationships>
</file>

<file path=ppt/slides/_rels/slide8.xml.rels><?xml version="1.0" encoding="UTF-8" standalone="yes"?>
<Relationships xmlns="http://schemas.openxmlformats.org/package/2006/relationships">
<Relationship Id="rId8" Type="http://schemas.openxmlformats.org/officeDocument/2006/relationships/image" Target="../media/image41.svg"/>
<Relationship Id="rId13" Type="http://schemas.openxmlformats.org/officeDocument/2006/relationships/image" Target="../media/image100.png"/>
<Relationship Id="rId18" Type="http://schemas.openxmlformats.org/officeDocument/2006/relationships/image" Target="../media/image7.svg"/>
<Relationship Id="rId3" Type="http://schemas.openxmlformats.org/officeDocument/2006/relationships/image" Target="../media/image98.png"/>
<Relationship Id="rId7" Type="http://schemas.openxmlformats.org/officeDocument/2006/relationships/image" Target="../media/image40.png"/>
<Relationship Id="rId12" Type="http://schemas.openxmlformats.org/officeDocument/2006/relationships/image" Target="../media/image45.svg"/>
<Relationship Id="rId17" Type="http://schemas.openxmlformats.org/officeDocument/2006/relationships/image" Target="../media/image6.png"/>
<Relationship Id="rId2" Type="http://schemas.openxmlformats.org/officeDocument/2006/relationships/image" Target="../media/image1.jpeg"/>
<Relationship Id="rId16" Type="http://schemas.openxmlformats.org/officeDocument/2006/relationships/image" Target="../media/image103.svg"/>
<Relationship Id="rId20" Type="http://schemas.openxmlformats.org/officeDocument/2006/relationships/image" Target="../media/image9.svg"/>
<Relationship Id="rId1" Type="http://schemas.openxmlformats.org/officeDocument/2006/relationships/slideLayout" Target="../slideLayouts/slideLayout7.xml"/>
<Relationship Id="rId6" Type="http://schemas.openxmlformats.org/officeDocument/2006/relationships/image" Target="../media/image39.svg"/>
<Relationship Id="rId11" Type="http://schemas.openxmlformats.org/officeDocument/2006/relationships/image" Target="../media/image44.png"/>
<Relationship Id="rId5" Type="http://schemas.openxmlformats.org/officeDocument/2006/relationships/image" Target="../media/image38.png"/>
<Relationship Id="rId15" Type="http://schemas.openxmlformats.org/officeDocument/2006/relationships/image" Target="../media/image102.png"/>
<Relationship Id="rId10" Type="http://schemas.openxmlformats.org/officeDocument/2006/relationships/image" Target="../media/image43.svg"/>
<Relationship Id="rId19" Type="http://schemas.openxmlformats.org/officeDocument/2006/relationships/image" Target="../media/image8.png"/>
<Relationship Id="rId4" Type="http://schemas.openxmlformats.org/officeDocument/2006/relationships/image" Target="../media/image99.svg"/>
<Relationship Id="rId9" Type="http://schemas.openxmlformats.org/officeDocument/2006/relationships/image" Target="../media/image42.png"/>
<Relationship Id="rId14" Type="http://schemas.openxmlformats.org/officeDocument/2006/relationships/image" Target="../media/image101.svg"/>
</Relationships>
</file>

<file path=ppt/slides/_rels/slide9.xml.rels><?xml version="1.0" encoding="UTF-8" standalone="yes"?>
<Relationships xmlns="http://schemas.openxmlformats.org/package/2006/relationships">
<Relationship Id="rId8" Type="http://schemas.openxmlformats.org/officeDocument/2006/relationships/image" Target="../media/image109.svg"/>
<Relationship Id="rId13" Type="http://schemas.openxmlformats.org/officeDocument/2006/relationships/image" Target="../media/image114.png"/>
<Relationship Id="rId18" Type="http://schemas.openxmlformats.org/officeDocument/2006/relationships/image" Target="../media/image27.svg"/>
<Relationship Id="rId3" Type="http://schemas.openxmlformats.org/officeDocument/2006/relationships/image" Target="../media/image104.png"/>
<Relationship Id="rId21" Type="http://schemas.openxmlformats.org/officeDocument/2006/relationships/image" Target="../media/image120.png"/>
<Relationship Id="rId7" Type="http://schemas.openxmlformats.org/officeDocument/2006/relationships/image" Target="../media/image108.png"/>
<Relationship Id="rId12" Type="http://schemas.openxmlformats.org/officeDocument/2006/relationships/image" Target="../media/image113.svg"/>
<Relationship Id="rId17" Type="http://schemas.openxmlformats.org/officeDocument/2006/relationships/image" Target="../media/image26.png"/>
<Relationship Id="rId2" Type="http://schemas.openxmlformats.org/officeDocument/2006/relationships/image" Target="../media/image1.jpeg"/>
<Relationship Id="rId16" Type="http://schemas.openxmlformats.org/officeDocument/2006/relationships/image" Target="../media/image117.svg"/>
<Relationship Id="rId20" Type="http://schemas.openxmlformats.org/officeDocument/2006/relationships/image" Target="../media/image119.svg"/>
<Relationship Id="rId1" Type="http://schemas.openxmlformats.org/officeDocument/2006/relationships/slideLayout" Target="../slideLayouts/slideLayout7.xml"/>
<Relationship Id="rId6" Type="http://schemas.openxmlformats.org/officeDocument/2006/relationships/image" Target="../media/image107.svg"/>
<Relationship Id="rId11" Type="http://schemas.openxmlformats.org/officeDocument/2006/relationships/image" Target="../media/image112.png"/>
<Relationship Id="rId24" Type="http://schemas.openxmlformats.org/officeDocument/2006/relationships/image" Target="../media/image7.svg"/>
<Relationship Id="rId5" Type="http://schemas.openxmlformats.org/officeDocument/2006/relationships/image" Target="../media/image106.png"/>
<Relationship Id="rId15" Type="http://schemas.openxmlformats.org/officeDocument/2006/relationships/image" Target="../media/image116.png"/>
<Relationship Id="rId23" Type="http://schemas.openxmlformats.org/officeDocument/2006/relationships/image" Target="../media/image6.png"/>
<Relationship Id="rId10" Type="http://schemas.openxmlformats.org/officeDocument/2006/relationships/image" Target="../media/image111.svg"/>
<Relationship Id="rId19" Type="http://schemas.openxmlformats.org/officeDocument/2006/relationships/image" Target="../media/image118.png"/>
<Relationship Id="rId4" Type="http://schemas.openxmlformats.org/officeDocument/2006/relationships/image" Target="../media/image105.svg"/>
<Relationship Id="rId9" Type="http://schemas.openxmlformats.org/officeDocument/2006/relationships/image" Target="../media/image110.png"/>
<Relationship Id="rId14" Type="http://schemas.openxmlformats.org/officeDocument/2006/relationships/image" Target="../media/image115.svg"/>
<Relationship Id="rId22" Type="http://schemas.openxmlformats.org/officeDocument/2006/relationships/image" Target="../media/image121.svg"/>
</Relationships>
</file>

<file path=ppt/slides/_rels/slide10.xml.rels><?xml version="1.0" encoding="UTF-8" standalone="yes"?>
<Relationships xmlns="http://schemas.openxmlformats.org/package/2006/relationships">
<Relationship Id="rId8" Type="http://schemas.openxmlformats.org/officeDocument/2006/relationships/image" Target="../media/image41.svg"/>
<Relationship Id="rId13" Type="http://schemas.openxmlformats.org/officeDocument/2006/relationships/image" Target="../media/image4.png"/>
<Relationship Id="rId18" Type="http://schemas.openxmlformats.org/officeDocument/2006/relationships/image" Target="../media/image7.svg"/>
<Relationship Id="rId3" Type="http://schemas.openxmlformats.org/officeDocument/2006/relationships/image" Target="../media/image122.png"/>
<Relationship Id="rId7" Type="http://schemas.openxmlformats.org/officeDocument/2006/relationships/image" Target="../media/image40.png"/>
<Relationship Id="rId12" Type="http://schemas.openxmlformats.org/officeDocument/2006/relationships/image" Target="../media/image45.svg"/>
<Relationship Id="rId17" Type="http://schemas.openxmlformats.org/officeDocument/2006/relationships/image" Target="../media/image6.png"/>
<Relationship Id="rId2" Type="http://schemas.openxmlformats.org/officeDocument/2006/relationships/image" Target="../media/image1.jpeg"/>
<Relationship Id="rId16" Type="http://schemas.openxmlformats.org/officeDocument/2006/relationships/image" Target="../media/image125.svg"/>
<Relationship Id="rId1" Type="http://schemas.openxmlformats.org/officeDocument/2006/relationships/slideLayout" Target="../slideLayouts/slideLayout7.xml"/>
<Relationship Id="rId6" Type="http://schemas.openxmlformats.org/officeDocument/2006/relationships/image" Target="../media/image39.svg"/>
<Relationship Id="rId11" Type="http://schemas.openxmlformats.org/officeDocument/2006/relationships/image" Target="../media/image44.png"/>
<Relationship Id="rId5" Type="http://schemas.openxmlformats.org/officeDocument/2006/relationships/image" Target="../media/image38.png"/>
<Relationship Id="rId15" Type="http://schemas.openxmlformats.org/officeDocument/2006/relationships/image" Target="../media/image124.png"/>
<Relationship Id="rId10" Type="http://schemas.openxmlformats.org/officeDocument/2006/relationships/image" Target="../media/image43.svg"/>
<Relationship Id="rId4" Type="http://schemas.openxmlformats.org/officeDocument/2006/relationships/image" Target="../media/image123.svg"/>
<Relationship Id="rId9" Type="http://schemas.openxmlformats.org/officeDocument/2006/relationships/image" Target="../media/image42.png"/>
<Relationship Id="rId14" Type="http://schemas.openxmlformats.org/officeDocument/2006/relationships/image" Target="../media/image5.svg"/>
</Relationships>
</file>

<file path=ppt/slides/_rels/slide11.xml.rels><?xml version="1.0" encoding="UTF-8" standalone="yes"?>
<Relationships xmlns="http://schemas.openxmlformats.org/package/2006/relationships">
<Relationship Id="rId8" Type="http://schemas.openxmlformats.org/officeDocument/2006/relationships/image" Target="../media/image15.svg"/>
<Relationship Id="rId13" Type="http://schemas.openxmlformats.org/officeDocument/2006/relationships/image" Target="../media/image4.png"/>
<Relationship Id="rId18" Type="http://schemas.openxmlformats.org/officeDocument/2006/relationships/image" Target="../media/image7.svg"/>
<Relationship Id="rId3" Type="http://schemas.openxmlformats.org/officeDocument/2006/relationships/image" Target="../media/image10.png"/>
<Relationship Id="rId7" Type="http://schemas.openxmlformats.org/officeDocument/2006/relationships/image" Target="../media/image14.png"/>
<Relationship Id="rId12" Type="http://schemas.openxmlformats.org/officeDocument/2006/relationships/image" Target="../media/image19.svg"/>
<Relationship Id="rId17" Type="http://schemas.openxmlformats.org/officeDocument/2006/relationships/image" Target="../media/image6.png"/>
<Relationship Id="rId2" Type="http://schemas.openxmlformats.org/officeDocument/2006/relationships/image" Target="../media/image1.jpeg"/>
<Relationship Id="rId16" Type="http://schemas.openxmlformats.org/officeDocument/2006/relationships/image" Target="../media/image21.svg"/>
<Relationship Id="rId1" Type="http://schemas.openxmlformats.org/officeDocument/2006/relationships/slideLayout" Target="../slideLayouts/slideLayout7.xml"/>
<Relationship Id="rId6" Type="http://schemas.openxmlformats.org/officeDocument/2006/relationships/image" Target="../media/image13.svg"/>
<Relationship Id="rId11" Type="http://schemas.openxmlformats.org/officeDocument/2006/relationships/image" Target="../media/image18.png"/>
<Relationship Id="rId5" Type="http://schemas.openxmlformats.org/officeDocument/2006/relationships/image" Target="../media/image12.png"/>
<Relationship Id="rId15" Type="http://schemas.openxmlformats.org/officeDocument/2006/relationships/image" Target="../media/image20.png"/>
<Relationship Id="rId10" Type="http://schemas.openxmlformats.org/officeDocument/2006/relationships/image" Target="../media/image17.svg"/>
<Relationship Id="rId4" Type="http://schemas.openxmlformats.org/officeDocument/2006/relationships/image" Target="../media/image11.svg"/>
<Relationship Id="rId9" Type="http://schemas.openxmlformats.org/officeDocument/2006/relationships/image" Target="../media/image16.png"/>
<Relationship Id="rId14" Type="http://schemas.openxmlformats.org/officeDocument/2006/relationships/image" Target="../media/image5.svg"/>
</Relationships>
</file>

<file path=ppt/slides/_rels/slide12.xml.rels><?xml version="1.0" encoding="UTF-8" standalone="yes"?>
<Relationships xmlns="http://schemas.openxmlformats.org/package/2006/relationships">
<Relationship Id="rId8" Type="http://schemas.openxmlformats.org/officeDocument/2006/relationships/image" Target="../media/image27.svg"/>
<Relationship Id="rId13" Type="http://schemas.openxmlformats.org/officeDocument/2006/relationships/image" Target="../media/image32.png"/>
<Relationship Id="rId18" Type="http://schemas.openxmlformats.org/officeDocument/2006/relationships/image" Target="../media/image37.svg"/>
<Relationship Id="rId3" Type="http://schemas.openxmlformats.org/officeDocument/2006/relationships/image" Target="../media/image22.png"/>
<Relationship Id="rId21" Type="http://schemas.openxmlformats.org/officeDocument/2006/relationships/image" Target="../media/image8.png"/>
<Relationship Id="rId7" Type="http://schemas.openxmlformats.org/officeDocument/2006/relationships/image" Target="../media/image26.png"/>
<Relationship Id="rId12" Type="http://schemas.openxmlformats.org/officeDocument/2006/relationships/image" Target="../media/image31.svg"/>
<Relationship Id="rId17" Type="http://schemas.openxmlformats.org/officeDocument/2006/relationships/image" Target="../media/image36.png"/>
<Relationship Id="rId2" Type="http://schemas.openxmlformats.org/officeDocument/2006/relationships/image" Target="../media/image1.jpeg"/>
<Relationship Id="rId16" Type="http://schemas.openxmlformats.org/officeDocument/2006/relationships/image" Target="../media/image35.svg"/>
<Relationship Id="rId20" Type="http://schemas.openxmlformats.org/officeDocument/2006/relationships/image" Target="../media/image7.svg"/>
<Relationship Id="rId1" Type="http://schemas.openxmlformats.org/officeDocument/2006/relationships/slideLayout" Target="../slideLayouts/slideLayout7.xml"/>
<Relationship Id="rId6" Type="http://schemas.openxmlformats.org/officeDocument/2006/relationships/image" Target="../media/image25.svg"/>
<Relationship Id="rId11" Type="http://schemas.openxmlformats.org/officeDocument/2006/relationships/image" Target="../media/image30.png"/>
<Relationship Id="rId5" Type="http://schemas.openxmlformats.org/officeDocument/2006/relationships/image" Target="../media/image24.png"/>
<Relationship Id="rId15" Type="http://schemas.openxmlformats.org/officeDocument/2006/relationships/image" Target="../media/image34.png"/>
<Relationship Id="rId10" Type="http://schemas.openxmlformats.org/officeDocument/2006/relationships/image" Target="../media/image29.svg"/>
<Relationship Id="rId19" Type="http://schemas.openxmlformats.org/officeDocument/2006/relationships/image" Target="../media/image6.png"/>
<Relationship Id="rId4" Type="http://schemas.openxmlformats.org/officeDocument/2006/relationships/image" Target="../media/image23.svg"/>
<Relationship Id="rId9" Type="http://schemas.openxmlformats.org/officeDocument/2006/relationships/image" Target="../media/image28.png"/>
<Relationship Id="rId14" Type="http://schemas.openxmlformats.org/officeDocument/2006/relationships/image" Target="../media/image33.svg"/>
<Relationship Id="rId22" Type="http://schemas.openxmlformats.org/officeDocument/2006/relationships/image" Target="../media/image9.svg"/>
</Relationships>
</file>

<file path=ppt/slides/_rels/slide13.xml.rels><?xml version="1.0" encoding="UTF-8" standalone="yes"?>
<Relationships xmlns="http://schemas.openxmlformats.org/package/2006/relationships">
<Relationship Id="rId8" Type="http://schemas.openxmlformats.org/officeDocument/2006/relationships/image" Target="../media/image43.svg"/>
<Relationship Id="rId13" Type="http://schemas.openxmlformats.org/officeDocument/2006/relationships/image" Target="../media/image48.png"/>
<Relationship Id="rId18" Type="http://schemas.openxmlformats.org/officeDocument/2006/relationships/image" Target="../media/image9.svg"/>
<Relationship Id="rId3" Type="http://schemas.openxmlformats.org/officeDocument/2006/relationships/image" Target="../media/image38.png"/>
<Relationship Id="rId7" Type="http://schemas.openxmlformats.org/officeDocument/2006/relationships/image" Target="../media/image42.png"/>
<Relationship Id="rId12" Type="http://schemas.openxmlformats.org/officeDocument/2006/relationships/image" Target="../media/image47.svg"/>
<Relationship Id="rId17" Type="http://schemas.openxmlformats.org/officeDocument/2006/relationships/image" Target="../media/image8.png"/>
<Relationship Id="rId2" Type="http://schemas.openxmlformats.org/officeDocument/2006/relationships/image" Target="../media/image1.jpeg"/>
<Relationship Id="rId16" Type="http://schemas.openxmlformats.org/officeDocument/2006/relationships/image" Target="../media/image7.svg"/>
<Relationship Id="rId1" Type="http://schemas.openxmlformats.org/officeDocument/2006/relationships/slideLayout" Target="../slideLayouts/slideLayout7.xml"/>
<Relationship Id="rId6" Type="http://schemas.openxmlformats.org/officeDocument/2006/relationships/image" Target="../media/image41.svg"/>
<Relationship Id="rId11" Type="http://schemas.openxmlformats.org/officeDocument/2006/relationships/image" Target="../media/image46.png"/>
<Relationship Id="rId5" Type="http://schemas.openxmlformats.org/officeDocument/2006/relationships/image" Target="../media/image40.png"/>
<Relationship Id="rId15" Type="http://schemas.openxmlformats.org/officeDocument/2006/relationships/image" Target="../media/image6.png"/>
<Relationship Id="rId10" Type="http://schemas.openxmlformats.org/officeDocument/2006/relationships/image" Target="../media/image45.svg"/>
<Relationship Id="rId4" Type="http://schemas.openxmlformats.org/officeDocument/2006/relationships/image" Target="../media/image39.svg"/>
<Relationship Id="rId9" Type="http://schemas.openxmlformats.org/officeDocument/2006/relationships/image" Target="../media/image44.png"/>
<Relationship Id="rId14" Type="http://schemas.openxmlformats.org/officeDocument/2006/relationships/image" Target="../media/image49.svg"/>
</Relationships>
</file>

<file path=ppt/slides/_rels/slide14.xml.rels><?xml version="1.0" encoding="UTF-8" standalone="yes"?>
<Relationships xmlns="http://schemas.openxmlformats.org/package/2006/relationships">
<Relationship Id="rId13" Type="http://schemas.openxmlformats.org/officeDocument/2006/relationships/image" Target="../media/image60.png"/>
<Relationship Id="rId18" Type="http://schemas.openxmlformats.org/officeDocument/2006/relationships/image" Target="../media/image27.svg"/>
<Relationship Id="rId26" Type="http://schemas.openxmlformats.org/officeDocument/2006/relationships/image" Target="../media/image69.svg"/>
<Relationship Id="rId3" Type="http://schemas.openxmlformats.org/officeDocument/2006/relationships/image" Target="../media/image50.png"/>
<Relationship Id="rId21" Type="http://schemas.openxmlformats.org/officeDocument/2006/relationships/image" Target="../media/image64.png"/>
<Relationship Id="rId34" Type="http://schemas.openxmlformats.org/officeDocument/2006/relationships/image" Target="../media/image7.svg"/>
<Relationship Id="rId7" Type="http://schemas.openxmlformats.org/officeDocument/2006/relationships/image" Target="../media/image54.png"/>
<Relationship Id="rId12" Type="http://schemas.openxmlformats.org/officeDocument/2006/relationships/image" Target="../media/image59.svg"/>
<Relationship Id="rId17" Type="http://schemas.openxmlformats.org/officeDocument/2006/relationships/image" Target="../media/image26.png"/>
<Relationship Id="rId25" Type="http://schemas.openxmlformats.org/officeDocument/2006/relationships/image" Target="../media/image68.png"/>
<Relationship Id="rId33" Type="http://schemas.openxmlformats.org/officeDocument/2006/relationships/image" Target="../media/image6.png"/>
<Relationship Id="rId2" Type="http://schemas.openxmlformats.org/officeDocument/2006/relationships/image" Target="../media/image1.jpeg"/>
<Relationship Id="rId16" Type="http://schemas.openxmlformats.org/officeDocument/2006/relationships/image" Target="../media/image25.svg"/>
<Relationship Id="rId20" Type="http://schemas.openxmlformats.org/officeDocument/2006/relationships/image" Target="../media/image63.svg"/>
<Relationship Id="rId29" Type="http://schemas.openxmlformats.org/officeDocument/2006/relationships/image" Target="../media/image72.png"/>
<Relationship Id="rId1" Type="http://schemas.openxmlformats.org/officeDocument/2006/relationships/slideLayout" Target="../slideLayouts/slideLayout7.xml"/>
<Relationship Id="rId6" Type="http://schemas.openxmlformats.org/officeDocument/2006/relationships/image" Target="../media/image53.svg"/>
<Relationship Id="rId11" Type="http://schemas.openxmlformats.org/officeDocument/2006/relationships/image" Target="../media/image58.png"/>
<Relationship Id="rId24" Type="http://schemas.openxmlformats.org/officeDocument/2006/relationships/image" Target="../media/image67.svg"/>
<Relationship Id="rId32" Type="http://schemas.openxmlformats.org/officeDocument/2006/relationships/image" Target="../media/image9.svg"/>
<Relationship Id="rId5" Type="http://schemas.openxmlformats.org/officeDocument/2006/relationships/image" Target="../media/image52.png"/>
<Relationship Id="rId15" Type="http://schemas.openxmlformats.org/officeDocument/2006/relationships/image" Target="../media/image24.png"/>
<Relationship Id="rId23" Type="http://schemas.openxmlformats.org/officeDocument/2006/relationships/image" Target="../media/image66.png"/>
<Relationship Id="rId28" Type="http://schemas.openxmlformats.org/officeDocument/2006/relationships/image" Target="../media/image71.svg"/>
<Relationship Id="rId10" Type="http://schemas.openxmlformats.org/officeDocument/2006/relationships/image" Target="../media/image57.svg"/>
<Relationship Id="rId19" Type="http://schemas.openxmlformats.org/officeDocument/2006/relationships/image" Target="../media/image62.png"/>
<Relationship Id="rId31" Type="http://schemas.openxmlformats.org/officeDocument/2006/relationships/image" Target="../media/image8.png"/>
<Relationship Id="rId4" Type="http://schemas.openxmlformats.org/officeDocument/2006/relationships/image" Target="../media/image51.svg"/>
<Relationship Id="rId9" Type="http://schemas.openxmlformats.org/officeDocument/2006/relationships/image" Target="../media/image56.png"/>
<Relationship Id="rId14" Type="http://schemas.openxmlformats.org/officeDocument/2006/relationships/image" Target="../media/image61.svg"/>
<Relationship Id="rId22" Type="http://schemas.openxmlformats.org/officeDocument/2006/relationships/image" Target="../media/image65.svg"/>
<Relationship Id="rId27" Type="http://schemas.openxmlformats.org/officeDocument/2006/relationships/image" Target="../media/image70.png"/>
<Relationship Id="rId30" Type="http://schemas.openxmlformats.org/officeDocument/2006/relationships/image" Target="../media/image73.svg"/>
<Relationship Id="rId8" Type="http://schemas.openxmlformats.org/officeDocument/2006/relationships/image" Target="../media/image55.svg"/>
</Relationships>
</file>

<file path=ppt/slides/_rels/slide15.xml.rels><?xml version="1.0" encoding="UTF-8" standalone="yes"?>
<Relationships xmlns="http://schemas.openxmlformats.org/package/2006/relationships">
<Relationship Id="rId8" Type="http://schemas.openxmlformats.org/officeDocument/2006/relationships/image" Target="../media/image25.svg"/>
<Relationship Id="rId13" Type="http://schemas.openxmlformats.org/officeDocument/2006/relationships/image" Target="../media/image78.png"/>
<Relationship Id="rId18" Type="http://schemas.openxmlformats.org/officeDocument/2006/relationships/image" Target="../media/image9.svg"/>
<Relationship Id="rId3" Type="http://schemas.openxmlformats.org/officeDocument/2006/relationships/image" Target="../media/image74.png"/>
<Relationship Id="rId7" Type="http://schemas.openxmlformats.org/officeDocument/2006/relationships/image" Target="../media/image24.png"/>
<Relationship Id="rId12" Type="http://schemas.openxmlformats.org/officeDocument/2006/relationships/image" Target="../media/image77.svg"/>
<Relationship Id="rId17" Type="http://schemas.openxmlformats.org/officeDocument/2006/relationships/image" Target="../media/image8.png"/>
<Relationship Id="rId2" Type="http://schemas.openxmlformats.org/officeDocument/2006/relationships/image" Target="../media/image1.jpeg"/>
<Relationship Id="rId16" Type="http://schemas.openxmlformats.org/officeDocument/2006/relationships/image" Target="../media/image7.svg"/>
<Relationship Id="rId1" Type="http://schemas.openxmlformats.org/officeDocument/2006/relationships/slideLayout" Target="../slideLayouts/slideLayout7.xml"/>
<Relationship Id="rId6" Type="http://schemas.openxmlformats.org/officeDocument/2006/relationships/image" Target="../media/image27.svg"/>
<Relationship Id="rId11" Type="http://schemas.openxmlformats.org/officeDocument/2006/relationships/image" Target="../media/image76.png"/>
<Relationship Id="rId5" Type="http://schemas.openxmlformats.org/officeDocument/2006/relationships/image" Target="../media/image26.png"/>
<Relationship Id="rId15" Type="http://schemas.openxmlformats.org/officeDocument/2006/relationships/image" Target="../media/image6.png"/>
<Relationship Id="rId10" Type="http://schemas.openxmlformats.org/officeDocument/2006/relationships/image" Target="../media/image29.svg"/>
<Relationship Id="rId4" Type="http://schemas.openxmlformats.org/officeDocument/2006/relationships/image" Target="../media/image75.svg"/>
<Relationship Id="rId9" Type="http://schemas.openxmlformats.org/officeDocument/2006/relationships/image" Target="../media/image28.png"/>
<Relationship Id="rId14" Type="http://schemas.openxmlformats.org/officeDocument/2006/relationships/image" Target="../media/image79.svg"/>
</Relationships>
</file>

<file path=ppt/slides/_rels/slide16.xml.rels><?xml version="1.0" encoding="UTF-8" standalone="yes"?>
<Relationships xmlns="http://schemas.openxmlformats.org/package/2006/relationships">
<Relationship Id="rId8" Type="http://schemas.openxmlformats.org/officeDocument/2006/relationships/image" Target="../media/image83.svg"/>
<Relationship Id="rId13" Type="http://schemas.openxmlformats.org/officeDocument/2006/relationships/image" Target="../media/image88.png"/>
<Relationship Id="rId18" Type="http://schemas.openxmlformats.org/officeDocument/2006/relationships/image" Target="../media/image93.svg"/>
<Relationship Id="rId3" Type="http://schemas.openxmlformats.org/officeDocument/2006/relationships/image" Target="../media/image80.png"/>
<Relationship Id="rId21" Type="http://schemas.openxmlformats.org/officeDocument/2006/relationships/image" Target="../media/image96.png"/>
<Relationship Id="rId7" Type="http://schemas.openxmlformats.org/officeDocument/2006/relationships/image" Target="../media/image11.svg"/>
<Relationship Id="rId12" Type="http://schemas.openxmlformats.org/officeDocument/2006/relationships/image" Target="../media/image87.svg"/>
<Relationship Id="rId17" Type="http://schemas.openxmlformats.org/officeDocument/2006/relationships/image" Target="../media/image92.png"/>
<Relationship Id="rId2" Type="http://schemas.openxmlformats.org/officeDocument/2006/relationships/image" Target="../media/image1.jpeg"/>
<Relationship Id="rId16" Type="http://schemas.openxmlformats.org/officeDocument/2006/relationships/image" Target="../media/image91.svg"/>
<Relationship Id="rId20" Type="http://schemas.openxmlformats.org/officeDocument/2006/relationships/image" Target="../media/image95.svg"/>
<Relationship Id="rId1" Type="http://schemas.openxmlformats.org/officeDocument/2006/relationships/slideLayout" Target="../slideLayouts/slideLayout7.xml"/>
<Relationship Id="rId6" Type="http://schemas.openxmlformats.org/officeDocument/2006/relationships/image" Target="../media/image10.png"/>
<Relationship Id="rId11" Type="http://schemas.openxmlformats.org/officeDocument/2006/relationships/image" Target="../media/image86.png"/>
<Relationship Id="rId24" Type="http://schemas.openxmlformats.org/officeDocument/2006/relationships/image" Target="../media/image7.svg"/>
<Relationship Id="rId5" Type="http://schemas.openxmlformats.org/officeDocument/2006/relationships/image" Target="../media/image82.svg"/>
<Relationship Id="rId15" Type="http://schemas.openxmlformats.org/officeDocument/2006/relationships/image" Target="../media/image90.png"/>
<Relationship Id="rId23" Type="http://schemas.openxmlformats.org/officeDocument/2006/relationships/image" Target="../media/image6.png"/>
<Relationship Id="rId10" Type="http://schemas.openxmlformats.org/officeDocument/2006/relationships/image" Target="../media/image85.svg"/>
<Relationship Id="rId19" Type="http://schemas.openxmlformats.org/officeDocument/2006/relationships/image" Target="../media/image94.png"/>
<Relationship Id="rId4" Type="http://schemas.openxmlformats.org/officeDocument/2006/relationships/image" Target="../media/image81.svg"/>
<Relationship Id="rId9" Type="http://schemas.openxmlformats.org/officeDocument/2006/relationships/image" Target="../media/image84.png"/>
<Relationship Id="rId14" Type="http://schemas.openxmlformats.org/officeDocument/2006/relationships/image" Target="../media/image89.svg"/>
<Relationship Id="rId22" Type="http://schemas.openxmlformats.org/officeDocument/2006/relationships/image" Target="../media/image97.svg"/>
</Relationships>
</file>

<file path=ppt/slides/_rels/slide17.xml.rels><?xml version="1.0" encoding="UTF-8" standalone="yes"?>
<Relationships xmlns="http://schemas.openxmlformats.org/package/2006/relationships">
<Relationship Id="rId8" Type="http://schemas.openxmlformats.org/officeDocument/2006/relationships/image" Target="../media/image41.svg"/>
<Relationship Id="rId13" Type="http://schemas.openxmlformats.org/officeDocument/2006/relationships/image" Target="../media/image100.png"/>
<Relationship Id="rId18" Type="http://schemas.openxmlformats.org/officeDocument/2006/relationships/image" Target="../media/image7.svg"/>
<Relationship Id="rId3" Type="http://schemas.openxmlformats.org/officeDocument/2006/relationships/image" Target="../media/image98.png"/>
<Relationship Id="rId7" Type="http://schemas.openxmlformats.org/officeDocument/2006/relationships/image" Target="../media/image40.png"/>
<Relationship Id="rId12" Type="http://schemas.openxmlformats.org/officeDocument/2006/relationships/image" Target="../media/image45.svg"/>
<Relationship Id="rId17" Type="http://schemas.openxmlformats.org/officeDocument/2006/relationships/image" Target="../media/image6.png"/>
<Relationship Id="rId2" Type="http://schemas.openxmlformats.org/officeDocument/2006/relationships/image" Target="../media/image1.jpeg"/>
<Relationship Id="rId16" Type="http://schemas.openxmlformats.org/officeDocument/2006/relationships/image" Target="../media/image103.svg"/>
<Relationship Id="rId20" Type="http://schemas.openxmlformats.org/officeDocument/2006/relationships/image" Target="../media/image9.svg"/>
<Relationship Id="rId1" Type="http://schemas.openxmlformats.org/officeDocument/2006/relationships/slideLayout" Target="../slideLayouts/slideLayout7.xml"/>
<Relationship Id="rId6" Type="http://schemas.openxmlformats.org/officeDocument/2006/relationships/image" Target="../media/image39.svg"/>
<Relationship Id="rId11" Type="http://schemas.openxmlformats.org/officeDocument/2006/relationships/image" Target="../media/image44.png"/>
<Relationship Id="rId5" Type="http://schemas.openxmlformats.org/officeDocument/2006/relationships/image" Target="../media/image38.png"/>
<Relationship Id="rId15" Type="http://schemas.openxmlformats.org/officeDocument/2006/relationships/image" Target="../media/image102.png"/>
<Relationship Id="rId10" Type="http://schemas.openxmlformats.org/officeDocument/2006/relationships/image" Target="../media/image43.svg"/>
<Relationship Id="rId19" Type="http://schemas.openxmlformats.org/officeDocument/2006/relationships/image" Target="../media/image8.png"/>
<Relationship Id="rId4" Type="http://schemas.openxmlformats.org/officeDocument/2006/relationships/image" Target="../media/image99.svg"/>
<Relationship Id="rId9" Type="http://schemas.openxmlformats.org/officeDocument/2006/relationships/image" Target="../media/image42.png"/>
<Relationship Id="rId14" Type="http://schemas.openxmlformats.org/officeDocument/2006/relationships/image" Target="../media/image101.svg"/>
</Relationships>
</file>

<file path=ppt/slides/_rels/slide18.xml.rels><?xml version="1.0" encoding="UTF-8" standalone="yes"?>
<Relationships xmlns="http://schemas.openxmlformats.org/package/2006/relationships">
<Relationship Id="rId8" Type="http://schemas.openxmlformats.org/officeDocument/2006/relationships/image" Target="../media/image109.svg"/>
<Relationship Id="rId13" Type="http://schemas.openxmlformats.org/officeDocument/2006/relationships/image" Target="../media/image114.png"/>
<Relationship Id="rId18" Type="http://schemas.openxmlformats.org/officeDocument/2006/relationships/image" Target="../media/image27.svg"/>
<Relationship Id="rId3" Type="http://schemas.openxmlformats.org/officeDocument/2006/relationships/image" Target="../media/image104.png"/>
<Relationship Id="rId21" Type="http://schemas.openxmlformats.org/officeDocument/2006/relationships/image" Target="../media/image120.png"/>
<Relationship Id="rId7" Type="http://schemas.openxmlformats.org/officeDocument/2006/relationships/image" Target="../media/image108.png"/>
<Relationship Id="rId12" Type="http://schemas.openxmlformats.org/officeDocument/2006/relationships/image" Target="../media/image113.svg"/>
<Relationship Id="rId17" Type="http://schemas.openxmlformats.org/officeDocument/2006/relationships/image" Target="../media/image26.png"/>
<Relationship Id="rId2" Type="http://schemas.openxmlformats.org/officeDocument/2006/relationships/image" Target="../media/image1.jpeg"/>
<Relationship Id="rId16" Type="http://schemas.openxmlformats.org/officeDocument/2006/relationships/image" Target="../media/image117.svg"/>
<Relationship Id="rId20" Type="http://schemas.openxmlformats.org/officeDocument/2006/relationships/image" Target="../media/image119.svg"/>
<Relationship Id="rId1" Type="http://schemas.openxmlformats.org/officeDocument/2006/relationships/slideLayout" Target="../slideLayouts/slideLayout7.xml"/>
<Relationship Id="rId6" Type="http://schemas.openxmlformats.org/officeDocument/2006/relationships/image" Target="../media/image107.svg"/>
<Relationship Id="rId11" Type="http://schemas.openxmlformats.org/officeDocument/2006/relationships/image" Target="../media/image112.png"/>
<Relationship Id="rId24" Type="http://schemas.openxmlformats.org/officeDocument/2006/relationships/image" Target="../media/image7.svg"/>
<Relationship Id="rId5" Type="http://schemas.openxmlformats.org/officeDocument/2006/relationships/image" Target="../media/image106.png"/>
<Relationship Id="rId15" Type="http://schemas.openxmlformats.org/officeDocument/2006/relationships/image" Target="../media/image116.png"/>
<Relationship Id="rId23" Type="http://schemas.openxmlformats.org/officeDocument/2006/relationships/image" Target="../media/image6.png"/>
<Relationship Id="rId10" Type="http://schemas.openxmlformats.org/officeDocument/2006/relationships/image" Target="../media/image111.svg"/>
<Relationship Id="rId19" Type="http://schemas.openxmlformats.org/officeDocument/2006/relationships/image" Target="../media/image118.png"/>
<Relationship Id="rId4" Type="http://schemas.openxmlformats.org/officeDocument/2006/relationships/image" Target="../media/image105.svg"/>
<Relationship Id="rId9" Type="http://schemas.openxmlformats.org/officeDocument/2006/relationships/image" Target="../media/image110.png"/>
<Relationship Id="rId14" Type="http://schemas.openxmlformats.org/officeDocument/2006/relationships/image" Target="../media/image115.svg"/>
<Relationship Id="rId22" Type="http://schemas.openxmlformats.org/officeDocument/2006/relationships/image" Target="../media/image121.svg"/>
</Relationships>
</file>

<file path=ppt/slides/_rels/slide19.xml.rels><?xml version="1.0" encoding="UTF-8" standalone="yes"?>
<Relationships xmlns="http://schemas.openxmlformats.org/package/2006/relationships">
<Relationship Id="rId8" Type="http://schemas.openxmlformats.org/officeDocument/2006/relationships/image" Target="../media/image41.svg"/>
<Relationship Id="rId13" Type="http://schemas.openxmlformats.org/officeDocument/2006/relationships/image" Target="../media/image4.png"/>
<Relationship Id="rId18" Type="http://schemas.openxmlformats.org/officeDocument/2006/relationships/image" Target="../media/image7.svg"/>
<Relationship Id="rId3" Type="http://schemas.openxmlformats.org/officeDocument/2006/relationships/image" Target="../media/image122.png"/>
<Relationship Id="rId7" Type="http://schemas.openxmlformats.org/officeDocument/2006/relationships/image" Target="../media/image40.png"/>
<Relationship Id="rId12" Type="http://schemas.openxmlformats.org/officeDocument/2006/relationships/image" Target="../media/image45.svg"/>
<Relationship Id="rId17" Type="http://schemas.openxmlformats.org/officeDocument/2006/relationships/image" Target="../media/image6.png"/>
<Relationship Id="rId2" Type="http://schemas.openxmlformats.org/officeDocument/2006/relationships/image" Target="../media/image1.jpeg"/>
<Relationship Id="rId16" Type="http://schemas.openxmlformats.org/officeDocument/2006/relationships/image" Target="../media/image125.svg"/>
<Relationship Id="rId1" Type="http://schemas.openxmlformats.org/officeDocument/2006/relationships/slideLayout" Target="../slideLayouts/slideLayout7.xml"/>
<Relationship Id="rId6" Type="http://schemas.openxmlformats.org/officeDocument/2006/relationships/image" Target="../media/image39.svg"/>
<Relationship Id="rId11" Type="http://schemas.openxmlformats.org/officeDocument/2006/relationships/image" Target="../media/image44.png"/>
<Relationship Id="rId5" Type="http://schemas.openxmlformats.org/officeDocument/2006/relationships/image" Target="../media/image38.png"/>
<Relationship Id="rId15" Type="http://schemas.openxmlformats.org/officeDocument/2006/relationships/image" Target="../media/image124.png"/>
<Relationship Id="rId10" Type="http://schemas.openxmlformats.org/officeDocument/2006/relationships/image" Target="../media/image43.svg"/>
<Relationship Id="rId4" Type="http://schemas.openxmlformats.org/officeDocument/2006/relationships/image" Target="../media/image123.svg"/>
<Relationship Id="rId9" Type="http://schemas.openxmlformats.org/officeDocument/2006/relationships/image" Target="../media/image42.png"/>
<Relationship Id="rId14" Type="http://schemas.openxmlformats.org/officeDocument/2006/relationships/image" Target="../media/image5.svg"/>
</Relationships>
</file>

<file path=ppt/slides/_rels/slide20.xml.rels><?xml version="1.0" encoding="UTF-8" standalone="yes"?>
<Relationships xmlns="http://schemas.openxmlformats.org/package/2006/relationships">
<Relationship Id="rId8" Type="http://schemas.openxmlformats.org/officeDocument/2006/relationships/image" Target="../media/image15.svg"/>
<Relationship Id="rId13" Type="http://schemas.openxmlformats.org/officeDocument/2006/relationships/image" Target="../media/image4.png"/>
<Relationship Id="rId18" Type="http://schemas.openxmlformats.org/officeDocument/2006/relationships/image" Target="../media/image7.svg"/>
<Relationship Id="rId3" Type="http://schemas.openxmlformats.org/officeDocument/2006/relationships/image" Target="../media/image10.png"/>
<Relationship Id="rId7" Type="http://schemas.openxmlformats.org/officeDocument/2006/relationships/image" Target="../media/image14.png"/>
<Relationship Id="rId12" Type="http://schemas.openxmlformats.org/officeDocument/2006/relationships/image" Target="../media/image19.svg"/>
<Relationship Id="rId17" Type="http://schemas.openxmlformats.org/officeDocument/2006/relationships/image" Target="../media/image6.png"/>
<Relationship Id="rId2" Type="http://schemas.openxmlformats.org/officeDocument/2006/relationships/image" Target="../media/image1.jpeg"/>
<Relationship Id="rId16" Type="http://schemas.openxmlformats.org/officeDocument/2006/relationships/image" Target="../media/image21.svg"/>
<Relationship Id="rId1" Type="http://schemas.openxmlformats.org/officeDocument/2006/relationships/slideLayout" Target="../slideLayouts/slideLayout7.xml"/>
<Relationship Id="rId6" Type="http://schemas.openxmlformats.org/officeDocument/2006/relationships/image" Target="../media/image13.svg"/>
<Relationship Id="rId11" Type="http://schemas.openxmlformats.org/officeDocument/2006/relationships/image" Target="../media/image18.png"/>
<Relationship Id="rId5" Type="http://schemas.openxmlformats.org/officeDocument/2006/relationships/image" Target="../media/image12.png"/>
<Relationship Id="rId15" Type="http://schemas.openxmlformats.org/officeDocument/2006/relationships/image" Target="../media/image20.png"/>
<Relationship Id="rId10" Type="http://schemas.openxmlformats.org/officeDocument/2006/relationships/image" Target="../media/image17.svg"/>
<Relationship Id="rId4" Type="http://schemas.openxmlformats.org/officeDocument/2006/relationships/image" Target="../media/image11.svg"/>
<Relationship Id="rId9" Type="http://schemas.openxmlformats.org/officeDocument/2006/relationships/image" Target="../media/image16.png"/>
<Relationship Id="rId14" Type="http://schemas.openxmlformats.org/officeDocument/2006/relationships/image" Target="../media/image5.sv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1596748" y="2042759"/>
            <a:ext cx="5787505" cy="5997414"/>
          </a:xfrm>
          <a:custGeom>
            <a:avLst/>
            <a:gdLst/>
            <a:ahLst/>
            <a:cxnLst/>
            <a:rect l="l" t="t" r="r" b="b"/>
            <a:pathLst>
              <a:path w="5787505" h="5997414">
                <a:moveTo>
                  <a:pt x="0" y="0"/>
                </a:moveTo>
                <a:lnTo>
                  <a:pt x="5787504" y="0"/>
                </a:lnTo>
                <a:lnTo>
                  <a:pt x="5787504" y="5997414"/>
                </a:lnTo>
                <a:lnTo>
                  <a:pt x="0" y="59974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7035434" y="-432804"/>
            <a:ext cx="1731513" cy="1525174"/>
          </a:xfrm>
          <a:custGeom>
            <a:avLst/>
            <a:gdLst/>
            <a:ahLst/>
            <a:cxnLst/>
            <a:rect l="l" t="t" r="r" b="b"/>
            <a:pathLst>
              <a:path w="1731513" h="1525174">
                <a:moveTo>
                  <a:pt x="0" y="0"/>
                </a:moveTo>
                <a:lnTo>
                  <a:pt x="1731513" y="0"/>
                </a:lnTo>
                <a:lnTo>
                  <a:pt x="1731513" y="1525174"/>
                </a:lnTo>
                <a:lnTo>
                  <a:pt x="0" y="152517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 flipH="1">
            <a:off x="-5367006" y="-1383193"/>
            <a:ext cx="7315200" cy="3425952"/>
          </a:xfrm>
          <a:custGeom>
            <a:avLst/>
            <a:gdLst/>
            <a:ahLst/>
            <a:cxnLst/>
            <a:rect l="l" t="t" r="r" b="b"/>
            <a:pathLst>
              <a:path w="7315200" h="3425952">
                <a:moveTo>
                  <a:pt x="7315200" y="0"/>
                </a:moveTo>
                <a:lnTo>
                  <a:pt x="0" y="0"/>
                </a:lnTo>
                <a:lnTo>
                  <a:pt x="0" y="3425952"/>
                </a:lnTo>
                <a:lnTo>
                  <a:pt x="7315200" y="3425952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1140229" y="3924300"/>
            <a:ext cx="9029390" cy="984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altLang="zh-CN" sz="8000" b="1" dirty="0">
                <a:solidFill>
                  <a:srgbClr val="204A59"/>
                </a:solidFill>
                <a:latin typeface="Montserrat" pitchFamily="2" charset="77"/>
                <a:ea typeface="Menlo" pitchFamily="49" charset="0"/>
                <a:cs typeface="Menlo" pitchFamily="49" charset="0"/>
                <a:sym typeface="Open Sauce Bold"/>
              </a:rPr>
              <a:t>Jarvis 2026</a:t>
            </a:r>
            <a:endParaRPr lang="en-US" sz="8000" b="1" dirty="0">
              <a:solidFill>
                <a:srgbClr val="204A59"/>
              </a:solidFill>
              <a:latin typeface="Montserrat" pitchFamily="2" charset="77"/>
              <a:ea typeface="Menlo" pitchFamily="49" charset="0"/>
              <a:cs typeface="Menlo" pitchFamily="49" charset="0"/>
              <a:sym typeface="Open Sauce Bold"/>
            </a:endParaRPr>
          </a:p>
        </p:txBody>
      </p:sp>
      <p:sp>
        <p:nvSpPr>
          <p:cNvPr id="30" name="Freeform 30"/>
          <p:cNvSpPr/>
          <p:nvPr/>
        </p:nvSpPr>
        <p:spPr>
          <a:xfrm flipH="1">
            <a:off x="-5405648" y="9457960"/>
            <a:ext cx="7315200" cy="3425952"/>
          </a:xfrm>
          <a:custGeom>
            <a:avLst/>
            <a:gdLst/>
            <a:ahLst/>
            <a:cxnLst/>
            <a:rect l="l" t="t" r="r" b="b"/>
            <a:pathLst>
              <a:path w="7315200" h="3425952">
                <a:moveTo>
                  <a:pt x="7315200" y="0"/>
                </a:moveTo>
                <a:lnTo>
                  <a:pt x="0" y="0"/>
                </a:lnTo>
                <a:lnTo>
                  <a:pt x="0" y="3425952"/>
                </a:lnTo>
                <a:lnTo>
                  <a:pt x="7315200" y="3425952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17411476" y="9457960"/>
            <a:ext cx="1489099" cy="1219200"/>
          </a:xfrm>
          <a:custGeom>
            <a:avLst/>
            <a:gdLst/>
            <a:ahLst/>
            <a:cxnLst/>
            <a:rect l="l" t="t" r="r" b="b"/>
            <a:pathLst>
              <a:path w="1489099" h="1219200">
                <a:moveTo>
                  <a:pt x="0" y="0"/>
                </a:moveTo>
                <a:lnTo>
                  <a:pt x="1489099" y="0"/>
                </a:lnTo>
                <a:lnTo>
                  <a:pt x="1489099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32" name="TextBox 47">
            <a:extLst>
              <a:ext uri="{FF2B5EF4-FFF2-40B4-BE49-F238E27FC236}">
                <a16:creationId xmlns:a16="http://schemas.microsoft.com/office/drawing/2014/main" id="{B3E42311-DECC-DE40-4471-9A6A1AF56049}"/>
              </a:ext>
            </a:extLst>
          </p:cNvPr>
          <p:cNvSpPr txBox="1"/>
          <p:nvPr/>
        </p:nvSpPr>
        <p:spPr>
          <a:xfrm>
            <a:off x="1143000" y="7732396"/>
            <a:ext cx="3632662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altLang="zh-CN" sz="2000" dirty="0">
                <a:solidFill>
                  <a:srgbClr val="878F8B"/>
                </a:solidFill>
                <a:latin typeface="Montserrat" pitchFamily="2" charset="77"/>
                <a:ea typeface="Menlo" pitchFamily="49" charset="0"/>
                <a:cs typeface="Menlo" pitchFamily="49" charset="0"/>
                <a:sym typeface="Canva Sans"/>
              </a:rPr>
              <a:t>Ryan Lin</a:t>
            </a:r>
            <a:endParaRPr lang="en-US" sz="2000" dirty="0">
              <a:solidFill>
                <a:srgbClr val="878F8B"/>
              </a:solidFill>
              <a:latin typeface="Montserrat" pitchFamily="2" charset="77"/>
              <a:ea typeface="Menlo" pitchFamily="49" charset="0"/>
              <a:cs typeface="Menlo" pitchFamily="49" charset="0"/>
              <a:sym typeface="Canva Sans"/>
            </a:endParaRPr>
          </a:p>
        </p:txBody>
      </p:sp>
      <p:sp>
        <p:nvSpPr>
          <p:cNvPr id="33" name="TextBox 47">
            <a:extLst>
              <a:ext uri="{FF2B5EF4-FFF2-40B4-BE49-F238E27FC236}">
                <a16:creationId xmlns:a16="http://schemas.microsoft.com/office/drawing/2014/main" id="{DBF2CBFD-0C4D-EAAB-6370-10F05E857E68}"/>
              </a:ext>
            </a:extLst>
          </p:cNvPr>
          <p:cNvSpPr txBox="1"/>
          <p:nvPr/>
        </p:nvSpPr>
        <p:spPr>
          <a:xfrm>
            <a:off x="1143000" y="8395703"/>
            <a:ext cx="3632662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altLang="zh-CN" sz="2000" dirty="0">
                <a:solidFill>
                  <a:srgbClr val="878F8B"/>
                </a:solidFill>
                <a:latin typeface="Montserrat" pitchFamily="2" charset="77"/>
                <a:ea typeface="Menlo" pitchFamily="49" charset="0"/>
                <a:cs typeface="Menlo" pitchFamily="49" charset="0"/>
                <a:sym typeface="Canva Sans"/>
              </a:rPr>
              <a:t>2026</a:t>
            </a:r>
            <a:endParaRPr lang="en-US" sz="2000" dirty="0">
              <a:solidFill>
                <a:srgbClr val="878F8B"/>
              </a:solidFill>
              <a:latin typeface="Montserrat" pitchFamily="2" charset="77"/>
              <a:ea typeface="Menlo" pitchFamily="49" charset="0"/>
              <a:cs typeface="Menlo" pitchFamily="49" charset="0"/>
              <a:sym typeface="Canva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2747441" y="4340875"/>
            <a:ext cx="5718014" cy="3073433"/>
          </a:xfrm>
          <a:custGeom>
            <a:avLst/>
            <a:gdLst/>
            <a:ahLst/>
            <a:cxnLst/>
            <a:rect l="l" t="t" r="r" b="b"/>
            <a:pathLst>
              <a:path w="5718014" h="3073433">
                <a:moveTo>
                  <a:pt x="5718014" y="0"/>
                </a:moveTo>
                <a:lnTo>
                  <a:pt x="0" y="0"/>
                </a:lnTo>
                <a:lnTo>
                  <a:pt x="0" y="3073433"/>
                </a:lnTo>
                <a:lnTo>
                  <a:pt x="5718014" y="3073433"/>
                </a:lnTo>
                <a:lnTo>
                  <a:pt x="5718014" y="0"/>
                </a:lnTo>
                <a:close/>
              </a:path>
            </a:pathLst>
          </a:custGeom>
          <a:blipFill>
            <a:blip r:embed="rId3">
              <a:alphaModFix amt="2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0673185" y="4340875"/>
            <a:ext cx="5718014" cy="3073433"/>
          </a:xfrm>
          <a:custGeom>
            <a:avLst/>
            <a:gdLst/>
            <a:ahLst/>
            <a:cxnLst/>
            <a:rect l="l" t="t" r="r" b="b"/>
            <a:pathLst>
              <a:path w="5718014" h="3073433">
                <a:moveTo>
                  <a:pt x="5718014" y="0"/>
                </a:moveTo>
                <a:lnTo>
                  <a:pt x="0" y="0"/>
                </a:lnTo>
                <a:lnTo>
                  <a:pt x="0" y="3073433"/>
                </a:lnTo>
                <a:lnTo>
                  <a:pt x="5718014" y="3073433"/>
                </a:lnTo>
                <a:lnTo>
                  <a:pt x="5718014" y="0"/>
                </a:lnTo>
                <a:close/>
              </a:path>
            </a:pathLst>
          </a:custGeom>
          <a:blipFill>
            <a:blip r:embed="rId3">
              <a:alphaModFix amt="2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2747441" y="4011570"/>
            <a:ext cx="5718014" cy="2245051"/>
            <a:chOff x="0" y="0"/>
            <a:chExt cx="1505979" cy="59128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05979" cy="591289"/>
            </a:xfrm>
            <a:custGeom>
              <a:avLst/>
              <a:gdLst/>
              <a:ahLst/>
              <a:cxnLst/>
              <a:rect l="l" t="t" r="r" b="b"/>
              <a:pathLst>
                <a:path w="1505979" h="591289">
                  <a:moveTo>
                    <a:pt x="44680" y="0"/>
                  </a:moveTo>
                  <a:lnTo>
                    <a:pt x="1461299" y="0"/>
                  </a:lnTo>
                  <a:cubicBezTo>
                    <a:pt x="1473149" y="0"/>
                    <a:pt x="1484513" y="4707"/>
                    <a:pt x="1492892" y="13087"/>
                  </a:cubicBezTo>
                  <a:cubicBezTo>
                    <a:pt x="1501272" y="21466"/>
                    <a:pt x="1505979" y="32830"/>
                    <a:pt x="1505979" y="44680"/>
                  </a:cubicBezTo>
                  <a:lnTo>
                    <a:pt x="1505979" y="546609"/>
                  </a:lnTo>
                  <a:cubicBezTo>
                    <a:pt x="1505979" y="558459"/>
                    <a:pt x="1501272" y="569823"/>
                    <a:pt x="1492892" y="578202"/>
                  </a:cubicBezTo>
                  <a:cubicBezTo>
                    <a:pt x="1484513" y="586582"/>
                    <a:pt x="1473149" y="591289"/>
                    <a:pt x="1461299" y="591289"/>
                  </a:cubicBezTo>
                  <a:lnTo>
                    <a:pt x="44680" y="591289"/>
                  </a:lnTo>
                  <a:cubicBezTo>
                    <a:pt x="32830" y="591289"/>
                    <a:pt x="21466" y="586582"/>
                    <a:pt x="13087" y="578202"/>
                  </a:cubicBezTo>
                  <a:cubicBezTo>
                    <a:pt x="4707" y="569823"/>
                    <a:pt x="0" y="558459"/>
                    <a:pt x="0" y="546609"/>
                  </a:cubicBezTo>
                  <a:lnTo>
                    <a:pt x="0" y="44680"/>
                  </a:lnTo>
                  <a:cubicBezTo>
                    <a:pt x="0" y="32830"/>
                    <a:pt x="4707" y="21466"/>
                    <a:pt x="13087" y="13087"/>
                  </a:cubicBezTo>
                  <a:cubicBezTo>
                    <a:pt x="21466" y="4707"/>
                    <a:pt x="32830" y="0"/>
                    <a:pt x="44680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505979" cy="6293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1790700" y="4260242"/>
            <a:ext cx="1736201" cy="1736201"/>
            <a:chOff x="0" y="0"/>
            <a:chExt cx="14400530" cy="1440053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400530" cy="14399261"/>
            </a:xfrm>
            <a:custGeom>
              <a:avLst/>
              <a:gdLst/>
              <a:ahLst/>
              <a:cxnLst/>
              <a:rect l="l" t="t" r="r" b="b"/>
              <a:pathLst>
                <a:path w="14400530" h="14399261">
                  <a:moveTo>
                    <a:pt x="7199630" y="0"/>
                  </a:moveTo>
                  <a:cubicBezTo>
                    <a:pt x="3223260" y="0"/>
                    <a:pt x="0" y="3223260"/>
                    <a:pt x="0" y="7199630"/>
                  </a:cubicBezTo>
                  <a:cubicBezTo>
                    <a:pt x="0" y="11176001"/>
                    <a:pt x="3223260" y="14399261"/>
                    <a:pt x="7199630" y="14399261"/>
                  </a:cubicBezTo>
                  <a:lnTo>
                    <a:pt x="14399261" y="14399261"/>
                  </a:lnTo>
                  <a:lnTo>
                    <a:pt x="14399261" y="7199630"/>
                  </a:lnTo>
                  <a:cubicBezTo>
                    <a:pt x="14400530" y="3223260"/>
                    <a:pt x="11176000" y="0"/>
                    <a:pt x="7199630" y="0"/>
                  </a:cubicBezTo>
                  <a:close/>
                </a:path>
              </a:pathLst>
            </a:custGeom>
            <a:solidFill>
              <a:srgbClr val="3A7377"/>
            </a:solidFill>
          </p:spPr>
        </p:sp>
      </p:grpSp>
      <p:grpSp>
        <p:nvGrpSpPr>
          <p:cNvPr id="10" name="Group 10"/>
          <p:cNvGrpSpPr>
            <a:grpSpLocks noChangeAspect="1"/>
          </p:cNvGrpSpPr>
          <p:nvPr/>
        </p:nvGrpSpPr>
        <p:grpSpPr>
          <a:xfrm>
            <a:off x="1909552" y="4379093"/>
            <a:ext cx="1498498" cy="1498498"/>
            <a:chOff x="0" y="0"/>
            <a:chExt cx="495300" cy="4953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95300" cy="495300"/>
            </a:xfrm>
            <a:custGeom>
              <a:avLst/>
              <a:gdLst/>
              <a:ahLst/>
              <a:cxnLst/>
              <a:rect l="l" t="t" r="r" b="b"/>
              <a:pathLst>
                <a:path w="495300" h="495300">
                  <a:moveTo>
                    <a:pt x="247650" y="0"/>
                  </a:moveTo>
                  <a:cubicBezTo>
                    <a:pt x="110490" y="0"/>
                    <a:pt x="0" y="110490"/>
                    <a:pt x="0" y="247650"/>
                  </a:cubicBezTo>
                  <a:cubicBezTo>
                    <a:pt x="0" y="384810"/>
                    <a:pt x="110490" y="495300"/>
                    <a:pt x="247650" y="495300"/>
                  </a:cubicBezTo>
                  <a:cubicBezTo>
                    <a:pt x="383540" y="495300"/>
                    <a:pt x="495300" y="384810"/>
                    <a:pt x="495300" y="247650"/>
                  </a:cubicBezTo>
                  <a:cubicBezTo>
                    <a:pt x="495300" y="110490"/>
                    <a:pt x="383540" y="0"/>
                    <a:pt x="247650" y="0"/>
                  </a:cubicBezTo>
                  <a:close/>
                  <a:moveTo>
                    <a:pt x="247650" y="457200"/>
                  </a:moveTo>
                  <a:cubicBezTo>
                    <a:pt x="132080" y="457200"/>
                    <a:pt x="38100" y="363220"/>
                    <a:pt x="38100" y="247650"/>
                  </a:cubicBezTo>
                  <a:cubicBezTo>
                    <a:pt x="38100" y="132080"/>
                    <a:pt x="132080" y="38100"/>
                    <a:pt x="247650" y="38100"/>
                  </a:cubicBezTo>
                  <a:cubicBezTo>
                    <a:pt x="363220" y="38100"/>
                    <a:pt x="457200" y="132080"/>
                    <a:pt x="457200" y="247650"/>
                  </a:cubicBezTo>
                  <a:cubicBezTo>
                    <a:pt x="457200" y="363220"/>
                    <a:pt x="363220" y="457200"/>
                    <a:pt x="247650" y="4572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38100" y="38100"/>
              <a:ext cx="419100" cy="419100"/>
            </a:xfrm>
            <a:custGeom>
              <a:avLst/>
              <a:gdLst/>
              <a:ahLst/>
              <a:cxnLst/>
              <a:rect l="l" t="t" r="r" b="b"/>
              <a:pathLst>
                <a:path w="419100" h="419100">
                  <a:moveTo>
                    <a:pt x="209550" y="0"/>
                  </a:moveTo>
                  <a:cubicBezTo>
                    <a:pt x="93980" y="0"/>
                    <a:pt x="0" y="93980"/>
                    <a:pt x="0" y="209550"/>
                  </a:cubicBezTo>
                  <a:cubicBezTo>
                    <a:pt x="0" y="325120"/>
                    <a:pt x="93980" y="419100"/>
                    <a:pt x="209550" y="419100"/>
                  </a:cubicBezTo>
                  <a:cubicBezTo>
                    <a:pt x="325120" y="419100"/>
                    <a:pt x="419100" y="325120"/>
                    <a:pt x="419100" y="209550"/>
                  </a:cubicBezTo>
                  <a:cubicBezTo>
                    <a:pt x="419100" y="93980"/>
                    <a:pt x="325120" y="0"/>
                    <a:pt x="209550" y="0"/>
                  </a:cubicBezTo>
                  <a:close/>
                </a:path>
              </a:pathLst>
            </a:custGeom>
            <a:solidFill>
              <a:srgbClr val="3A7377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10673185" y="4011570"/>
            <a:ext cx="5718014" cy="2245051"/>
            <a:chOff x="0" y="0"/>
            <a:chExt cx="1505979" cy="59128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505979" cy="591289"/>
            </a:xfrm>
            <a:custGeom>
              <a:avLst/>
              <a:gdLst/>
              <a:ahLst/>
              <a:cxnLst/>
              <a:rect l="l" t="t" r="r" b="b"/>
              <a:pathLst>
                <a:path w="1505979" h="591289">
                  <a:moveTo>
                    <a:pt x="44680" y="0"/>
                  </a:moveTo>
                  <a:lnTo>
                    <a:pt x="1461299" y="0"/>
                  </a:lnTo>
                  <a:cubicBezTo>
                    <a:pt x="1473149" y="0"/>
                    <a:pt x="1484513" y="4707"/>
                    <a:pt x="1492892" y="13087"/>
                  </a:cubicBezTo>
                  <a:cubicBezTo>
                    <a:pt x="1501272" y="21466"/>
                    <a:pt x="1505979" y="32830"/>
                    <a:pt x="1505979" y="44680"/>
                  </a:cubicBezTo>
                  <a:lnTo>
                    <a:pt x="1505979" y="546609"/>
                  </a:lnTo>
                  <a:cubicBezTo>
                    <a:pt x="1505979" y="558459"/>
                    <a:pt x="1501272" y="569823"/>
                    <a:pt x="1492892" y="578202"/>
                  </a:cubicBezTo>
                  <a:cubicBezTo>
                    <a:pt x="1484513" y="586582"/>
                    <a:pt x="1473149" y="591289"/>
                    <a:pt x="1461299" y="591289"/>
                  </a:cubicBezTo>
                  <a:lnTo>
                    <a:pt x="44680" y="591289"/>
                  </a:lnTo>
                  <a:cubicBezTo>
                    <a:pt x="32830" y="591289"/>
                    <a:pt x="21466" y="586582"/>
                    <a:pt x="13087" y="578202"/>
                  </a:cubicBezTo>
                  <a:cubicBezTo>
                    <a:pt x="4707" y="569823"/>
                    <a:pt x="0" y="558459"/>
                    <a:pt x="0" y="546609"/>
                  </a:cubicBezTo>
                  <a:lnTo>
                    <a:pt x="0" y="44680"/>
                  </a:lnTo>
                  <a:cubicBezTo>
                    <a:pt x="0" y="32830"/>
                    <a:pt x="4707" y="21466"/>
                    <a:pt x="13087" y="13087"/>
                  </a:cubicBezTo>
                  <a:cubicBezTo>
                    <a:pt x="21466" y="4707"/>
                    <a:pt x="32830" y="0"/>
                    <a:pt x="44680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505979" cy="6293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16" name="Group 16"/>
          <p:cNvGrpSpPr>
            <a:grpSpLocks noChangeAspect="1"/>
          </p:cNvGrpSpPr>
          <p:nvPr/>
        </p:nvGrpSpPr>
        <p:grpSpPr>
          <a:xfrm>
            <a:off x="9716444" y="4260242"/>
            <a:ext cx="1736201" cy="1736201"/>
            <a:chOff x="0" y="0"/>
            <a:chExt cx="14400530" cy="1440053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4400530" cy="14399261"/>
            </a:xfrm>
            <a:custGeom>
              <a:avLst/>
              <a:gdLst/>
              <a:ahLst/>
              <a:cxnLst/>
              <a:rect l="l" t="t" r="r" b="b"/>
              <a:pathLst>
                <a:path w="14400530" h="14399261">
                  <a:moveTo>
                    <a:pt x="7199630" y="0"/>
                  </a:moveTo>
                  <a:cubicBezTo>
                    <a:pt x="3223260" y="0"/>
                    <a:pt x="0" y="3223260"/>
                    <a:pt x="0" y="7199630"/>
                  </a:cubicBezTo>
                  <a:cubicBezTo>
                    <a:pt x="0" y="11176001"/>
                    <a:pt x="3223260" y="14399261"/>
                    <a:pt x="7199630" y="14399261"/>
                  </a:cubicBezTo>
                  <a:lnTo>
                    <a:pt x="14399261" y="14399261"/>
                  </a:lnTo>
                  <a:lnTo>
                    <a:pt x="14399261" y="7199630"/>
                  </a:lnTo>
                  <a:cubicBezTo>
                    <a:pt x="14400530" y="3223260"/>
                    <a:pt x="11176000" y="0"/>
                    <a:pt x="7199630" y="0"/>
                  </a:cubicBezTo>
                  <a:close/>
                </a:path>
              </a:pathLst>
            </a:custGeom>
            <a:solidFill>
              <a:srgbClr val="5EA6B2"/>
            </a:solidFill>
          </p:spPr>
        </p:sp>
      </p:grpSp>
      <p:grpSp>
        <p:nvGrpSpPr>
          <p:cNvPr id="18" name="Group 18"/>
          <p:cNvGrpSpPr>
            <a:grpSpLocks noChangeAspect="1"/>
          </p:cNvGrpSpPr>
          <p:nvPr/>
        </p:nvGrpSpPr>
        <p:grpSpPr>
          <a:xfrm>
            <a:off x="9835296" y="4379093"/>
            <a:ext cx="1498498" cy="1498498"/>
            <a:chOff x="0" y="0"/>
            <a:chExt cx="495300" cy="4953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95300" cy="495300"/>
            </a:xfrm>
            <a:custGeom>
              <a:avLst/>
              <a:gdLst/>
              <a:ahLst/>
              <a:cxnLst/>
              <a:rect l="l" t="t" r="r" b="b"/>
              <a:pathLst>
                <a:path w="495300" h="495300">
                  <a:moveTo>
                    <a:pt x="247650" y="0"/>
                  </a:moveTo>
                  <a:cubicBezTo>
                    <a:pt x="110490" y="0"/>
                    <a:pt x="0" y="110490"/>
                    <a:pt x="0" y="247650"/>
                  </a:cubicBezTo>
                  <a:cubicBezTo>
                    <a:pt x="0" y="384810"/>
                    <a:pt x="110490" y="495300"/>
                    <a:pt x="247650" y="495300"/>
                  </a:cubicBezTo>
                  <a:cubicBezTo>
                    <a:pt x="383540" y="495300"/>
                    <a:pt x="495300" y="384810"/>
                    <a:pt x="495300" y="247650"/>
                  </a:cubicBezTo>
                  <a:cubicBezTo>
                    <a:pt x="495300" y="110490"/>
                    <a:pt x="383540" y="0"/>
                    <a:pt x="247650" y="0"/>
                  </a:cubicBezTo>
                  <a:close/>
                  <a:moveTo>
                    <a:pt x="247650" y="457200"/>
                  </a:moveTo>
                  <a:cubicBezTo>
                    <a:pt x="132080" y="457200"/>
                    <a:pt x="38100" y="363220"/>
                    <a:pt x="38100" y="247650"/>
                  </a:cubicBezTo>
                  <a:cubicBezTo>
                    <a:pt x="38100" y="132080"/>
                    <a:pt x="132080" y="38100"/>
                    <a:pt x="247650" y="38100"/>
                  </a:cubicBezTo>
                  <a:cubicBezTo>
                    <a:pt x="363220" y="38100"/>
                    <a:pt x="457200" y="132080"/>
                    <a:pt x="457200" y="247650"/>
                  </a:cubicBezTo>
                  <a:cubicBezTo>
                    <a:pt x="457200" y="363220"/>
                    <a:pt x="363220" y="457200"/>
                    <a:pt x="247650" y="4572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0" name="Freeform 20"/>
            <p:cNvSpPr/>
            <p:nvPr/>
          </p:nvSpPr>
          <p:spPr>
            <a:xfrm>
              <a:off x="38100" y="38100"/>
              <a:ext cx="419100" cy="419100"/>
            </a:xfrm>
            <a:custGeom>
              <a:avLst/>
              <a:gdLst/>
              <a:ahLst/>
              <a:cxnLst/>
              <a:rect l="l" t="t" r="r" b="b"/>
              <a:pathLst>
                <a:path w="419100" h="419100">
                  <a:moveTo>
                    <a:pt x="209550" y="0"/>
                  </a:moveTo>
                  <a:cubicBezTo>
                    <a:pt x="93980" y="0"/>
                    <a:pt x="0" y="93980"/>
                    <a:pt x="0" y="209550"/>
                  </a:cubicBezTo>
                  <a:cubicBezTo>
                    <a:pt x="0" y="325120"/>
                    <a:pt x="93980" y="419100"/>
                    <a:pt x="209550" y="419100"/>
                  </a:cubicBezTo>
                  <a:cubicBezTo>
                    <a:pt x="325120" y="419100"/>
                    <a:pt x="419100" y="325120"/>
                    <a:pt x="419100" y="209550"/>
                  </a:cubicBezTo>
                  <a:cubicBezTo>
                    <a:pt x="419100" y="93980"/>
                    <a:pt x="325120" y="0"/>
                    <a:pt x="209550" y="0"/>
                  </a:cubicBezTo>
                  <a:close/>
                </a:path>
              </a:pathLst>
            </a:custGeom>
            <a:solidFill>
              <a:srgbClr val="5EA6B2"/>
            </a:solidFill>
          </p:spPr>
        </p:sp>
      </p:grpSp>
      <p:sp>
        <p:nvSpPr>
          <p:cNvPr id="21" name="Freeform 21"/>
          <p:cNvSpPr/>
          <p:nvPr/>
        </p:nvSpPr>
        <p:spPr>
          <a:xfrm flipH="1">
            <a:off x="2747441" y="7176656"/>
            <a:ext cx="5718014" cy="3073433"/>
          </a:xfrm>
          <a:custGeom>
            <a:avLst/>
            <a:gdLst/>
            <a:ahLst/>
            <a:cxnLst/>
            <a:rect l="l" t="t" r="r" b="b"/>
            <a:pathLst>
              <a:path w="5718014" h="3073433">
                <a:moveTo>
                  <a:pt x="5718014" y="0"/>
                </a:moveTo>
                <a:lnTo>
                  <a:pt x="0" y="0"/>
                </a:lnTo>
                <a:lnTo>
                  <a:pt x="0" y="3073432"/>
                </a:lnTo>
                <a:lnTo>
                  <a:pt x="5718014" y="3073432"/>
                </a:lnTo>
                <a:lnTo>
                  <a:pt x="5718014" y="0"/>
                </a:lnTo>
                <a:close/>
              </a:path>
            </a:pathLst>
          </a:custGeom>
          <a:blipFill>
            <a:blip r:embed="rId3">
              <a:alphaModFix amt="2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 flipH="1">
            <a:off x="10673185" y="7176656"/>
            <a:ext cx="5718014" cy="3073433"/>
          </a:xfrm>
          <a:custGeom>
            <a:avLst/>
            <a:gdLst/>
            <a:ahLst/>
            <a:cxnLst/>
            <a:rect l="l" t="t" r="r" b="b"/>
            <a:pathLst>
              <a:path w="5718014" h="3073433">
                <a:moveTo>
                  <a:pt x="5718014" y="0"/>
                </a:moveTo>
                <a:lnTo>
                  <a:pt x="0" y="0"/>
                </a:lnTo>
                <a:lnTo>
                  <a:pt x="0" y="3073432"/>
                </a:lnTo>
                <a:lnTo>
                  <a:pt x="5718014" y="3073432"/>
                </a:lnTo>
                <a:lnTo>
                  <a:pt x="5718014" y="0"/>
                </a:lnTo>
                <a:close/>
              </a:path>
            </a:pathLst>
          </a:custGeom>
          <a:blipFill>
            <a:blip r:embed="rId3">
              <a:alphaModFix amt="2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23" name="Group 23"/>
          <p:cNvGrpSpPr/>
          <p:nvPr/>
        </p:nvGrpSpPr>
        <p:grpSpPr>
          <a:xfrm>
            <a:off x="2747441" y="7013249"/>
            <a:ext cx="5718014" cy="2245051"/>
            <a:chOff x="0" y="0"/>
            <a:chExt cx="1505979" cy="59128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505979" cy="591289"/>
            </a:xfrm>
            <a:custGeom>
              <a:avLst/>
              <a:gdLst/>
              <a:ahLst/>
              <a:cxnLst/>
              <a:rect l="l" t="t" r="r" b="b"/>
              <a:pathLst>
                <a:path w="1505979" h="591289">
                  <a:moveTo>
                    <a:pt x="44680" y="0"/>
                  </a:moveTo>
                  <a:lnTo>
                    <a:pt x="1461299" y="0"/>
                  </a:lnTo>
                  <a:cubicBezTo>
                    <a:pt x="1473149" y="0"/>
                    <a:pt x="1484513" y="4707"/>
                    <a:pt x="1492892" y="13087"/>
                  </a:cubicBezTo>
                  <a:cubicBezTo>
                    <a:pt x="1501272" y="21466"/>
                    <a:pt x="1505979" y="32830"/>
                    <a:pt x="1505979" y="44680"/>
                  </a:cubicBezTo>
                  <a:lnTo>
                    <a:pt x="1505979" y="546609"/>
                  </a:lnTo>
                  <a:cubicBezTo>
                    <a:pt x="1505979" y="558459"/>
                    <a:pt x="1501272" y="569823"/>
                    <a:pt x="1492892" y="578202"/>
                  </a:cubicBezTo>
                  <a:cubicBezTo>
                    <a:pt x="1484513" y="586582"/>
                    <a:pt x="1473149" y="591289"/>
                    <a:pt x="1461299" y="591289"/>
                  </a:cubicBezTo>
                  <a:lnTo>
                    <a:pt x="44680" y="591289"/>
                  </a:lnTo>
                  <a:cubicBezTo>
                    <a:pt x="32830" y="591289"/>
                    <a:pt x="21466" y="586582"/>
                    <a:pt x="13087" y="578202"/>
                  </a:cubicBezTo>
                  <a:cubicBezTo>
                    <a:pt x="4707" y="569823"/>
                    <a:pt x="0" y="558459"/>
                    <a:pt x="0" y="546609"/>
                  </a:cubicBezTo>
                  <a:lnTo>
                    <a:pt x="0" y="44680"/>
                  </a:lnTo>
                  <a:cubicBezTo>
                    <a:pt x="0" y="32830"/>
                    <a:pt x="4707" y="21466"/>
                    <a:pt x="13087" y="13087"/>
                  </a:cubicBezTo>
                  <a:cubicBezTo>
                    <a:pt x="21466" y="4707"/>
                    <a:pt x="32830" y="0"/>
                    <a:pt x="44680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1505979" cy="6293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26" name="Group 26"/>
          <p:cNvGrpSpPr>
            <a:grpSpLocks noChangeAspect="1"/>
          </p:cNvGrpSpPr>
          <p:nvPr/>
        </p:nvGrpSpPr>
        <p:grpSpPr>
          <a:xfrm>
            <a:off x="1790700" y="7261921"/>
            <a:ext cx="1736201" cy="1736201"/>
            <a:chOff x="0" y="0"/>
            <a:chExt cx="14400530" cy="1440053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4400530" cy="14399261"/>
            </a:xfrm>
            <a:custGeom>
              <a:avLst/>
              <a:gdLst/>
              <a:ahLst/>
              <a:cxnLst/>
              <a:rect l="l" t="t" r="r" b="b"/>
              <a:pathLst>
                <a:path w="14400530" h="14399261">
                  <a:moveTo>
                    <a:pt x="7199630" y="0"/>
                  </a:moveTo>
                  <a:cubicBezTo>
                    <a:pt x="3223260" y="0"/>
                    <a:pt x="0" y="3223260"/>
                    <a:pt x="0" y="7199630"/>
                  </a:cubicBezTo>
                  <a:cubicBezTo>
                    <a:pt x="0" y="11176001"/>
                    <a:pt x="3223260" y="14399261"/>
                    <a:pt x="7199630" y="14399261"/>
                  </a:cubicBezTo>
                  <a:lnTo>
                    <a:pt x="14399261" y="14399261"/>
                  </a:lnTo>
                  <a:lnTo>
                    <a:pt x="14399261" y="7199630"/>
                  </a:lnTo>
                  <a:cubicBezTo>
                    <a:pt x="14400530" y="3223260"/>
                    <a:pt x="11176000" y="0"/>
                    <a:pt x="7199630" y="0"/>
                  </a:cubicBezTo>
                  <a:close/>
                </a:path>
              </a:pathLst>
            </a:custGeom>
            <a:solidFill>
              <a:srgbClr val="10AD5D"/>
            </a:solidFill>
          </p:spPr>
        </p:sp>
      </p:grpSp>
      <p:grpSp>
        <p:nvGrpSpPr>
          <p:cNvPr id="28" name="Group 28"/>
          <p:cNvGrpSpPr>
            <a:grpSpLocks noChangeAspect="1"/>
          </p:cNvGrpSpPr>
          <p:nvPr/>
        </p:nvGrpSpPr>
        <p:grpSpPr>
          <a:xfrm>
            <a:off x="1909552" y="7380772"/>
            <a:ext cx="1498498" cy="1498498"/>
            <a:chOff x="0" y="0"/>
            <a:chExt cx="495300" cy="4953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495300" cy="495300"/>
            </a:xfrm>
            <a:custGeom>
              <a:avLst/>
              <a:gdLst/>
              <a:ahLst/>
              <a:cxnLst/>
              <a:rect l="l" t="t" r="r" b="b"/>
              <a:pathLst>
                <a:path w="495300" h="495300">
                  <a:moveTo>
                    <a:pt x="247650" y="0"/>
                  </a:moveTo>
                  <a:cubicBezTo>
                    <a:pt x="110490" y="0"/>
                    <a:pt x="0" y="110490"/>
                    <a:pt x="0" y="247650"/>
                  </a:cubicBezTo>
                  <a:cubicBezTo>
                    <a:pt x="0" y="384810"/>
                    <a:pt x="110490" y="495300"/>
                    <a:pt x="247650" y="495300"/>
                  </a:cubicBezTo>
                  <a:cubicBezTo>
                    <a:pt x="383540" y="495300"/>
                    <a:pt x="495300" y="384810"/>
                    <a:pt x="495300" y="247650"/>
                  </a:cubicBezTo>
                  <a:cubicBezTo>
                    <a:pt x="495300" y="110490"/>
                    <a:pt x="383540" y="0"/>
                    <a:pt x="247650" y="0"/>
                  </a:cubicBezTo>
                  <a:close/>
                  <a:moveTo>
                    <a:pt x="247650" y="457200"/>
                  </a:moveTo>
                  <a:cubicBezTo>
                    <a:pt x="132080" y="457200"/>
                    <a:pt x="38100" y="363220"/>
                    <a:pt x="38100" y="247650"/>
                  </a:cubicBezTo>
                  <a:cubicBezTo>
                    <a:pt x="38100" y="132080"/>
                    <a:pt x="132080" y="38100"/>
                    <a:pt x="247650" y="38100"/>
                  </a:cubicBezTo>
                  <a:cubicBezTo>
                    <a:pt x="363220" y="38100"/>
                    <a:pt x="457200" y="132080"/>
                    <a:pt x="457200" y="247650"/>
                  </a:cubicBezTo>
                  <a:cubicBezTo>
                    <a:pt x="457200" y="363220"/>
                    <a:pt x="363220" y="457200"/>
                    <a:pt x="247650" y="4572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0" name="Freeform 30"/>
            <p:cNvSpPr/>
            <p:nvPr/>
          </p:nvSpPr>
          <p:spPr>
            <a:xfrm>
              <a:off x="38100" y="38100"/>
              <a:ext cx="419100" cy="419100"/>
            </a:xfrm>
            <a:custGeom>
              <a:avLst/>
              <a:gdLst/>
              <a:ahLst/>
              <a:cxnLst/>
              <a:rect l="l" t="t" r="r" b="b"/>
              <a:pathLst>
                <a:path w="419100" h="419100">
                  <a:moveTo>
                    <a:pt x="209550" y="0"/>
                  </a:moveTo>
                  <a:cubicBezTo>
                    <a:pt x="93980" y="0"/>
                    <a:pt x="0" y="93980"/>
                    <a:pt x="0" y="209550"/>
                  </a:cubicBezTo>
                  <a:cubicBezTo>
                    <a:pt x="0" y="325120"/>
                    <a:pt x="93980" y="419100"/>
                    <a:pt x="209550" y="419100"/>
                  </a:cubicBezTo>
                  <a:cubicBezTo>
                    <a:pt x="325120" y="419100"/>
                    <a:pt x="419100" y="325120"/>
                    <a:pt x="419100" y="209550"/>
                  </a:cubicBezTo>
                  <a:cubicBezTo>
                    <a:pt x="419100" y="93980"/>
                    <a:pt x="325120" y="0"/>
                    <a:pt x="209550" y="0"/>
                  </a:cubicBezTo>
                  <a:close/>
                </a:path>
              </a:pathLst>
            </a:custGeom>
            <a:solidFill>
              <a:srgbClr val="10AD5D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10673185" y="7013249"/>
            <a:ext cx="5718014" cy="2245051"/>
            <a:chOff x="0" y="0"/>
            <a:chExt cx="1505979" cy="59128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505979" cy="591289"/>
            </a:xfrm>
            <a:custGeom>
              <a:avLst/>
              <a:gdLst/>
              <a:ahLst/>
              <a:cxnLst/>
              <a:rect l="l" t="t" r="r" b="b"/>
              <a:pathLst>
                <a:path w="1505979" h="591289">
                  <a:moveTo>
                    <a:pt x="44680" y="0"/>
                  </a:moveTo>
                  <a:lnTo>
                    <a:pt x="1461299" y="0"/>
                  </a:lnTo>
                  <a:cubicBezTo>
                    <a:pt x="1473149" y="0"/>
                    <a:pt x="1484513" y="4707"/>
                    <a:pt x="1492892" y="13087"/>
                  </a:cubicBezTo>
                  <a:cubicBezTo>
                    <a:pt x="1501272" y="21466"/>
                    <a:pt x="1505979" y="32830"/>
                    <a:pt x="1505979" y="44680"/>
                  </a:cubicBezTo>
                  <a:lnTo>
                    <a:pt x="1505979" y="546609"/>
                  </a:lnTo>
                  <a:cubicBezTo>
                    <a:pt x="1505979" y="558459"/>
                    <a:pt x="1501272" y="569823"/>
                    <a:pt x="1492892" y="578202"/>
                  </a:cubicBezTo>
                  <a:cubicBezTo>
                    <a:pt x="1484513" y="586582"/>
                    <a:pt x="1473149" y="591289"/>
                    <a:pt x="1461299" y="591289"/>
                  </a:cubicBezTo>
                  <a:lnTo>
                    <a:pt x="44680" y="591289"/>
                  </a:lnTo>
                  <a:cubicBezTo>
                    <a:pt x="32830" y="591289"/>
                    <a:pt x="21466" y="586582"/>
                    <a:pt x="13087" y="578202"/>
                  </a:cubicBezTo>
                  <a:cubicBezTo>
                    <a:pt x="4707" y="569823"/>
                    <a:pt x="0" y="558459"/>
                    <a:pt x="0" y="546609"/>
                  </a:cubicBezTo>
                  <a:lnTo>
                    <a:pt x="0" y="44680"/>
                  </a:lnTo>
                  <a:cubicBezTo>
                    <a:pt x="0" y="32830"/>
                    <a:pt x="4707" y="21466"/>
                    <a:pt x="13087" y="13087"/>
                  </a:cubicBezTo>
                  <a:cubicBezTo>
                    <a:pt x="21466" y="4707"/>
                    <a:pt x="32830" y="0"/>
                    <a:pt x="44680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0" y="-38100"/>
              <a:ext cx="1505979" cy="6293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34" name="Group 34"/>
          <p:cNvGrpSpPr>
            <a:grpSpLocks noChangeAspect="1"/>
          </p:cNvGrpSpPr>
          <p:nvPr/>
        </p:nvGrpSpPr>
        <p:grpSpPr>
          <a:xfrm>
            <a:off x="9716444" y="7261921"/>
            <a:ext cx="1736201" cy="1736201"/>
            <a:chOff x="0" y="0"/>
            <a:chExt cx="14400530" cy="1440053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4400530" cy="14399261"/>
            </a:xfrm>
            <a:custGeom>
              <a:avLst/>
              <a:gdLst/>
              <a:ahLst/>
              <a:cxnLst/>
              <a:rect l="l" t="t" r="r" b="b"/>
              <a:pathLst>
                <a:path w="14400530" h="14399261">
                  <a:moveTo>
                    <a:pt x="7199630" y="0"/>
                  </a:moveTo>
                  <a:cubicBezTo>
                    <a:pt x="3223260" y="0"/>
                    <a:pt x="0" y="3223260"/>
                    <a:pt x="0" y="7199630"/>
                  </a:cubicBezTo>
                  <a:cubicBezTo>
                    <a:pt x="0" y="11176001"/>
                    <a:pt x="3223260" y="14399261"/>
                    <a:pt x="7199630" y="14399261"/>
                  </a:cubicBezTo>
                  <a:lnTo>
                    <a:pt x="14399261" y="14399261"/>
                  </a:lnTo>
                  <a:lnTo>
                    <a:pt x="14399261" y="7199630"/>
                  </a:lnTo>
                  <a:cubicBezTo>
                    <a:pt x="14400530" y="3223260"/>
                    <a:pt x="11176000" y="0"/>
                    <a:pt x="7199630" y="0"/>
                  </a:cubicBezTo>
                  <a:close/>
                </a:path>
              </a:pathLst>
            </a:custGeom>
            <a:solidFill>
              <a:srgbClr val="B9DB5F"/>
            </a:solidFill>
          </p:spPr>
        </p:sp>
      </p:grpSp>
      <p:grpSp>
        <p:nvGrpSpPr>
          <p:cNvPr id="36" name="Group 36"/>
          <p:cNvGrpSpPr>
            <a:grpSpLocks noChangeAspect="1"/>
          </p:cNvGrpSpPr>
          <p:nvPr/>
        </p:nvGrpSpPr>
        <p:grpSpPr>
          <a:xfrm>
            <a:off x="9835296" y="7380772"/>
            <a:ext cx="1498498" cy="1498498"/>
            <a:chOff x="0" y="0"/>
            <a:chExt cx="495300" cy="4953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495300" cy="495300"/>
            </a:xfrm>
            <a:custGeom>
              <a:avLst/>
              <a:gdLst/>
              <a:ahLst/>
              <a:cxnLst/>
              <a:rect l="l" t="t" r="r" b="b"/>
              <a:pathLst>
                <a:path w="495300" h="495300">
                  <a:moveTo>
                    <a:pt x="247650" y="0"/>
                  </a:moveTo>
                  <a:cubicBezTo>
                    <a:pt x="110490" y="0"/>
                    <a:pt x="0" y="110490"/>
                    <a:pt x="0" y="247650"/>
                  </a:cubicBezTo>
                  <a:cubicBezTo>
                    <a:pt x="0" y="384810"/>
                    <a:pt x="110490" y="495300"/>
                    <a:pt x="247650" y="495300"/>
                  </a:cubicBezTo>
                  <a:cubicBezTo>
                    <a:pt x="383540" y="495300"/>
                    <a:pt x="495300" y="384810"/>
                    <a:pt x="495300" y="247650"/>
                  </a:cubicBezTo>
                  <a:cubicBezTo>
                    <a:pt x="495300" y="110490"/>
                    <a:pt x="383540" y="0"/>
                    <a:pt x="247650" y="0"/>
                  </a:cubicBezTo>
                  <a:close/>
                  <a:moveTo>
                    <a:pt x="247650" y="457200"/>
                  </a:moveTo>
                  <a:cubicBezTo>
                    <a:pt x="132080" y="457200"/>
                    <a:pt x="38100" y="363220"/>
                    <a:pt x="38100" y="247650"/>
                  </a:cubicBezTo>
                  <a:cubicBezTo>
                    <a:pt x="38100" y="132080"/>
                    <a:pt x="132080" y="38100"/>
                    <a:pt x="247650" y="38100"/>
                  </a:cubicBezTo>
                  <a:cubicBezTo>
                    <a:pt x="363220" y="38100"/>
                    <a:pt x="457200" y="132080"/>
                    <a:pt x="457200" y="247650"/>
                  </a:cubicBezTo>
                  <a:cubicBezTo>
                    <a:pt x="457200" y="363220"/>
                    <a:pt x="363220" y="457200"/>
                    <a:pt x="247650" y="4572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8" name="Freeform 38"/>
            <p:cNvSpPr/>
            <p:nvPr/>
          </p:nvSpPr>
          <p:spPr>
            <a:xfrm>
              <a:off x="38100" y="38100"/>
              <a:ext cx="419100" cy="419100"/>
            </a:xfrm>
            <a:custGeom>
              <a:avLst/>
              <a:gdLst/>
              <a:ahLst/>
              <a:cxnLst/>
              <a:rect l="l" t="t" r="r" b="b"/>
              <a:pathLst>
                <a:path w="419100" h="419100">
                  <a:moveTo>
                    <a:pt x="209550" y="0"/>
                  </a:moveTo>
                  <a:cubicBezTo>
                    <a:pt x="93980" y="0"/>
                    <a:pt x="0" y="93980"/>
                    <a:pt x="0" y="209550"/>
                  </a:cubicBezTo>
                  <a:cubicBezTo>
                    <a:pt x="0" y="325120"/>
                    <a:pt x="93980" y="419100"/>
                    <a:pt x="209550" y="419100"/>
                  </a:cubicBezTo>
                  <a:cubicBezTo>
                    <a:pt x="325120" y="419100"/>
                    <a:pt x="419100" y="325120"/>
                    <a:pt x="419100" y="209550"/>
                  </a:cubicBezTo>
                  <a:cubicBezTo>
                    <a:pt x="419100" y="93980"/>
                    <a:pt x="325120" y="0"/>
                    <a:pt x="209550" y="0"/>
                  </a:cubicBezTo>
                  <a:close/>
                </a:path>
              </a:pathLst>
            </a:custGeom>
            <a:solidFill>
              <a:srgbClr val="B9DB5F"/>
            </a:solidFill>
          </p:spPr>
        </p:sp>
      </p:grpSp>
      <p:sp>
        <p:nvSpPr>
          <p:cNvPr id="39" name="AutoShape 39"/>
          <p:cNvSpPr/>
          <p:nvPr/>
        </p:nvSpPr>
        <p:spPr>
          <a:xfrm>
            <a:off x="-369380" y="650332"/>
            <a:ext cx="1279725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0" name="Freeform 40"/>
          <p:cNvSpPr/>
          <p:nvPr/>
        </p:nvSpPr>
        <p:spPr>
          <a:xfrm>
            <a:off x="2278109" y="7852863"/>
            <a:ext cx="761383" cy="710942"/>
          </a:xfrm>
          <a:custGeom>
            <a:avLst/>
            <a:gdLst/>
            <a:ahLst/>
            <a:cxnLst/>
            <a:rect l="l" t="t" r="r" b="b"/>
            <a:pathLst>
              <a:path w="761383" h="710942">
                <a:moveTo>
                  <a:pt x="0" y="0"/>
                </a:moveTo>
                <a:lnTo>
                  <a:pt x="761383" y="0"/>
                </a:lnTo>
                <a:lnTo>
                  <a:pt x="761383" y="710942"/>
                </a:lnTo>
                <a:lnTo>
                  <a:pt x="0" y="71094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1" name="Freeform 41"/>
          <p:cNvSpPr/>
          <p:nvPr/>
        </p:nvSpPr>
        <p:spPr>
          <a:xfrm>
            <a:off x="10348525" y="7694616"/>
            <a:ext cx="472039" cy="882317"/>
          </a:xfrm>
          <a:custGeom>
            <a:avLst/>
            <a:gdLst/>
            <a:ahLst/>
            <a:cxnLst/>
            <a:rect l="l" t="t" r="r" b="b"/>
            <a:pathLst>
              <a:path w="472039" h="882317">
                <a:moveTo>
                  <a:pt x="0" y="0"/>
                </a:moveTo>
                <a:lnTo>
                  <a:pt x="472039" y="0"/>
                </a:lnTo>
                <a:lnTo>
                  <a:pt x="472039" y="882317"/>
                </a:lnTo>
                <a:lnTo>
                  <a:pt x="0" y="88231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2" name="Freeform 42"/>
          <p:cNvSpPr/>
          <p:nvPr/>
        </p:nvSpPr>
        <p:spPr>
          <a:xfrm>
            <a:off x="10164838" y="4746933"/>
            <a:ext cx="839414" cy="762818"/>
          </a:xfrm>
          <a:custGeom>
            <a:avLst/>
            <a:gdLst/>
            <a:ahLst/>
            <a:cxnLst/>
            <a:rect l="l" t="t" r="r" b="b"/>
            <a:pathLst>
              <a:path w="839414" h="762818">
                <a:moveTo>
                  <a:pt x="0" y="0"/>
                </a:moveTo>
                <a:lnTo>
                  <a:pt x="839414" y="0"/>
                </a:lnTo>
                <a:lnTo>
                  <a:pt x="839414" y="762818"/>
                </a:lnTo>
                <a:lnTo>
                  <a:pt x="0" y="76281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3" name="Freeform 43"/>
          <p:cNvSpPr/>
          <p:nvPr/>
        </p:nvSpPr>
        <p:spPr>
          <a:xfrm>
            <a:off x="2193006" y="4662548"/>
            <a:ext cx="931589" cy="931589"/>
          </a:xfrm>
          <a:custGeom>
            <a:avLst/>
            <a:gdLst/>
            <a:ahLst/>
            <a:cxnLst/>
            <a:rect l="l" t="t" r="r" b="b"/>
            <a:pathLst>
              <a:path w="931589" h="931589">
                <a:moveTo>
                  <a:pt x="0" y="0"/>
                </a:moveTo>
                <a:lnTo>
                  <a:pt x="931589" y="0"/>
                </a:lnTo>
                <a:lnTo>
                  <a:pt x="931589" y="931589"/>
                </a:lnTo>
                <a:lnTo>
                  <a:pt x="0" y="93158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44" name="Freeform 44"/>
          <p:cNvSpPr/>
          <p:nvPr/>
        </p:nvSpPr>
        <p:spPr>
          <a:xfrm>
            <a:off x="-865757" y="-496474"/>
            <a:ext cx="1731513" cy="1525174"/>
          </a:xfrm>
          <a:custGeom>
            <a:avLst/>
            <a:gdLst/>
            <a:ahLst/>
            <a:cxnLst/>
            <a:rect l="l" t="t" r="r" b="b"/>
            <a:pathLst>
              <a:path w="1731513" h="1525174">
                <a:moveTo>
                  <a:pt x="0" y="0"/>
                </a:moveTo>
                <a:lnTo>
                  <a:pt x="1731514" y="0"/>
                </a:lnTo>
                <a:lnTo>
                  <a:pt x="1731514" y="1525174"/>
                </a:lnTo>
                <a:lnTo>
                  <a:pt x="0" y="152517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45" name="Freeform 45"/>
          <p:cNvSpPr/>
          <p:nvPr/>
        </p:nvSpPr>
        <p:spPr>
          <a:xfrm rot="-3807752" flipV="1">
            <a:off x="17013101" y="9453376"/>
            <a:ext cx="1837188" cy="1667248"/>
          </a:xfrm>
          <a:custGeom>
            <a:avLst/>
            <a:gdLst/>
            <a:ahLst/>
            <a:cxnLst/>
            <a:rect l="l" t="t" r="r" b="b"/>
            <a:pathLst>
              <a:path w="1837188" h="1667248">
                <a:moveTo>
                  <a:pt x="0" y="1667248"/>
                </a:moveTo>
                <a:lnTo>
                  <a:pt x="1837188" y="1667248"/>
                </a:lnTo>
                <a:lnTo>
                  <a:pt x="1837188" y="0"/>
                </a:lnTo>
                <a:lnTo>
                  <a:pt x="0" y="0"/>
                </a:lnTo>
                <a:lnTo>
                  <a:pt x="0" y="1667248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6"/>
          <p:cNvSpPr txBox="1"/>
          <p:nvPr/>
        </p:nvSpPr>
        <p:spPr>
          <a:xfrm>
            <a:off x="3939656" y="4350518"/>
            <a:ext cx="4144490" cy="4387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639"/>
              </a:lnSpc>
              <a:spcBef>
                <a:spcPct val="0"/>
              </a:spcBef>
            </a:pPr>
            <a:r>
              <a:rPr lang="en-US" altLang="zh-CN" sz="2599" b="1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Direction</a:t>
            </a:r>
            <a:endParaRPr lang="en-US" sz="2599" b="1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3939655" y="4945894"/>
            <a:ext cx="4144491" cy="2814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altLang="zh-CN" sz="1599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Our vision, mission, and core values guiding Jarvis's future.</a:t>
            </a:r>
            <a:endParaRPr lang="en-US" sz="1599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49" name="TextBox 49"/>
          <p:cNvSpPr txBox="1"/>
          <p:nvPr/>
        </p:nvSpPr>
        <p:spPr>
          <a:xfrm>
            <a:off x="3541977" y="1028700"/>
            <a:ext cx="11204046" cy="796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6480"/>
              </a:lnSpc>
            </a:pPr>
            <a:r>
              <a:rPr lang="en-US" altLang="zh-CN" sz="5400" b="1" u="none" strike="noStrike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Agenda Overview</a:t>
            </a:r>
            <a:endParaRPr lang="en-US" sz="5400" b="1" u="none" strike="noStrike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51" name="TextBox 51"/>
          <p:cNvSpPr txBox="1"/>
          <p:nvPr/>
        </p:nvSpPr>
        <p:spPr>
          <a:xfrm>
            <a:off x="11865400" y="4350518"/>
            <a:ext cx="4144490" cy="4387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639"/>
              </a:lnSpc>
              <a:spcBef>
                <a:spcPct val="0"/>
              </a:spcBef>
            </a:pPr>
            <a:r>
              <a:rPr lang="en-US" altLang="zh-CN" sz="2599" b="1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Strategy</a:t>
            </a:r>
            <a:endParaRPr lang="en-US" sz="2599" b="1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52" name="TextBox 52"/>
          <p:cNvSpPr txBox="1"/>
          <p:nvPr/>
        </p:nvSpPr>
        <p:spPr>
          <a:xfrm>
            <a:off x="11865399" y="4945894"/>
            <a:ext cx="4144491" cy="2814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altLang="zh-CN" sz="1599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Key financial, organizational, product, and technical objectives.</a:t>
            </a:r>
            <a:endParaRPr lang="en-US" sz="1599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53" name="TextBox 53"/>
          <p:cNvSpPr txBox="1"/>
          <p:nvPr/>
        </p:nvSpPr>
        <p:spPr>
          <a:xfrm>
            <a:off x="3939656" y="7352197"/>
            <a:ext cx="4144490" cy="4387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639"/>
              </a:lnSpc>
              <a:spcBef>
                <a:spcPct val="0"/>
              </a:spcBef>
            </a:pPr>
            <a:r>
              <a:rPr lang="en-US" altLang="zh-CN" sz="2599" b="1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Expansion</a:t>
            </a:r>
            <a:endParaRPr lang="en-US" sz="2599" b="1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54" name="TextBox 54"/>
          <p:cNvSpPr txBox="1"/>
          <p:nvPr/>
        </p:nvSpPr>
        <p:spPr>
          <a:xfrm>
            <a:off x="3939655" y="7947573"/>
            <a:ext cx="4144491" cy="2814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altLang="zh-CN" sz="1599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Internationalization efforts and execution timeline for 2026.</a:t>
            </a:r>
            <a:endParaRPr lang="en-US" sz="1599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55" name="TextBox 55"/>
          <p:cNvSpPr txBox="1"/>
          <p:nvPr/>
        </p:nvSpPr>
        <p:spPr>
          <a:xfrm>
            <a:off x="11865400" y="7352197"/>
            <a:ext cx="4144490" cy="4387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639"/>
              </a:lnSpc>
              <a:spcBef>
                <a:spcPct val="0"/>
              </a:spcBef>
            </a:pPr>
            <a:r>
              <a:rPr lang="en-US" altLang="zh-CN" sz="2599" b="1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Foundation</a:t>
            </a:r>
            <a:endParaRPr lang="en-US" sz="2599" b="1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56" name="TextBox 56"/>
          <p:cNvSpPr txBox="1"/>
          <p:nvPr/>
        </p:nvSpPr>
        <p:spPr>
          <a:xfrm>
            <a:off x="11865399" y="7947573"/>
            <a:ext cx="4144491" cy="2814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altLang="zh-CN" sz="1599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Group overview, company culture, and leadership insights.</a:t>
            </a:r>
            <a:endParaRPr lang="en-US" sz="1599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57" name="Freeform 57"/>
          <p:cNvSpPr/>
          <p:nvPr/>
        </p:nvSpPr>
        <p:spPr>
          <a:xfrm flipH="1">
            <a:off x="-5405648" y="9457960"/>
            <a:ext cx="7315200" cy="3425952"/>
          </a:xfrm>
          <a:custGeom>
            <a:avLst/>
            <a:gdLst/>
            <a:ahLst/>
            <a:cxnLst/>
            <a:rect l="l" t="t" r="r" b="b"/>
            <a:pathLst>
              <a:path w="7315200" h="3425952">
                <a:moveTo>
                  <a:pt x="7315200" y="0"/>
                </a:moveTo>
                <a:lnTo>
                  <a:pt x="0" y="0"/>
                </a:lnTo>
                <a:lnTo>
                  <a:pt x="0" y="3425952"/>
                </a:lnTo>
                <a:lnTo>
                  <a:pt x="7315200" y="3425952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  <p:sp>
        <p:nvSpPr>
          <p:cNvPr id="58" name="Freeform 58"/>
          <p:cNvSpPr/>
          <p:nvPr/>
        </p:nvSpPr>
        <p:spPr>
          <a:xfrm flipV="1">
            <a:off x="16165514" y="-2634240"/>
            <a:ext cx="7315200" cy="3425952"/>
          </a:xfrm>
          <a:custGeom>
            <a:avLst/>
            <a:gdLst/>
            <a:ahLst/>
            <a:cxnLst/>
            <a:rect l="l" t="t" r="r" b="b"/>
            <a:pathLst>
              <a:path w="7315200" h="3425952">
                <a:moveTo>
                  <a:pt x="0" y="3425952"/>
                </a:moveTo>
                <a:lnTo>
                  <a:pt x="7315200" y="3425952"/>
                </a:lnTo>
                <a:lnTo>
                  <a:pt x="7315200" y="0"/>
                </a:lnTo>
                <a:lnTo>
                  <a:pt x="0" y="0"/>
                </a:lnTo>
                <a:lnTo>
                  <a:pt x="0" y="3425952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9778435" y="3174299"/>
            <a:ext cx="6737191" cy="1262390"/>
            <a:chOff x="0" y="0"/>
            <a:chExt cx="2276820" cy="42662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276820" cy="426622"/>
            </a:xfrm>
            <a:custGeom>
              <a:avLst/>
              <a:gdLst/>
              <a:ahLst/>
              <a:cxnLst/>
              <a:rect l="l" t="t" r="r" b="b"/>
              <a:pathLst>
                <a:path w="2276820" h="426622">
                  <a:moveTo>
                    <a:pt x="27579" y="0"/>
                  </a:moveTo>
                  <a:lnTo>
                    <a:pt x="2249241" y="0"/>
                  </a:lnTo>
                  <a:cubicBezTo>
                    <a:pt x="2264472" y="0"/>
                    <a:pt x="2276820" y="12348"/>
                    <a:pt x="2276820" y="27579"/>
                  </a:cubicBezTo>
                  <a:lnTo>
                    <a:pt x="2276820" y="399043"/>
                  </a:lnTo>
                  <a:cubicBezTo>
                    <a:pt x="2276820" y="414274"/>
                    <a:pt x="2264472" y="426622"/>
                    <a:pt x="2249241" y="426622"/>
                  </a:cubicBezTo>
                  <a:lnTo>
                    <a:pt x="27579" y="426622"/>
                  </a:lnTo>
                  <a:cubicBezTo>
                    <a:pt x="12348" y="426622"/>
                    <a:pt x="0" y="414274"/>
                    <a:pt x="0" y="399043"/>
                  </a:cubicBezTo>
                  <a:lnTo>
                    <a:pt x="0" y="27579"/>
                  </a:lnTo>
                  <a:cubicBezTo>
                    <a:pt x="0" y="12348"/>
                    <a:pt x="12348" y="0"/>
                    <a:pt x="2757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276820" cy="4647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8138294" y="3174299"/>
            <a:ext cx="1262390" cy="1262390"/>
            <a:chOff x="0" y="0"/>
            <a:chExt cx="14400530" cy="1440053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400530" cy="14399261"/>
            </a:xfrm>
            <a:custGeom>
              <a:avLst/>
              <a:gdLst/>
              <a:ahLst/>
              <a:cxnLst/>
              <a:rect l="l" t="t" r="r" b="b"/>
              <a:pathLst>
                <a:path w="14400530" h="14399261">
                  <a:moveTo>
                    <a:pt x="7199630" y="0"/>
                  </a:moveTo>
                  <a:cubicBezTo>
                    <a:pt x="3223260" y="0"/>
                    <a:pt x="0" y="3223260"/>
                    <a:pt x="0" y="7199630"/>
                  </a:cubicBezTo>
                  <a:cubicBezTo>
                    <a:pt x="0" y="11176001"/>
                    <a:pt x="3223260" y="14399261"/>
                    <a:pt x="7199630" y="14399261"/>
                  </a:cubicBezTo>
                  <a:lnTo>
                    <a:pt x="14399261" y="14399261"/>
                  </a:lnTo>
                  <a:lnTo>
                    <a:pt x="14399261" y="7199630"/>
                  </a:lnTo>
                  <a:cubicBezTo>
                    <a:pt x="14400530" y="3223260"/>
                    <a:pt x="11176000" y="0"/>
                    <a:pt x="7199630" y="0"/>
                  </a:cubicBezTo>
                  <a:close/>
                </a:path>
              </a:pathLst>
            </a:custGeom>
            <a:solidFill>
              <a:srgbClr val="3A7377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9778435" y="4878074"/>
            <a:ext cx="6737191" cy="1262390"/>
            <a:chOff x="0" y="0"/>
            <a:chExt cx="2276820" cy="42662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76820" cy="426622"/>
            </a:xfrm>
            <a:custGeom>
              <a:avLst/>
              <a:gdLst/>
              <a:ahLst/>
              <a:cxnLst/>
              <a:rect l="l" t="t" r="r" b="b"/>
              <a:pathLst>
                <a:path w="2276820" h="426622">
                  <a:moveTo>
                    <a:pt x="27579" y="0"/>
                  </a:moveTo>
                  <a:lnTo>
                    <a:pt x="2249241" y="0"/>
                  </a:lnTo>
                  <a:cubicBezTo>
                    <a:pt x="2264472" y="0"/>
                    <a:pt x="2276820" y="12348"/>
                    <a:pt x="2276820" y="27579"/>
                  </a:cubicBezTo>
                  <a:lnTo>
                    <a:pt x="2276820" y="399043"/>
                  </a:lnTo>
                  <a:cubicBezTo>
                    <a:pt x="2276820" y="414274"/>
                    <a:pt x="2264472" y="426622"/>
                    <a:pt x="2249241" y="426622"/>
                  </a:cubicBezTo>
                  <a:lnTo>
                    <a:pt x="27579" y="426622"/>
                  </a:lnTo>
                  <a:cubicBezTo>
                    <a:pt x="12348" y="426622"/>
                    <a:pt x="0" y="414274"/>
                    <a:pt x="0" y="399043"/>
                  </a:cubicBezTo>
                  <a:lnTo>
                    <a:pt x="0" y="27579"/>
                  </a:lnTo>
                  <a:cubicBezTo>
                    <a:pt x="0" y="12348"/>
                    <a:pt x="12348" y="0"/>
                    <a:pt x="2757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276820" cy="4647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11" name="Group 11"/>
          <p:cNvGrpSpPr>
            <a:grpSpLocks noChangeAspect="1"/>
          </p:cNvGrpSpPr>
          <p:nvPr/>
        </p:nvGrpSpPr>
        <p:grpSpPr>
          <a:xfrm>
            <a:off x="8138294" y="4873803"/>
            <a:ext cx="1262390" cy="1262390"/>
            <a:chOff x="0" y="0"/>
            <a:chExt cx="14400530" cy="1440053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4400530" cy="14399261"/>
            </a:xfrm>
            <a:custGeom>
              <a:avLst/>
              <a:gdLst/>
              <a:ahLst/>
              <a:cxnLst/>
              <a:rect l="l" t="t" r="r" b="b"/>
              <a:pathLst>
                <a:path w="14400530" h="14399261">
                  <a:moveTo>
                    <a:pt x="7199630" y="0"/>
                  </a:moveTo>
                  <a:cubicBezTo>
                    <a:pt x="3223260" y="0"/>
                    <a:pt x="0" y="3223260"/>
                    <a:pt x="0" y="7199630"/>
                  </a:cubicBezTo>
                  <a:cubicBezTo>
                    <a:pt x="0" y="11176001"/>
                    <a:pt x="3223260" y="14399261"/>
                    <a:pt x="7199630" y="14399261"/>
                  </a:cubicBezTo>
                  <a:lnTo>
                    <a:pt x="14399261" y="14399261"/>
                  </a:lnTo>
                  <a:lnTo>
                    <a:pt x="14399261" y="7199630"/>
                  </a:lnTo>
                  <a:cubicBezTo>
                    <a:pt x="14400530" y="3223260"/>
                    <a:pt x="11176000" y="0"/>
                    <a:pt x="7199630" y="0"/>
                  </a:cubicBezTo>
                  <a:close/>
                </a:path>
              </a:pathLst>
            </a:custGeom>
            <a:solidFill>
              <a:srgbClr val="B9DB5F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9778435" y="6583566"/>
            <a:ext cx="6737191" cy="1262390"/>
            <a:chOff x="0" y="0"/>
            <a:chExt cx="2276820" cy="42662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76820" cy="426622"/>
            </a:xfrm>
            <a:custGeom>
              <a:avLst/>
              <a:gdLst/>
              <a:ahLst/>
              <a:cxnLst/>
              <a:rect l="l" t="t" r="r" b="b"/>
              <a:pathLst>
                <a:path w="2276820" h="426622">
                  <a:moveTo>
                    <a:pt x="27579" y="0"/>
                  </a:moveTo>
                  <a:lnTo>
                    <a:pt x="2249241" y="0"/>
                  </a:lnTo>
                  <a:cubicBezTo>
                    <a:pt x="2264472" y="0"/>
                    <a:pt x="2276820" y="12348"/>
                    <a:pt x="2276820" y="27579"/>
                  </a:cubicBezTo>
                  <a:lnTo>
                    <a:pt x="2276820" y="399043"/>
                  </a:lnTo>
                  <a:cubicBezTo>
                    <a:pt x="2276820" y="414274"/>
                    <a:pt x="2264472" y="426622"/>
                    <a:pt x="2249241" y="426622"/>
                  </a:cubicBezTo>
                  <a:lnTo>
                    <a:pt x="27579" y="426622"/>
                  </a:lnTo>
                  <a:cubicBezTo>
                    <a:pt x="12348" y="426622"/>
                    <a:pt x="0" y="414274"/>
                    <a:pt x="0" y="399043"/>
                  </a:cubicBezTo>
                  <a:lnTo>
                    <a:pt x="0" y="27579"/>
                  </a:lnTo>
                  <a:cubicBezTo>
                    <a:pt x="0" y="12348"/>
                    <a:pt x="12348" y="0"/>
                    <a:pt x="2757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2276820" cy="4647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16" name="Group 16"/>
          <p:cNvGrpSpPr>
            <a:grpSpLocks noChangeAspect="1"/>
          </p:cNvGrpSpPr>
          <p:nvPr/>
        </p:nvGrpSpPr>
        <p:grpSpPr>
          <a:xfrm>
            <a:off x="8138294" y="6577577"/>
            <a:ext cx="1262390" cy="1262390"/>
            <a:chOff x="0" y="0"/>
            <a:chExt cx="14400530" cy="1440053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4400530" cy="14399261"/>
            </a:xfrm>
            <a:custGeom>
              <a:avLst/>
              <a:gdLst/>
              <a:ahLst/>
              <a:cxnLst/>
              <a:rect l="l" t="t" r="r" b="b"/>
              <a:pathLst>
                <a:path w="14400530" h="14399261">
                  <a:moveTo>
                    <a:pt x="7199630" y="0"/>
                  </a:moveTo>
                  <a:cubicBezTo>
                    <a:pt x="3223260" y="0"/>
                    <a:pt x="0" y="3223260"/>
                    <a:pt x="0" y="7199630"/>
                  </a:cubicBezTo>
                  <a:cubicBezTo>
                    <a:pt x="0" y="11176001"/>
                    <a:pt x="3223260" y="14399261"/>
                    <a:pt x="7199630" y="14399261"/>
                  </a:cubicBezTo>
                  <a:lnTo>
                    <a:pt x="14399261" y="14399261"/>
                  </a:lnTo>
                  <a:lnTo>
                    <a:pt x="14399261" y="7199630"/>
                  </a:lnTo>
                  <a:cubicBezTo>
                    <a:pt x="14400530" y="3223260"/>
                    <a:pt x="11176000" y="0"/>
                    <a:pt x="7199630" y="0"/>
                  </a:cubicBezTo>
                  <a:close/>
                </a:path>
              </a:pathLst>
            </a:custGeom>
            <a:solidFill>
              <a:srgbClr val="10AD5D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9778435" y="8283070"/>
            <a:ext cx="6737191" cy="1262390"/>
            <a:chOff x="0" y="0"/>
            <a:chExt cx="2276820" cy="42662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276820" cy="426622"/>
            </a:xfrm>
            <a:custGeom>
              <a:avLst/>
              <a:gdLst/>
              <a:ahLst/>
              <a:cxnLst/>
              <a:rect l="l" t="t" r="r" b="b"/>
              <a:pathLst>
                <a:path w="2276820" h="426622">
                  <a:moveTo>
                    <a:pt x="27579" y="0"/>
                  </a:moveTo>
                  <a:lnTo>
                    <a:pt x="2249241" y="0"/>
                  </a:lnTo>
                  <a:cubicBezTo>
                    <a:pt x="2264472" y="0"/>
                    <a:pt x="2276820" y="12348"/>
                    <a:pt x="2276820" y="27579"/>
                  </a:cubicBezTo>
                  <a:lnTo>
                    <a:pt x="2276820" y="399043"/>
                  </a:lnTo>
                  <a:cubicBezTo>
                    <a:pt x="2276820" y="414274"/>
                    <a:pt x="2264472" y="426622"/>
                    <a:pt x="2249241" y="426622"/>
                  </a:cubicBezTo>
                  <a:lnTo>
                    <a:pt x="27579" y="426622"/>
                  </a:lnTo>
                  <a:cubicBezTo>
                    <a:pt x="12348" y="426622"/>
                    <a:pt x="0" y="414274"/>
                    <a:pt x="0" y="399043"/>
                  </a:cubicBezTo>
                  <a:lnTo>
                    <a:pt x="0" y="27579"/>
                  </a:lnTo>
                  <a:cubicBezTo>
                    <a:pt x="0" y="12348"/>
                    <a:pt x="12348" y="0"/>
                    <a:pt x="2757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2276820" cy="4647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21" name="Group 21"/>
          <p:cNvGrpSpPr>
            <a:grpSpLocks noChangeAspect="1"/>
          </p:cNvGrpSpPr>
          <p:nvPr/>
        </p:nvGrpSpPr>
        <p:grpSpPr>
          <a:xfrm>
            <a:off x="8138294" y="8283070"/>
            <a:ext cx="1262390" cy="1262390"/>
            <a:chOff x="0" y="0"/>
            <a:chExt cx="14400530" cy="1440053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4400530" cy="14399261"/>
            </a:xfrm>
            <a:custGeom>
              <a:avLst/>
              <a:gdLst/>
              <a:ahLst/>
              <a:cxnLst/>
              <a:rect l="l" t="t" r="r" b="b"/>
              <a:pathLst>
                <a:path w="14400530" h="14399261">
                  <a:moveTo>
                    <a:pt x="7199630" y="0"/>
                  </a:moveTo>
                  <a:cubicBezTo>
                    <a:pt x="3223260" y="0"/>
                    <a:pt x="0" y="3223260"/>
                    <a:pt x="0" y="7199630"/>
                  </a:cubicBezTo>
                  <a:cubicBezTo>
                    <a:pt x="0" y="11176001"/>
                    <a:pt x="3223260" y="14399261"/>
                    <a:pt x="7199630" y="14399261"/>
                  </a:cubicBezTo>
                  <a:lnTo>
                    <a:pt x="14399261" y="14399261"/>
                  </a:lnTo>
                  <a:lnTo>
                    <a:pt x="14399261" y="7199630"/>
                  </a:lnTo>
                  <a:cubicBezTo>
                    <a:pt x="14400530" y="3223260"/>
                    <a:pt x="11176000" y="0"/>
                    <a:pt x="7199630" y="0"/>
                  </a:cubicBezTo>
                  <a:close/>
                </a:path>
              </a:pathLst>
            </a:custGeom>
            <a:solidFill>
              <a:srgbClr val="5EA6B2"/>
            </a:solidFill>
          </p:spPr>
        </p:sp>
      </p:grpSp>
      <p:sp>
        <p:nvSpPr>
          <p:cNvPr id="23" name="Freeform 23"/>
          <p:cNvSpPr/>
          <p:nvPr/>
        </p:nvSpPr>
        <p:spPr>
          <a:xfrm>
            <a:off x="15318027" y="3482007"/>
            <a:ext cx="646974" cy="646974"/>
          </a:xfrm>
          <a:custGeom>
            <a:avLst/>
            <a:gdLst/>
            <a:ahLst/>
            <a:cxnLst/>
            <a:rect l="l" t="t" r="r" b="b"/>
            <a:pathLst>
              <a:path w="646974" h="646974">
                <a:moveTo>
                  <a:pt x="0" y="0"/>
                </a:moveTo>
                <a:lnTo>
                  <a:pt x="646974" y="0"/>
                </a:lnTo>
                <a:lnTo>
                  <a:pt x="646974" y="646974"/>
                </a:lnTo>
                <a:lnTo>
                  <a:pt x="0" y="6469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15316969" y="5191813"/>
            <a:ext cx="649089" cy="626371"/>
          </a:xfrm>
          <a:custGeom>
            <a:avLst/>
            <a:gdLst/>
            <a:ahLst/>
            <a:cxnLst/>
            <a:rect l="l" t="t" r="r" b="b"/>
            <a:pathLst>
              <a:path w="649089" h="626371">
                <a:moveTo>
                  <a:pt x="0" y="0"/>
                </a:moveTo>
                <a:lnTo>
                  <a:pt x="649089" y="0"/>
                </a:lnTo>
                <a:lnTo>
                  <a:pt x="649089" y="626371"/>
                </a:lnTo>
                <a:lnTo>
                  <a:pt x="0" y="62637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15357957" y="6925215"/>
            <a:ext cx="567114" cy="567114"/>
          </a:xfrm>
          <a:custGeom>
            <a:avLst/>
            <a:gdLst/>
            <a:ahLst/>
            <a:cxnLst/>
            <a:rect l="l" t="t" r="r" b="b"/>
            <a:pathLst>
              <a:path w="567114" h="567114">
                <a:moveTo>
                  <a:pt x="0" y="0"/>
                </a:moveTo>
                <a:lnTo>
                  <a:pt x="567114" y="0"/>
                </a:lnTo>
                <a:lnTo>
                  <a:pt x="567114" y="567115"/>
                </a:lnTo>
                <a:lnTo>
                  <a:pt x="0" y="56711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15397886" y="8535078"/>
            <a:ext cx="487255" cy="758373"/>
          </a:xfrm>
          <a:custGeom>
            <a:avLst/>
            <a:gdLst/>
            <a:ahLst/>
            <a:cxnLst/>
            <a:rect l="l" t="t" r="r" b="b"/>
            <a:pathLst>
              <a:path w="487255" h="758373">
                <a:moveTo>
                  <a:pt x="0" y="0"/>
                </a:moveTo>
                <a:lnTo>
                  <a:pt x="487255" y="0"/>
                </a:lnTo>
                <a:lnTo>
                  <a:pt x="487255" y="758373"/>
                </a:lnTo>
                <a:lnTo>
                  <a:pt x="0" y="75837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-354131" y="7319555"/>
            <a:ext cx="1177832" cy="1786344"/>
          </a:xfrm>
          <a:custGeom>
            <a:avLst/>
            <a:gdLst/>
            <a:ahLst/>
            <a:cxnLst/>
            <a:rect l="l" t="t" r="r" b="b"/>
            <a:pathLst>
              <a:path w="1177832" h="1786344">
                <a:moveTo>
                  <a:pt x="0" y="0"/>
                </a:moveTo>
                <a:lnTo>
                  <a:pt x="1177832" y="0"/>
                </a:lnTo>
                <a:lnTo>
                  <a:pt x="1177832" y="1786344"/>
                </a:lnTo>
                <a:lnTo>
                  <a:pt x="0" y="178634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1028700" y="3567855"/>
            <a:ext cx="5538045" cy="5538045"/>
          </a:xfrm>
          <a:custGeom>
            <a:avLst/>
            <a:gdLst/>
            <a:ahLst/>
            <a:cxnLst/>
            <a:rect l="l" t="t" r="r" b="b"/>
            <a:pathLst>
              <a:path w="5538045" h="5538045">
                <a:moveTo>
                  <a:pt x="0" y="0"/>
                </a:moveTo>
                <a:lnTo>
                  <a:pt x="5538045" y="0"/>
                </a:lnTo>
                <a:lnTo>
                  <a:pt x="5538045" y="5538044"/>
                </a:lnTo>
                <a:lnTo>
                  <a:pt x="0" y="553804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9" name="Freeform 29"/>
          <p:cNvSpPr/>
          <p:nvPr/>
        </p:nvSpPr>
        <p:spPr>
          <a:xfrm rot="1597443">
            <a:off x="16780615" y="733213"/>
            <a:ext cx="2213559" cy="769212"/>
          </a:xfrm>
          <a:custGeom>
            <a:avLst/>
            <a:gdLst/>
            <a:ahLst/>
            <a:cxnLst/>
            <a:rect l="l" t="t" r="r" b="b"/>
            <a:pathLst>
              <a:path w="2213559" h="769212">
                <a:moveTo>
                  <a:pt x="0" y="0"/>
                </a:moveTo>
                <a:lnTo>
                  <a:pt x="2213559" y="0"/>
                </a:lnTo>
                <a:lnTo>
                  <a:pt x="2213559" y="769211"/>
                </a:lnTo>
                <a:lnTo>
                  <a:pt x="0" y="76921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0" name="Freeform 30"/>
          <p:cNvSpPr/>
          <p:nvPr/>
        </p:nvSpPr>
        <p:spPr>
          <a:xfrm>
            <a:off x="6140234" y="9764575"/>
            <a:ext cx="1321347" cy="1503666"/>
          </a:xfrm>
          <a:custGeom>
            <a:avLst/>
            <a:gdLst/>
            <a:ahLst/>
            <a:cxnLst/>
            <a:rect l="l" t="t" r="r" b="b"/>
            <a:pathLst>
              <a:path w="1321347" h="1503666">
                <a:moveTo>
                  <a:pt x="0" y="0"/>
                </a:moveTo>
                <a:lnTo>
                  <a:pt x="1321347" y="0"/>
                </a:lnTo>
                <a:lnTo>
                  <a:pt x="1321347" y="1503666"/>
                </a:lnTo>
                <a:lnTo>
                  <a:pt x="0" y="150366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3756906" y="1028700"/>
            <a:ext cx="10774187" cy="7938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6480"/>
              </a:lnSpc>
              <a:spcBef>
                <a:spcPct val="0"/>
              </a:spcBef>
            </a:pPr>
            <a:r>
              <a:rPr lang="en-US" altLang="zh-CN" sz="5400" b="1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Company Vision</a:t>
            </a:r>
            <a:endParaRPr lang="en-US" sz="5400" b="1" u="none" strike="noStrike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8212204" y="3548319"/>
            <a:ext cx="1114570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4080"/>
              </a:lnSpc>
              <a:spcBef>
                <a:spcPct val="0"/>
              </a:spcBef>
            </a:pPr>
            <a:r>
              <a:rPr lang="en-US" sz="3400" b="1">
                <a:solidFill>
                  <a:srgbClr val="FFFFFF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01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212204" y="5247823"/>
            <a:ext cx="1114570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4080"/>
              </a:lnSpc>
              <a:spcBef>
                <a:spcPct val="0"/>
              </a:spcBef>
            </a:pPr>
            <a:r>
              <a:rPr lang="en-US" sz="3400" b="1">
                <a:solidFill>
                  <a:srgbClr val="FFFFFF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02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328269" y="3330211"/>
            <a:ext cx="4617956" cy="2733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2303"/>
              </a:lnSpc>
              <a:spcBef>
                <a:spcPct val="0"/>
              </a:spcBef>
            </a:pPr>
            <a:r>
              <a:rPr lang="en-US" altLang="zh-CN" sz="1645" b="1" spc="52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Core Vision</a:t>
            </a:r>
            <a:endParaRPr lang="en-US" sz="1645" b="1" spc="52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10328268" y="3712214"/>
            <a:ext cx="4612007" cy="2462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2100"/>
              </a:lnSpc>
            </a:pPr>
            <a:r>
              <a:rPr lang="en-US" altLang="zh-CN" sz="1400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Become a small but mighty R&amp;D company in Vietnam.</a:t>
            </a:r>
            <a:endParaRPr lang="en-US" sz="1400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10359150" y="5409579"/>
            <a:ext cx="4574803" cy="2462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2100"/>
              </a:lnSpc>
            </a:pPr>
            <a:r>
              <a:rPr lang="en-US" altLang="zh-CN" sz="1400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Align with world-leading tech, pioneer AGI applications.</a:t>
            </a:r>
            <a:endParaRPr lang="en-US" sz="1400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10328269" y="5028476"/>
            <a:ext cx="4617956" cy="2733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2303"/>
              </a:lnSpc>
              <a:spcBef>
                <a:spcPct val="0"/>
              </a:spcBef>
            </a:pPr>
            <a:r>
              <a:rPr lang="en-US" altLang="zh-CN" sz="1645" b="1" spc="52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Strategic Goal</a:t>
            </a:r>
            <a:endParaRPr lang="en-US" sz="1645" b="1" spc="52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10359150" y="7112903"/>
            <a:ext cx="4574803" cy="2462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2100"/>
              </a:lnSpc>
            </a:pPr>
            <a:r>
              <a:rPr lang="en-US" altLang="zh-CN" sz="1400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AI-driven lean team providing high-quality software R&amp;D.</a:t>
            </a:r>
            <a:endParaRPr lang="en-US" sz="1400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10328269" y="6734418"/>
            <a:ext cx="4617956" cy="2733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2303"/>
              </a:lnSpc>
              <a:spcBef>
                <a:spcPct val="0"/>
              </a:spcBef>
            </a:pPr>
            <a:r>
              <a:rPr lang="en-US" altLang="zh-CN" sz="1645" b="1" spc="52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Op. Model</a:t>
            </a:r>
            <a:endParaRPr lang="en-US" sz="1645" b="1" spc="52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10359150" y="8818244"/>
            <a:ext cx="4574803" cy="2462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2100"/>
              </a:lnSpc>
            </a:pPr>
            <a:r>
              <a:rPr lang="en-US" altLang="zh-CN" sz="1400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Develop revenue-generating products, achieve break-even by 2027 Q2.</a:t>
            </a:r>
            <a:endParaRPr lang="en-US" sz="1400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10328269" y="8428085"/>
            <a:ext cx="4617956" cy="2733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2303"/>
              </a:lnSpc>
              <a:spcBef>
                <a:spcPct val="0"/>
              </a:spcBef>
            </a:pPr>
            <a:r>
              <a:rPr lang="en-US" altLang="zh-CN" sz="1645" b="1" spc="52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Fin. Target</a:t>
            </a:r>
            <a:endParaRPr lang="en-US" sz="1645" b="1" spc="52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8212204" y="6951597"/>
            <a:ext cx="1114570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4080"/>
              </a:lnSpc>
              <a:spcBef>
                <a:spcPct val="0"/>
              </a:spcBef>
            </a:pPr>
            <a:r>
              <a:rPr lang="en-US" sz="3400" b="1">
                <a:solidFill>
                  <a:srgbClr val="FFFFFF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03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212204" y="8657090"/>
            <a:ext cx="1114570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4080"/>
              </a:lnSpc>
              <a:spcBef>
                <a:spcPct val="0"/>
              </a:spcBef>
            </a:pPr>
            <a:r>
              <a:rPr lang="en-US" sz="3400" b="1">
                <a:solidFill>
                  <a:srgbClr val="FFFFFF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04</a:t>
            </a:r>
          </a:p>
        </p:txBody>
      </p:sp>
      <p:sp>
        <p:nvSpPr>
          <p:cNvPr id="44" name="Freeform 44"/>
          <p:cNvSpPr/>
          <p:nvPr/>
        </p:nvSpPr>
        <p:spPr>
          <a:xfrm flipH="1">
            <a:off x="-5367006" y="-1383193"/>
            <a:ext cx="7315200" cy="3425952"/>
          </a:xfrm>
          <a:custGeom>
            <a:avLst/>
            <a:gdLst/>
            <a:ahLst/>
            <a:cxnLst/>
            <a:rect l="l" t="t" r="r" b="b"/>
            <a:pathLst>
              <a:path w="7315200" h="3425952">
                <a:moveTo>
                  <a:pt x="7315200" y="0"/>
                </a:moveTo>
                <a:lnTo>
                  <a:pt x="0" y="0"/>
                </a:lnTo>
                <a:lnTo>
                  <a:pt x="0" y="3425952"/>
                </a:lnTo>
                <a:lnTo>
                  <a:pt x="7315200" y="3425952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</p:sp>
      <p:sp>
        <p:nvSpPr>
          <p:cNvPr id="45" name="Freeform 45"/>
          <p:cNvSpPr/>
          <p:nvPr/>
        </p:nvSpPr>
        <p:spPr>
          <a:xfrm flipH="1">
            <a:off x="-5405648" y="9457960"/>
            <a:ext cx="7315200" cy="3425952"/>
          </a:xfrm>
          <a:custGeom>
            <a:avLst/>
            <a:gdLst/>
            <a:ahLst/>
            <a:cxnLst/>
            <a:rect l="l" t="t" r="r" b="b"/>
            <a:pathLst>
              <a:path w="7315200" h="3425952">
                <a:moveTo>
                  <a:pt x="7315200" y="0"/>
                </a:moveTo>
                <a:lnTo>
                  <a:pt x="0" y="0"/>
                </a:lnTo>
                <a:lnTo>
                  <a:pt x="0" y="3425952"/>
                </a:lnTo>
                <a:lnTo>
                  <a:pt x="7315200" y="3425952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</p:sp>
      <p:sp>
        <p:nvSpPr>
          <p:cNvPr id="46" name="Freeform 46"/>
          <p:cNvSpPr/>
          <p:nvPr/>
        </p:nvSpPr>
        <p:spPr>
          <a:xfrm>
            <a:off x="17411476" y="9457960"/>
            <a:ext cx="1489099" cy="1219200"/>
          </a:xfrm>
          <a:custGeom>
            <a:avLst/>
            <a:gdLst/>
            <a:ahLst/>
            <a:cxnLst/>
            <a:rect l="l" t="t" r="r" b="b"/>
            <a:pathLst>
              <a:path w="1489099" h="1219200">
                <a:moveTo>
                  <a:pt x="0" y="0"/>
                </a:moveTo>
                <a:lnTo>
                  <a:pt x="1489099" y="0"/>
                </a:lnTo>
                <a:lnTo>
                  <a:pt x="1489099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-2700000">
            <a:off x="7658246" y="4856032"/>
            <a:ext cx="2969866" cy="2969866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65171" y="0"/>
                  </a:moveTo>
                  <a:lnTo>
                    <a:pt x="747629" y="0"/>
                  </a:lnTo>
                  <a:cubicBezTo>
                    <a:pt x="783622" y="0"/>
                    <a:pt x="812800" y="29178"/>
                    <a:pt x="812800" y="65171"/>
                  </a:cubicBezTo>
                  <a:lnTo>
                    <a:pt x="812800" y="747629"/>
                  </a:lnTo>
                  <a:cubicBezTo>
                    <a:pt x="812800" y="783622"/>
                    <a:pt x="783622" y="812800"/>
                    <a:pt x="747629" y="812800"/>
                  </a:cubicBezTo>
                  <a:lnTo>
                    <a:pt x="65171" y="812800"/>
                  </a:lnTo>
                  <a:cubicBezTo>
                    <a:pt x="29178" y="812800"/>
                    <a:pt x="0" y="783622"/>
                    <a:pt x="0" y="747629"/>
                  </a:cubicBezTo>
                  <a:lnTo>
                    <a:pt x="0" y="65171"/>
                  </a:lnTo>
                  <a:cubicBezTo>
                    <a:pt x="0" y="29178"/>
                    <a:pt x="29178" y="0"/>
                    <a:pt x="6517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 rot="-2700000">
            <a:off x="6973003" y="4057016"/>
            <a:ext cx="1887729" cy="2280513"/>
            <a:chOff x="0" y="0"/>
            <a:chExt cx="812800" cy="981921"/>
          </a:xfrm>
        </p:grpSpPr>
        <p:sp>
          <p:nvSpPr>
            <p:cNvPr id="7" name="Freeform 7"/>
            <p:cNvSpPr/>
            <p:nvPr/>
          </p:nvSpPr>
          <p:spPr>
            <a:xfrm>
              <a:off x="15882" y="0"/>
              <a:ext cx="781037" cy="972833"/>
            </a:xfrm>
            <a:custGeom>
              <a:avLst/>
              <a:gdLst/>
              <a:ahLst/>
              <a:cxnLst/>
              <a:rect l="l" t="t" r="r" b="b"/>
              <a:pathLst>
                <a:path w="781037" h="972833">
                  <a:moveTo>
                    <a:pt x="370218" y="961622"/>
                  </a:moveTo>
                  <a:lnTo>
                    <a:pt x="4418" y="595821"/>
                  </a:lnTo>
                  <a:cubicBezTo>
                    <a:pt x="1017" y="592420"/>
                    <a:pt x="0" y="587306"/>
                    <a:pt x="1840" y="582862"/>
                  </a:cubicBezTo>
                  <a:cubicBezTo>
                    <a:pt x="3681" y="578419"/>
                    <a:pt x="8017" y="575521"/>
                    <a:pt x="12826" y="575521"/>
                  </a:cubicBezTo>
                  <a:lnTo>
                    <a:pt x="158610" y="575521"/>
                  </a:lnTo>
                  <a:cubicBezTo>
                    <a:pt x="166224" y="575521"/>
                    <a:pt x="173526" y="572497"/>
                    <a:pt x="178910" y="567113"/>
                  </a:cubicBezTo>
                  <a:cubicBezTo>
                    <a:pt x="184293" y="561729"/>
                    <a:pt x="187318" y="554427"/>
                    <a:pt x="187318" y="546813"/>
                  </a:cubicBezTo>
                  <a:lnTo>
                    <a:pt x="187318" y="28708"/>
                  </a:lnTo>
                  <a:cubicBezTo>
                    <a:pt x="187318" y="21094"/>
                    <a:pt x="190343" y="13792"/>
                    <a:pt x="195726" y="8408"/>
                  </a:cubicBezTo>
                  <a:cubicBezTo>
                    <a:pt x="201110" y="3025"/>
                    <a:pt x="208412" y="0"/>
                    <a:pt x="216026" y="0"/>
                  </a:cubicBezTo>
                  <a:lnTo>
                    <a:pt x="565010" y="0"/>
                  </a:lnTo>
                  <a:cubicBezTo>
                    <a:pt x="572624" y="0"/>
                    <a:pt x="579926" y="3025"/>
                    <a:pt x="585310" y="8408"/>
                  </a:cubicBezTo>
                  <a:cubicBezTo>
                    <a:pt x="590693" y="13792"/>
                    <a:pt x="593718" y="21094"/>
                    <a:pt x="593718" y="28708"/>
                  </a:cubicBezTo>
                  <a:lnTo>
                    <a:pt x="593718" y="546813"/>
                  </a:lnTo>
                  <a:cubicBezTo>
                    <a:pt x="593718" y="562668"/>
                    <a:pt x="606571" y="575521"/>
                    <a:pt x="622426" y="575521"/>
                  </a:cubicBezTo>
                  <a:lnTo>
                    <a:pt x="768210" y="575521"/>
                  </a:lnTo>
                  <a:cubicBezTo>
                    <a:pt x="773019" y="575521"/>
                    <a:pt x="777355" y="578419"/>
                    <a:pt x="779196" y="582862"/>
                  </a:cubicBezTo>
                  <a:cubicBezTo>
                    <a:pt x="781036" y="587306"/>
                    <a:pt x="780019" y="592420"/>
                    <a:pt x="776618" y="595821"/>
                  </a:cubicBezTo>
                  <a:lnTo>
                    <a:pt x="410818" y="961622"/>
                  </a:lnTo>
                  <a:cubicBezTo>
                    <a:pt x="399607" y="972833"/>
                    <a:pt x="381429" y="972833"/>
                    <a:pt x="370218" y="961622"/>
                  </a:cubicBezTo>
                  <a:close/>
                </a:path>
              </a:pathLst>
            </a:custGeom>
            <a:solidFill>
              <a:srgbClr val="5EA6B2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03200" y="-38100"/>
              <a:ext cx="406400" cy="9184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399"/>
                </a:lnSpc>
                <a:spcBef>
                  <a:spcPct val="0"/>
                </a:spcBef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 rot="8100000">
            <a:off x="9467484" y="6365498"/>
            <a:ext cx="1887729" cy="2280513"/>
            <a:chOff x="0" y="0"/>
            <a:chExt cx="812800" cy="981921"/>
          </a:xfrm>
        </p:grpSpPr>
        <p:sp>
          <p:nvSpPr>
            <p:cNvPr id="10" name="Freeform 10"/>
            <p:cNvSpPr/>
            <p:nvPr/>
          </p:nvSpPr>
          <p:spPr>
            <a:xfrm>
              <a:off x="15882" y="0"/>
              <a:ext cx="781037" cy="972833"/>
            </a:xfrm>
            <a:custGeom>
              <a:avLst/>
              <a:gdLst/>
              <a:ahLst/>
              <a:cxnLst/>
              <a:rect l="l" t="t" r="r" b="b"/>
              <a:pathLst>
                <a:path w="781037" h="972833">
                  <a:moveTo>
                    <a:pt x="370218" y="961622"/>
                  </a:moveTo>
                  <a:lnTo>
                    <a:pt x="4418" y="595821"/>
                  </a:lnTo>
                  <a:cubicBezTo>
                    <a:pt x="1017" y="592420"/>
                    <a:pt x="0" y="587306"/>
                    <a:pt x="1840" y="582862"/>
                  </a:cubicBezTo>
                  <a:cubicBezTo>
                    <a:pt x="3681" y="578419"/>
                    <a:pt x="8017" y="575521"/>
                    <a:pt x="12826" y="575521"/>
                  </a:cubicBezTo>
                  <a:lnTo>
                    <a:pt x="158610" y="575521"/>
                  </a:lnTo>
                  <a:cubicBezTo>
                    <a:pt x="166224" y="575521"/>
                    <a:pt x="173526" y="572497"/>
                    <a:pt x="178910" y="567113"/>
                  </a:cubicBezTo>
                  <a:cubicBezTo>
                    <a:pt x="184293" y="561729"/>
                    <a:pt x="187318" y="554427"/>
                    <a:pt x="187318" y="546813"/>
                  </a:cubicBezTo>
                  <a:lnTo>
                    <a:pt x="187318" y="28708"/>
                  </a:lnTo>
                  <a:cubicBezTo>
                    <a:pt x="187318" y="21094"/>
                    <a:pt x="190343" y="13792"/>
                    <a:pt x="195726" y="8408"/>
                  </a:cubicBezTo>
                  <a:cubicBezTo>
                    <a:pt x="201110" y="3025"/>
                    <a:pt x="208412" y="0"/>
                    <a:pt x="216026" y="0"/>
                  </a:cubicBezTo>
                  <a:lnTo>
                    <a:pt x="565010" y="0"/>
                  </a:lnTo>
                  <a:cubicBezTo>
                    <a:pt x="572624" y="0"/>
                    <a:pt x="579926" y="3025"/>
                    <a:pt x="585310" y="8408"/>
                  </a:cubicBezTo>
                  <a:cubicBezTo>
                    <a:pt x="590693" y="13792"/>
                    <a:pt x="593718" y="21094"/>
                    <a:pt x="593718" y="28708"/>
                  </a:cubicBezTo>
                  <a:lnTo>
                    <a:pt x="593718" y="546813"/>
                  </a:lnTo>
                  <a:cubicBezTo>
                    <a:pt x="593718" y="562668"/>
                    <a:pt x="606571" y="575521"/>
                    <a:pt x="622426" y="575521"/>
                  </a:cubicBezTo>
                  <a:lnTo>
                    <a:pt x="768210" y="575521"/>
                  </a:lnTo>
                  <a:cubicBezTo>
                    <a:pt x="773019" y="575521"/>
                    <a:pt x="777355" y="578419"/>
                    <a:pt x="779196" y="582862"/>
                  </a:cubicBezTo>
                  <a:cubicBezTo>
                    <a:pt x="781036" y="587306"/>
                    <a:pt x="780019" y="592420"/>
                    <a:pt x="776618" y="595821"/>
                  </a:cubicBezTo>
                  <a:lnTo>
                    <a:pt x="410818" y="961622"/>
                  </a:lnTo>
                  <a:cubicBezTo>
                    <a:pt x="399607" y="972833"/>
                    <a:pt x="381429" y="972833"/>
                    <a:pt x="370218" y="961622"/>
                  </a:cubicBezTo>
                  <a:close/>
                </a:path>
              </a:pathLst>
            </a:custGeom>
            <a:solidFill>
              <a:srgbClr val="3A7377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03200" y="-38100"/>
              <a:ext cx="406400" cy="9184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399"/>
                </a:lnSpc>
                <a:spcBef>
                  <a:spcPct val="0"/>
                </a:spcBef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 rot="2700000">
            <a:off x="9467484" y="4116323"/>
            <a:ext cx="1887729" cy="2280513"/>
            <a:chOff x="0" y="0"/>
            <a:chExt cx="812800" cy="981921"/>
          </a:xfrm>
        </p:grpSpPr>
        <p:sp>
          <p:nvSpPr>
            <p:cNvPr id="13" name="Freeform 13"/>
            <p:cNvSpPr/>
            <p:nvPr/>
          </p:nvSpPr>
          <p:spPr>
            <a:xfrm>
              <a:off x="15882" y="0"/>
              <a:ext cx="781037" cy="972833"/>
            </a:xfrm>
            <a:custGeom>
              <a:avLst/>
              <a:gdLst/>
              <a:ahLst/>
              <a:cxnLst/>
              <a:rect l="l" t="t" r="r" b="b"/>
              <a:pathLst>
                <a:path w="781037" h="972833">
                  <a:moveTo>
                    <a:pt x="370218" y="961622"/>
                  </a:moveTo>
                  <a:lnTo>
                    <a:pt x="4418" y="595821"/>
                  </a:lnTo>
                  <a:cubicBezTo>
                    <a:pt x="1017" y="592420"/>
                    <a:pt x="0" y="587306"/>
                    <a:pt x="1840" y="582862"/>
                  </a:cubicBezTo>
                  <a:cubicBezTo>
                    <a:pt x="3681" y="578419"/>
                    <a:pt x="8017" y="575521"/>
                    <a:pt x="12826" y="575521"/>
                  </a:cubicBezTo>
                  <a:lnTo>
                    <a:pt x="158610" y="575521"/>
                  </a:lnTo>
                  <a:cubicBezTo>
                    <a:pt x="166224" y="575521"/>
                    <a:pt x="173526" y="572497"/>
                    <a:pt x="178910" y="567113"/>
                  </a:cubicBezTo>
                  <a:cubicBezTo>
                    <a:pt x="184293" y="561729"/>
                    <a:pt x="187318" y="554427"/>
                    <a:pt x="187318" y="546813"/>
                  </a:cubicBezTo>
                  <a:lnTo>
                    <a:pt x="187318" y="28708"/>
                  </a:lnTo>
                  <a:cubicBezTo>
                    <a:pt x="187318" y="21094"/>
                    <a:pt x="190343" y="13792"/>
                    <a:pt x="195726" y="8408"/>
                  </a:cubicBezTo>
                  <a:cubicBezTo>
                    <a:pt x="201110" y="3025"/>
                    <a:pt x="208412" y="0"/>
                    <a:pt x="216026" y="0"/>
                  </a:cubicBezTo>
                  <a:lnTo>
                    <a:pt x="565010" y="0"/>
                  </a:lnTo>
                  <a:cubicBezTo>
                    <a:pt x="572624" y="0"/>
                    <a:pt x="579926" y="3025"/>
                    <a:pt x="585310" y="8408"/>
                  </a:cubicBezTo>
                  <a:cubicBezTo>
                    <a:pt x="590693" y="13792"/>
                    <a:pt x="593718" y="21094"/>
                    <a:pt x="593718" y="28708"/>
                  </a:cubicBezTo>
                  <a:lnTo>
                    <a:pt x="593718" y="546813"/>
                  </a:lnTo>
                  <a:cubicBezTo>
                    <a:pt x="593718" y="562668"/>
                    <a:pt x="606571" y="575521"/>
                    <a:pt x="622426" y="575521"/>
                  </a:cubicBezTo>
                  <a:lnTo>
                    <a:pt x="768210" y="575521"/>
                  </a:lnTo>
                  <a:cubicBezTo>
                    <a:pt x="773019" y="575521"/>
                    <a:pt x="777355" y="578419"/>
                    <a:pt x="779196" y="582862"/>
                  </a:cubicBezTo>
                  <a:cubicBezTo>
                    <a:pt x="781036" y="587306"/>
                    <a:pt x="780019" y="592420"/>
                    <a:pt x="776618" y="595821"/>
                  </a:cubicBezTo>
                  <a:lnTo>
                    <a:pt x="410818" y="961622"/>
                  </a:lnTo>
                  <a:cubicBezTo>
                    <a:pt x="399607" y="972833"/>
                    <a:pt x="381429" y="972833"/>
                    <a:pt x="370218" y="961622"/>
                  </a:cubicBezTo>
                  <a:close/>
                </a:path>
              </a:pathLst>
            </a:custGeom>
            <a:solidFill>
              <a:srgbClr val="10AD5D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03200" y="-38100"/>
              <a:ext cx="406400" cy="9184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399"/>
                </a:lnSpc>
                <a:spcBef>
                  <a:spcPct val="0"/>
                </a:spcBef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 rot="-8100000">
            <a:off x="6973003" y="6306190"/>
            <a:ext cx="1887729" cy="2280513"/>
            <a:chOff x="0" y="0"/>
            <a:chExt cx="812800" cy="981921"/>
          </a:xfrm>
        </p:grpSpPr>
        <p:sp>
          <p:nvSpPr>
            <p:cNvPr id="16" name="Freeform 16"/>
            <p:cNvSpPr/>
            <p:nvPr/>
          </p:nvSpPr>
          <p:spPr>
            <a:xfrm>
              <a:off x="15882" y="0"/>
              <a:ext cx="781037" cy="972833"/>
            </a:xfrm>
            <a:custGeom>
              <a:avLst/>
              <a:gdLst/>
              <a:ahLst/>
              <a:cxnLst/>
              <a:rect l="l" t="t" r="r" b="b"/>
              <a:pathLst>
                <a:path w="781037" h="972833">
                  <a:moveTo>
                    <a:pt x="370218" y="961622"/>
                  </a:moveTo>
                  <a:lnTo>
                    <a:pt x="4418" y="595821"/>
                  </a:lnTo>
                  <a:cubicBezTo>
                    <a:pt x="1017" y="592420"/>
                    <a:pt x="0" y="587306"/>
                    <a:pt x="1840" y="582862"/>
                  </a:cubicBezTo>
                  <a:cubicBezTo>
                    <a:pt x="3681" y="578419"/>
                    <a:pt x="8017" y="575521"/>
                    <a:pt x="12826" y="575521"/>
                  </a:cubicBezTo>
                  <a:lnTo>
                    <a:pt x="158610" y="575521"/>
                  </a:lnTo>
                  <a:cubicBezTo>
                    <a:pt x="166224" y="575521"/>
                    <a:pt x="173526" y="572497"/>
                    <a:pt x="178910" y="567113"/>
                  </a:cubicBezTo>
                  <a:cubicBezTo>
                    <a:pt x="184293" y="561729"/>
                    <a:pt x="187318" y="554427"/>
                    <a:pt x="187318" y="546813"/>
                  </a:cubicBezTo>
                  <a:lnTo>
                    <a:pt x="187318" y="28708"/>
                  </a:lnTo>
                  <a:cubicBezTo>
                    <a:pt x="187318" y="21094"/>
                    <a:pt x="190343" y="13792"/>
                    <a:pt x="195726" y="8408"/>
                  </a:cubicBezTo>
                  <a:cubicBezTo>
                    <a:pt x="201110" y="3025"/>
                    <a:pt x="208412" y="0"/>
                    <a:pt x="216026" y="0"/>
                  </a:cubicBezTo>
                  <a:lnTo>
                    <a:pt x="565010" y="0"/>
                  </a:lnTo>
                  <a:cubicBezTo>
                    <a:pt x="572624" y="0"/>
                    <a:pt x="579926" y="3025"/>
                    <a:pt x="585310" y="8408"/>
                  </a:cubicBezTo>
                  <a:cubicBezTo>
                    <a:pt x="590693" y="13792"/>
                    <a:pt x="593718" y="21094"/>
                    <a:pt x="593718" y="28708"/>
                  </a:cubicBezTo>
                  <a:lnTo>
                    <a:pt x="593718" y="546813"/>
                  </a:lnTo>
                  <a:cubicBezTo>
                    <a:pt x="593718" y="562668"/>
                    <a:pt x="606571" y="575521"/>
                    <a:pt x="622426" y="575521"/>
                  </a:cubicBezTo>
                  <a:lnTo>
                    <a:pt x="768210" y="575521"/>
                  </a:lnTo>
                  <a:cubicBezTo>
                    <a:pt x="773019" y="575521"/>
                    <a:pt x="777355" y="578419"/>
                    <a:pt x="779196" y="582862"/>
                  </a:cubicBezTo>
                  <a:cubicBezTo>
                    <a:pt x="781036" y="587306"/>
                    <a:pt x="780019" y="592420"/>
                    <a:pt x="776618" y="595821"/>
                  </a:cubicBezTo>
                  <a:lnTo>
                    <a:pt x="410818" y="961622"/>
                  </a:lnTo>
                  <a:cubicBezTo>
                    <a:pt x="399607" y="972833"/>
                    <a:pt x="381429" y="972833"/>
                    <a:pt x="370218" y="961622"/>
                  </a:cubicBezTo>
                  <a:close/>
                </a:path>
              </a:pathLst>
            </a:custGeom>
            <a:solidFill>
              <a:srgbClr val="B9DB5F"/>
            </a:solidFill>
            <a:ln cap="sq">
              <a:noFill/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03200" y="-38100"/>
              <a:ext cx="406400" cy="9184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399"/>
                </a:lnSpc>
                <a:spcBef>
                  <a:spcPct val="0"/>
                </a:spcBef>
              </a:pPr>
              <a:endParaRPr>
                <a:latin typeface="Montserrat" pitchFamily="2" charset="77"/>
              </a:endParaRPr>
            </a:p>
          </p:txBody>
        </p:sp>
      </p:grpSp>
      <p:sp>
        <p:nvSpPr>
          <p:cNvPr id="18" name="Freeform 18"/>
          <p:cNvSpPr/>
          <p:nvPr/>
        </p:nvSpPr>
        <p:spPr>
          <a:xfrm>
            <a:off x="7971743" y="5197272"/>
            <a:ext cx="576429" cy="576429"/>
          </a:xfrm>
          <a:custGeom>
            <a:avLst/>
            <a:gdLst/>
            <a:ahLst/>
            <a:cxnLst/>
            <a:rect l="l" t="t" r="r" b="b"/>
            <a:pathLst>
              <a:path w="576429" h="576429">
                <a:moveTo>
                  <a:pt x="0" y="0"/>
                </a:moveTo>
                <a:lnTo>
                  <a:pt x="576430" y="0"/>
                </a:lnTo>
                <a:lnTo>
                  <a:pt x="576430" y="576429"/>
                </a:lnTo>
                <a:lnTo>
                  <a:pt x="0" y="5764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7967817" y="6845662"/>
            <a:ext cx="562408" cy="542723"/>
          </a:xfrm>
          <a:custGeom>
            <a:avLst/>
            <a:gdLst/>
            <a:ahLst/>
            <a:cxnLst/>
            <a:rect l="l" t="t" r="r" b="b"/>
            <a:pathLst>
              <a:path w="562408" h="542723">
                <a:moveTo>
                  <a:pt x="0" y="0"/>
                </a:moveTo>
                <a:lnTo>
                  <a:pt x="562408" y="0"/>
                </a:lnTo>
                <a:lnTo>
                  <a:pt x="562408" y="542724"/>
                </a:lnTo>
                <a:lnTo>
                  <a:pt x="0" y="5427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9838632" y="5281098"/>
            <a:ext cx="516124" cy="516124"/>
          </a:xfrm>
          <a:custGeom>
            <a:avLst/>
            <a:gdLst/>
            <a:ahLst/>
            <a:cxnLst/>
            <a:rect l="l" t="t" r="r" b="b"/>
            <a:pathLst>
              <a:path w="516124" h="516124">
                <a:moveTo>
                  <a:pt x="0" y="0"/>
                </a:moveTo>
                <a:lnTo>
                  <a:pt x="516124" y="0"/>
                </a:lnTo>
                <a:lnTo>
                  <a:pt x="516124" y="516124"/>
                </a:lnTo>
                <a:lnTo>
                  <a:pt x="0" y="51612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9863733" y="6803862"/>
            <a:ext cx="465921" cy="725170"/>
          </a:xfrm>
          <a:custGeom>
            <a:avLst/>
            <a:gdLst/>
            <a:ahLst/>
            <a:cxnLst/>
            <a:rect l="l" t="t" r="r" b="b"/>
            <a:pathLst>
              <a:path w="465921" h="725170">
                <a:moveTo>
                  <a:pt x="0" y="0"/>
                </a:moveTo>
                <a:lnTo>
                  <a:pt x="465922" y="0"/>
                </a:lnTo>
                <a:lnTo>
                  <a:pt x="465922" y="725170"/>
                </a:lnTo>
                <a:lnTo>
                  <a:pt x="0" y="72517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3541977" y="1028700"/>
            <a:ext cx="11204046" cy="796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6480"/>
              </a:lnSpc>
              <a:spcBef>
                <a:spcPct val="0"/>
              </a:spcBef>
            </a:pPr>
            <a:r>
              <a:rPr lang="en-US" altLang="zh-CN" sz="5400" b="1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Tech Pillars</a:t>
            </a:r>
            <a:endParaRPr lang="en-US" sz="5400" b="1" u="none" strike="noStrike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23" name="Freeform 23"/>
          <p:cNvSpPr/>
          <p:nvPr/>
        </p:nvSpPr>
        <p:spPr>
          <a:xfrm rot="163894">
            <a:off x="8857905" y="1608076"/>
            <a:ext cx="3746027" cy="1376665"/>
          </a:xfrm>
          <a:custGeom>
            <a:avLst/>
            <a:gdLst/>
            <a:ahLst/>
            <a:cxnLst/>
            <a:rect l="l" t="t" r="r" b="b"/>
            <a:pathLst>
              <a:path w="3746027" h="1376665">
                <a:moveTo>
                  <a:pt x="0" y="0"/>
                </a:moveTo>
                <a:lnTo>
                  <a:pt x="3746027" y="0"/>
                </a:lnTo>
                <a:lnTo>
                  <a:pt x="3746027" y="1376665"/>
                </a:lnTo>
                <a:lnTo>
                  <a:pt x="0" y="137666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-1818304" y="-321971"/>
            <a:ext cx="3043825" cy="1137630"/>
          </a:xfrm>
          <a:custGeom>
            <a:avLst/>
            <a:gdLst/>
            <a:ahLst/>
            <a:cxnLst/>
            <a:rect l="l" t="t" r="r" b="b"/>
            <a:pathLst>
              <a:path w="3043825" h="1137630">
                <a:moveTo>
                  <a:pt x="0" y="0"/>
                </a:moveTo>
                <a:lnTo>
                  <a:pt x="3043825" y="0"/>
                </a:lnTo>
                <a:lnTo>
                  <a:pt x="3043825" y="1137629"/>
                </a:lnTo>
                <a:lnTo>
                  <a:pt x="0" y="113762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2287215" y="4008545"/>
            <a:ext cx="3374697" cy="422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599"/>
              </a:lnSpc>
            </a:pPr>
            <a:r>
              <a:rPr lang="en-US" altLang="zh-CN" sz="2399" b="1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AI Govern.</a:t>
            </a:r>
            <a:endParaRPr lang="en-US" sz="2399" b="1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2287215" y="4676195"/>
            <a:ext cx="3374697" cy="28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altLang="zh-CN" sz="1599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Replacing traditional management with AI-driven decision making processes.</a:t>
            </a:r>
            <a:endParaRPr lang="en-US" sz="1599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2287215" y="7205182"/>
            <a:ext cx="3374697" cy="422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599"/>
              </a:lnSpc>
            </a:pPr>
            <a:r>
              <a:rPr lang="en-US" altLang="zh-CN" sz="2399" b="1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Lean Team</a:t>
            </a:r>
            <a:endParaRPr lang="en-US" sz="2399" b="1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2287215" y="7872832"/>
            <a:ext cx="3374697" cy="28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altLang="zh-CN" sz="1599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Small headcount, maximized capability through leveraging artificial intelligence.</a:t>
            </a:r>
            <a:endParaRPr lang="en-US" sz="1599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3884603" y="4008545"/>
            <a:ext cx="3374697" cy="422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599"/>
              </a:lnSpc>
            </a:pPr>
            <a:r>
              <a:rPr lang="en-US" altLang="zh-CN" sz="2399" b="1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AI-Native</a:t>
            </a:r>
            <a:endParaRPr lang="en-US" sz="2399" b="1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3884603" y="4676195"/>
            <a:ext cx="3374697" cy="28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altLang="zh-CN" sz="1599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Cultivating next-generation developers who can effectively harness AI tools.</a:t>
            </a:r>
            <a:endParaRPr lang="en-US" sz="1599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3882960" y="7205182"/>
            <a:ext cx="3374697" cy="422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599"/>
              </a:lnSpc>
            </a:pPr>
            <a:r>
              <a:rPr lang="en-US" altLang="zh-CN" sz="2399" b="1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AI Integ.</a:t>
            </a:r>
            <a:endParaRPr lang="en-US" sz="2399" b="1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13882960" y="7872832"/>
            <a:ext cx="3374697" cy="28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altLang="zh-CN" sz="1599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AI embedded in every aspect from software development to company management.</a:t>
            </a:r>
            <a:endParaRPr lang="en-US" sz="1599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1447800" y="4075220"/>
            <a:ext cx="600015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4080"/>
              </a:lnSpc>
              <a:spcBef>
                <a:spcPct val="0"/>
              </a:spcBef>
            </a:pPr>
            <a:r>
              <a:rPr lang="en-US" sz="3400" b="1" u="none" strike="noStrike">
                <a:solidFill>
                  <a:srgbClr val="5EA6B2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01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3012666" y="4075220"/>
            <a:ext cx="632169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4080"/>
              </a:lnSpc>
              <a:spcBef>
                <a:spcPct val="0"/>
              </a:spcBef>
            </a:pPr>
            <a:r>
              <a:rPr lang="en-US" sz="3400" b="1" u="none" strike="noStrike">
                <a:solidFill>
                  <a:srgbClr val="10AD5D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03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447800" y="7271857"/>
            <a:ext cx="600015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4080"/>
              </a:lnSpc>
              <a:spcBef>
                <a:spcPct val="0"/>
              </a:spcBef>
            </a:pPr>
            <a:r>
              <a:rPr lang="en-US" sz="3400" b="1" u="none" strike="noStrike">
                <a:solidFill>
                  <a:srgbClr val="B9DB5F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02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3012666" y="7271857"/>
            <a:ext cx="632169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4080"/>
              </a:lnSpc>
              <a:spcBef>
                <a:spcPct val="0"/>
              </a:spcBef>
            </a:pPr>
            <a:r>
              <a:rPr lang="en-US" sz="3400" b="1" u="none" strike="noStrike">
                <a:solidFill>
                  <a:srgbClr val="3B748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04</a:t>
            </a:r>
          </a:p>
        </p:txBody>
      </p:sp>
      <p:sp>
        <p:nvSpPr>
          <p:cNvPr id="37" name="Freeform 37"/>
          <p:cNvSpPr/>
          <p:nvPr/>
        </p:nvSpPr>
        <p:spPr>
          <a:xfrm flipH="1">
            <a:off x="-5405648" y="9457960"/>
            <a:ext cx="7315200" cy="3425952"/>
          </a:xfrm>
          <a:custGeom>
            <a:avLst/>
            <a:gdLst/>
            <a:ahLst/>
            <a:cxnLst/>
            <a:rect l="l" t="t" r="r" b="b"/>
            <a:pathLst>
              <a:path w="7315200" h="3425952">
                <a:moveTo>
                  <a:pt x="7315200" y="0"/>
                </a:moveTo>
                <a:lnTo>
                  <a:pt x="0" y="0"/>
                </a:lnTo>
                <a:lnTo>
                  <a:pt x="0" y="3425952"/>
                </a:lnTo>
                <a:lnTo>
                  <a:pt x="7315200" y="3425952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38" name="Freeform 38"/>
          <p:cNvSpPr/>
          <p:nvPr/>
        </p:nvSpPr>
        <p:spPr>
          <a:xfrm>
            <a:off x="17411476" y="9457960"/>
            <a:ext cx="1489099" cy="1219200"/>
          </a:xfrm>
          <a:custGeom>
            <a:avLst/>
            <a:gdLst/>
            <a:ahLst/>
            <a:cxnLst/>
            <a:rect l="l" t="t" r="r" b="b"/>
            <a:pathLst>
              <a:path w="1489099" h="1219200">
                <a:moveTo>
                  <a:pt x="0" y="0"/>
                </a:moveTo>
                <a:lnTo>
                  <a:pt x="1489099" y="0"/>
                </a:lnTo>
                <a:lnTo>
                  <a:pt x="1489099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  <p:sp>
        <p:nvSpPr>
          <p:cNvPr id="39" name="Freeform 39"/>
          <p:cNvSpPr/>
          <p:nvPr/>
        </p:nvSpPr>
        <p:spPr>
          <a:xfrm flipV="1">
            <a:off x="16165514" y="-2634240"/>
            <a:ext cx="7315200" cy="3425952"/>
          </a:xfrm>
          <a:custGeom>
            <a:avLst/>
            <a:gdLst/>
            <a:ahLst/>
            <a:cxnLst/>
            <a:rect l="l" t="t" r="r" b="b"/>
            <a:pathLst>
              <a:path w="7315200" h="3425952">
                <a:moveTo>
                  <a:pt x="0" y="3425952"/>
                </a:moveTo>
                <a:lnTo>
                  <a:pt x="7315200" y="3425952"/>
                </a:lnTo>
                <a:lnTo>
                  <a:pt x="7315200" y="0"/>
                </a:lnTo>
                <a:lnTo>
                  <a:pt x="0" y="0"/>
                </a:lnTo>
                <a:lnTo>
                  <a:pt x="0" y="3425952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400000">
            <a:off x="8163570" y="5343804"/>
            <a:ext cx="1971220" cy="101287"/>
          </a:xfrm>
          <a:custGeom>
            <a:avLst/>
            <a:gdLst/>
            <a:ahLst/>
            <a:cxnLst/>
            <a:rect l="l" t="t" r="r" b="b"/>
            <a:pathLst>
              <a:path w="1971220" h="101287">
                <a:moveTo>
                  <a:pt x="0" y="0"/>
                </a:moveTo>
                <a:lnTo>
                  <a:pt x="1971221" y="0"/>
                </a:lnTo>
                <a:lnTo>
                  <a:pt x="1971221" y="101287"/>
                </a:lnTo>
                <a:lnTo>
                  <a:pt x="0" y="1012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24564"/>
            </a:stretch>
          </a:blipFill>
        </p:spPr>
      </p:sp>
      <p:sp>
        <p:nvSpPr>
          <p:cNvPr id="4" name="Freeform 4"/>
          <p:cNvSpPr/>
          <p:nvPr/>
        </p:nvSpPr>
        <p:spPr>
          <a:xfrm rot="-5400000">
            <a:off x="8163570" y="7331639"/>
            <a:ext cx="1971220" cy="101287"/>
          </a:xfrm>
          <a:custGeom>
            <a:avLst/>
            <a:gdLst/>
            <a:ahLst/>
            <a:cxnLst/>
            <a:rect l="l" t="t" r="r" b="b"/>
            <a:pathLst>
              <a:path w="1971220" h="101287">
                <a:moveTo>
                  <a:pt x="0" y="0"/>
                </a:moveTo>
                <a:lnTo>
                  <a:pt x="1971221" y="0"/>
                </a:lnTo>
                <a:lnTo>
                  <a:pt x="1971221" y="101287"/>
                </a:lnTo>
                <a:lnTo>
                  <a:pt x="0" y="1012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24564"/>
            </a:stretch>
          </a:blipFill>
        </p:spPr>
      </p:sp>
      <p:sp>
        <p:nvSpPr>
          <p:cNvPr id="5" name="Freeform 5"/>
          <p:cNvSpPr/>
          <p:nvPr/>
        </p:nvSpPr>
        <p:spPr>
          <a:xfrm rot="-10800000">
            <a:off x="8198799" y="5654585"/>
            <a:ext cx="1069706" cy="103209"/>
          </a:xfrm>
          <a:custGeom>
            <a:avLst/>
            <a:gdLst/>
            <a:ahLst/>
            <a:cxnLst/>
            <a:rect l="l" t="t" r="r" b="b"/>
            <a:pathLst>
              <a:path w="1069706" h="103209">
                <a:moveTo>
                  <a:pt x="0" y="0"/>
                </a:moveTo>
                <a:lnTo>
                  <a:pt x="1069706" y="0"/>
                </a:lnTo>
                <a:lnTo>
                  <a:pt x="1069706" y="103209"/>
                </a:lnTo>
                <a:lnTo>
                  <a:pt x="0" y="1032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7774" r="-46125"/>
            </a:stretch>
          </a:blipFill>
        </p:spPr>
      </p:sp>
      <p:sp>
        <p:nvSpPr>
          <p:cNvPr id="6" name="Freeform 6"/>
          <p:cNvSpPr/>
          <p:nvPr/>
        </p:nvSpPr>
        <p:spPr>
          <a:xfrm rot="-10800000">
            <a:off x="9136390" y="4411052"/>
            <a:ext cx="1069706" cy="103209"/>
          </a:xfrm>
          <a:custGeom>
            <a:avLst/>
            <a:gdLst/>
            <a:ahLst/>
            <a:cxnLst/>
            <a:rect l="l" t="t" r="r" b="b"/>
            <a:pathLst>
              <a:path w="1069706" h="103209">
                <a:moveTo>
                  <a:pt x="0" y="0"/>
                </a:moveTo>
                <a:lnTo>
                  <a:pt x="1069706" y="0"/>
                </a:lnTo>
                <a:lnTo>
                  <a:pt x="1069706" y="103209"/>
                </a:lnTo>
                <a:lnTo>
                  <a:pt x="0" y="1032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7774" r="-46125"/>
            </a:stretch>
          </a:blipFill>
        </p:spPr>
      </p:sp>
      <p:sp>
        <p:nvSpPr>
          <p:cNvPr id="7" name="Freeform 7"/>
          <p:cNvSpPr/>
          <p:nvPr/>
        </p:nvSpPr>
        <p:spPr>
          <a:xfrm rot="-5400000">
            <a:off x="8163570" y="9319474"/>
            <a:ext cx="1971220" cy="101287"/>
          </a:xfrm>
          <a:custGeom>
            <a:avLst/>
            <a:gdLst/>
            <a:ahLst/>
            <a:cxnLst/>
            <a:rect l="l" t="t" r="r" b="b"/>
            <a:pathLst>
              <a:path w="1971220" h="101287">
                <a:moveTo>
                  <a:pt x="0" y="0"/>
                </a:moveTo>
                <a:lnTo>
                  <a:pt x="1971221" y="0"/>
                </a:lnTo>
                <a:lnTo>
                  <a:pt x="1971221" y="101287"/>
                </a:lnTo>
                <a:lnTo>
                  <a:pt x="0" y="1012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24564"/>
            </a:stretch>
          </a:blipFill>
        </p:spPr>
      </p:sp>
      <p:sp>
        <p:nvSpPr>
          <p:cNvPr id="8" name="Freeform 8"/>
          <p:cNvSpPr/>
          <p:nvPr/>
        </p:nvSpPr>
        <p:spPr>
          <a:xfrm rot="-10800000">
            <a:off x="8198799" y="8362643"/>
            <a:ext cx="1069706" cy="103209"/>
          </a:xfrm>
          <a:custGeom>
            <a:avLst/>
            <a:gdLst/>
            <a:ahLst/>
            <a:cxnLst/>
            <a:rect l="l" t="t" r="r" b="b"/>
            <a:pathLst>
              <a:path w="1069706" h="103209">
                <a:moveTo>
                  <a:pt x="0" y="0"/>
                </a:moveTo>
                <a:lnTo>
                  <a:pt x="1069706" y="0"/>
                </a:lnTo>
                <a:lnTo>
                  <a:pt x="1069706" y="103209"/>
                </a:lnTo>
                <a:lnTo>
                  <a:pt x="0" y="1032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7774" r="-46125"/>
            </a:stretch>
          </a:blipFill>
        </p:spPr>
      </p:sp>
      <p:sp>
        <p:nvSpPr>
          <p:cNvPr id="9" name="Freeform 9"/>
          <p:cNvSpPr/>
          <p:nvPr/>
        </p:nvSpPr>
        <p:spPr>
          <a:xfrm rot="-10800000">
            <a:off x="9136390" y="7119111"/>
            <a:ext cx="1069706" cy="103209"/>
          </a:xfrm>
          <a:custGeom>
            <a:avLst/>
            <a:gdLst/>
            <a:ahLst/>
            <a:cxnLst/>
            <a:rect l="l" t="t" r="r" b="b"/>
            <a:pathLst>
              <a:path w="1069706" h="103209">
                <a:moveTo>
                  <a:pt x="0" y="0"/>
                </a:moveTo>
                <a:lnTo>
                  <a:pt x="1069706" y="0"/>
                </a:lnTo>
                <a:lnTo>
                  <a:pt x="1069706" y="103209"/>
                </a:lnTo>
                <a:lnTo>
                  <a:pt x="0" y="1032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7774" r="-46125"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8942625" y="6994752"/>
            <a:ext cx="387530" cy="387530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A7377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 rot="-10800000">
            <a:off x="8955415" y="8220483"/>
            <a:ext cx="387530" cy="387530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9DB5F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942625" y="4258860"/>
            <a:ext cx="387530" cy="387530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AD5D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 rot="-10800000">
            <a:off x="8955415" y="5475065"/>
            <a:ext cx="387530" cy="387530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EA6B2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sp>
        <p:nvSpPr>
          <p:cNvPr id="22" name="Freeform 22"/>
          <p:cNvSpPr/>
          <p:nvPr/>
        </p:nvSpPr>
        <p:spPr>
          <a:xfrm>
            <a:off x="6568651" y="4859025"/>
            <a:ext cx="1593290" cy="1619609"/>
          </a:xfrm>
          <a:custGeom>
            <a:avLst/>
            <a:gdLst/>
            <a:ahLst/>
            <a:cxnLst/>
            <a:rect l="l" t="t" r="r" b="b"/>
            <a:pathLst>
              <a:path w="1593290" h="1619609">
                <a:moveTo>
                  <a:pt x="0" y="0"/>
                </a:moveTo>
                <a:lnTo>
                  <a:pt x="1593291" y="0"/>
                </a:lnTo>
                <a:lnTo>
                  <a:pt x="1593291" y="1619610"/>
                </a:lnTo>
                <a:lnTo>
                  <a:pt x="0" y="16196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 flipH="1">
            <a:off x="10141233" y="3642820"/>
            <a:ext cx="1593290" cy="1619609"/>
          </a:xfrm>
          <a:custGeom>
            <a:avLst/>
            <a:gdLst/>
            <a:ahLst/>
            <a:cxnLst/>
            <a:rect l="l" t="t" r="r" b="b"/>
            <a:pathLst>
              <a:path w="1593290" h="1619609">
                <a:moveTo>
                  <a:pt x="1593291" y="0"/>
                </a:moveTo>
                <a:lnTo>
                  <a:pt x="0" y="0"/>
                </a:lnTo>
                <a:lnTo>
                  <a:pt x="0" y="1619609"/>
                </a:lnTo>
                <a:lnTo>
                  <a:pt x="1593291" y="1619609"/>
                </a:lnTo>
                <a:lnTo>
                  <a:pt x="1593291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4" name="Freeform 24"/>
          <p:cNvSpPr/>
          <p:nvPr/>
        </p:nvSpPr>
        <p:spPr>
          <a:xfrm>
            <a:off x="6568651" y="7552839"/>
            <a:ext cx="1593290" cy="1619609"/>
          </a:xfrm>
          <a:custGeom>
            <a:avLst/>
            <a:gdLst/>
            <a:ahLst/>
            <a:cxnLst/>
            <a:rect l="l" t="t" r="r" b="b"/>
            <a:pathLst>
              <a:path w="1593290" h="1619609">
                <a:moveTo>
                  <a:pt x="0" y="0"/>
                </a:moveTo>
                <a:lnTo>
                  <a:pt x="1593291" y="0"/>
                </a:lnTo>
                <a:lnTo>
                  <a:pt x="1593291" y="1619609"/>
                </a:lnTo>
                <a:lnTo>
                  <a:pt x="0" y="161960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5" name="Freeform 25"/>
          <p:cNvSpPr/>
          <p:nvPr/>
        </p:nvSpPr>
        <p:spPr>
          <a:xfrm flipH="1">
            <a:off x="10141233" y="6360911"/>
            <a:ext cx="1593290" cy="1619609"/>
          </a:xfrm>
          <a:custGeom>
            <a:avLst/>
            <a:gdLst/>
            <a:ahLst/>
            <a:cxnLst/>
            <a:rect l="l" t="t" r="r" b="b"/>
            <a:pathLst>
              <a:path w="1593290" h="1619609">
                <a:moveTo>
                  <a:pt x="1593291" y="0"/>
                </a:moveTo>
                <a:lnTo>
                  <a:pt x="0" y="0"/>
                </a:lnTo>
                <a:lnTo>
                  <a:pt x="0" y="1619609"/>
                </a:lnTo>
                <a:lnTo>
                  <a:pt x="1593291" y="1619609"/>
                </a:lnTo>
                <a:lnTo>
                  <a:pt x="1593291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6" name="Freeform 26"/>
          <p:cNvSpPr/>
          <p:nvPr/>
        </p:nvSpPr>
        <p:spPr>
          <a:xfrm>
            <a:off x="7041810" y="5290555"/>
            <a:ext cx="646974" cy="646974"/>
          </a:xfrm>
          <a:custGeom>
            <a:avLst/>
            <a:gdLst/>
            <a:ahLst/>
            <a:cxnLst/>
            <a:rect l="l" t="t" r="r" b="b"/>
            <a:pathLst>
              <a:path w="646974" h="646974">
                <a:moveTo>
                  <a:pt x="0" y="0"/>
                </a:moveTo>
                <a:lnTo>
                  <a:pt x="646974" y="0"/>
                </a:lnTo>
                <a:lnTo>
                  <a:pt x="646974" y="646974"/>
                </a:lnTo>
                <a:lnTo>
                  <a:pt x="0" y="64697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7086268" y="8028996"/>
            <a:ext cx="649089" cy="626371"/>
          </a:xfrm>
          <a:custGeom>
            <a:avLst/>
            <a:gdLst/>
            <a:ahLst/>
            <a:cxnLst/>
            <a:rect l="l" t="t" r="r" b="b"/>
            <a:pathLst>
              <a:path w="649089" h="626371">
                <a:moveTo>
                  <a:pt x="0" y="0"/>
                </a:moveTo>
                <a:lnTo>
                  <a:pt x="649089" y="0"/>
                </a:lnTo>
                <a:lnTo>
                  <a:pt x="649089" y="626371"/>
                </a:lnTo>
                <a:lnTo>
                  <a:pt x="0" y="62637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10654321" y="4179100"/>
            <a:ext cx="567114" cy="567114"/>
          </a:xfrm>
          <a:custGeom>
            <a:avLst/>
            <a:gdLst/>
            <a:ahLst/>
            <a:cxnLst/>
            <a:rect l="l" t="t" r="r" b="b"/>
            <a:pathLst>
              <a:path w="567114" h="567114">
                <a:moveTo>
                  <a:pt x="0" y="0"/>
                </a:moveTo>
                <a:lnTo>
                  <a:pt x="567115" y="0"/>
                </a:lnTo>
                <a:lnTo>
                  <a:pt x="567115" y="567114"/>
                </a:lnTo>
                <a:lnTo>
                  <a:pt x="0" y="567114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10694251" y="6809331"/>
            <a:ext cx="487255" cy="758373"/>
          </a:xfrm>
          <a:custGeom>
            <a:avLst/>
            <a:gdLst/>
            <a:ahLst/>
            <a:cxnLst/>
            <a:rect l="l" t="t" r="r" b="b"/>
            <a:pathLst>
              <a:path w="487255" h="758373">
                <a:moveTo>
                  <a:pt x="0" y="0"/>
                </a:moveTo>
                <a:lnTo>
                  <a:pt x="487255" y="0"/>
                </a:lnTo>
                <a:lnTo>
                  <a:pt x="487255" y="758373"/>
                </a:lnTo>
                <a:lnTo>
                  <a:pt x="0" y="758373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1323844" y="4911317"/>
            <a:ext cx="513741" cy="483130"/>
          </a:xfrm>
          <a:custGeom>
            <a:avLst/>
            <a:gdLst/>
            <a:ahLst/>
            <a:cxnLst/>
            <a:rect l="l" t="t" r="r" b="b"/>
            <a:pathLst>
              <a:path w="513741" h="483130">
                <a:moveTo>
                  <a:pt x="0" y="0"/>
                </a:moveTo>
                <a:lnTo>
                  <a:pt x="513741" y="0"/>
                </a:lnTo>
                <a:lnTo>
                  <a:pt x="513741" y="483130"/>
                </a:lnTo>
                <a:lnTo>
                  <a:pt x="0" y="483130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1" name="Freeform 31"/>
          <p:cNvSpPr/>
          <p:nvPr/>
        </p:nvSpPr>
        <p:spPr>
          <a:xfrm>
            <a:off x="12695899" y="4911317"/>
            <a:ext cx="513741" cy="483130"/>
          </a:xfrm>
          <a:custGeom>
            <a:avLst/>
            <a:gdLst/>
            <a:ahLst/>
            <a:cxnLst/>
            <a:rect l="l" t="t" r="r" b="b"/>
            <a:pathLst>
              <a:path w="513741" h="483130">
                <a:moveTo>
                  <a:pt x="0" y="0"/>
                </a:moveTo>
                <a:lnTo>
                  <a:pt x="513741" y="0"/>
                </a:lnTo>
                <a:lnTo>
                  <a:pt x="513741" y="483130"/>
                </a:lnTo>
                <a:lnTo>
                  <a:pt x="0" y="483130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2" name="Freeform 32"/>
          <p:cNvSpPr/>
          <p:nvPr/>
        </p:nvSpPr>
        <p:spPr>
          <a:xfrm>
            <a:off x="1323844" y="7654517"/>
            <a:ext cx="513741" cy="483130"/>
          </a:xfrm>
          <a:custGeom>
            <a:avLst/>
            <a:gdLst/>
            <a:ahLst/>
            <a:cxnLst/>
            <a:rect l="l" t="t" r="r" b="b"/>
            <a:pathLst>
              <a:path w="513741" h="483130">
                <a:moveTo>
                  <a:pt x="0" y="0"/>
                </a:moveTo>
                <a:lnTo>
                  <a:pt x="513741" y="0"/>
                </a:lnTo>
                <a:lnTo>
                  <a:pt x="513741" y="483130"/>
                </a:lnTo>
                <a:lnTo>
                  <a:pt x="0" y="483130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3" name="Freeform 33"/>
          <p:cNvSpPr/>
          <p:nvPr/>
        </p:nvSpPr>
        <p:spPr>
          <a:xfrm>
            <a:off x="12695899" y="7654517"/>
            <a:ext cx="513741" cy="483130"/>
          </a:xfrm>
          <a:custGeom>
            <a:avLst/>
            <a:gdLst/>
            <a:ahLst/>
            <a:cxnLst/>
            <a:rect l="l" t="t" r="r" b="b"/>
            <a:pathLst>
              <a:path w="513741" h="483130">
                <a:moveTo>
                  <a:pt x="0" y="0"/>
                </a:moveTo>
                <a:lnTo>
                  <a:pt x="513741" y="0"/>
                </a:lnTo>
                <a:lnTo>
                  <a:pt x="513741" y="483130"/>
                </a:lnTo>
                <a:lnTo>
                  <a:pt x="0" y="483130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4" name="Freeform 34"/>
          <p:cNvSpPr/>
          <p:nvPr/>
        </p:nvSpPr>
        <p:spPr>
          <a:xfrm>
            <a:off x="-156074" y="-374783"/>
            <a:ext cx="1184774" cy="1403483"/>
          </a:xfrm>
          <a:custGeom>
            <a:avLst/>
            <a:gdLst/>
            <a:ahLst/>
            <a:cxnLst/>
            <a:rect l="l" t="t" r="r" b="b"/>
            <a:pathLst>
              <a:path w="1184774" h="1403483">
                <a:moveTo>
                  <a:pt x="0" y="0"/>
                </a:moveTo>
                <a:lnTo>
                  <a:pt x="1184774" y="0"/>
                </a:lnTo>
                <a:lnTo>
                  <a:pt x="1184774" y="1403483"/>
                </a:lnTo>
                <a:lnTo>
                  <a:pt x="0" y="1403483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a:blipFill>
        </p:spPr>
      </p:sp>
      <p:sp>
        <p:nvSpPr>
          <p:cNvPr id="35" name="Freeform 35"/>
          <p:cNvSpPr/>
          <p:nvPr/>
        </p:nvSpPr>
        <p:spPr>
          <a:xfrm>
            <a:off x="17411476" y="9457960"/>
            <a:ext cx="1489099" cy="1219200"/>
          </a:xfrm>
          <a:custGeom>
            <a:avLst/>
            <a:gdLst/>
            <a:ahLst/>
            <a:cxnLst/>
            <a:rect l="l" t="t" r="r" b="b"/>
            <a:pathLst>
              <a:path w="1489099" h="1219200">
                <a:moveTo>
                  <a:pt x="0" y="0"/>
                </a:moveTo>
                <a:lnTo>
                  <a:pt x="1489099" y="0"/>
                </a:lnTo>
                <a:lnTo>
                  <a:pt x="1489099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a:blipFill>
        </p:spPr>
      </p:sp>
      <p:sp>
        <p:nvSpPr>
          <p:cNvPr id="36" name="TextBox 36"/>
          <p:cNvSpPr txBox="1"/>
          <p:nvPr/>
        </p:nvSpPr>
        <p:spPr>
          <a:xfrm>
            <a:off x="2077665" y="7578317"/>
            <a:ext cx="4231615" cy="4222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599"/>
              </a:lnSpc>
            </a:pPr>
            <a:r>
              <a:rPr lang="en-US" altLang="zh-CN" sz="2399" b="1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Collab</a:t>
            </a:r>
            <a:endParaRPr lang="en-US" sz="2399" b="1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2077665" y="8171540"/>
            <a:ext cx="3374697" cy="28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altLang="zh-CN" sz="1599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Emphasizing mutual support and fostering strong teamwork dynamics.</a:t>
            </a:r>
            <a:endParaRPr lang="en-US" sz="1599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13446785" y="7640187"/>
            <a:ext cx="4231615" cy="4222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599"/>
              </a:lnSpc>
            </a:pPr>
            <a:r>
              <a:rPr lang="en-US" altLang="zh-CN" sz="2399" b="1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Family</a:t>
            </a:r>
            <a:endParaRPr lang="en-US" sz="2399" b="1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13446785" y="8204835"/>
            <a:ext cx="3374697" cy="28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altLang="zh-CN" sz="1599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Building a close-knit environment where colleagues are treated like family members.</a:t>
            </a:r>
            <a:endParaRPr lang="en-US" sz="1599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2077665" y="4835117"/>
            <a:ext cx="4231615" cy="4222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599"/>
              </a:lnSpc>
            </a:pPr>
            <a:r>
              <a:rPr lang="en-US" altLang="zh-CN" sz="2399" b="1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Comm.</a:t>
            </a:r>
            <a:endParaRPr lang="en-US" sz="2399" b="1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2077665" y="5428340"/>
            <a:ext cx="3374697" cy="28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altLang="zh-CN" sz="1599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Direct, honest, and transparent information flow across all levels.</a:t>
            </a:r>
            <a:endParaRPr lang="en-US" sz="1599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13446785" y="4896987"/>
            <a:ext cx="4231615" cy="4222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599"/>
              </a:lnSpc>
            </a:pPr>
            <a:r>
              <a:rPr lang="en-US" altLang="zh-CN" sz="2399" b="1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Win-Win</a:t>
            </a:r>
            <a:endParaRPr lang="en-US" sz="2399" b="1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13446785" y="5461635"/>
            <a:ext cx="3374697" cy="28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altLang="zh-CN" sz="1599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Fair sharing of results and actively co-creating value for all stakeholders.</a:t>
            </a:r>
            <a:endParaRPr lang="en-US" sz="1599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3541977" y="1028700"/>
            <a:ext cx="11204046" cy="796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6480"/>
              </a:lnSpc>
              <a:spcBef>
                <a:spcPct val="0"/>
              </a:spcBef>
            </a:pPr>
            <a:r>
              <a:rPr lang="en-US" altLang="zh-CN" sz="5400" b="1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Core Values</a:t>
            </a:r>
            <a:endParaRPr lang="en-US" sz="5400" b="1" u="none" strike="noStrike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45" name="Freeform 45"/>
          <p:cNvSpPr/>
          <p:nvPr/>
        </p:nvSpPr>
        <p:spPr>
          <a:xfrm flipH="1">
            <a:off x="-5405648" y="9457960"/>
            <a:ext cx="7315200" cy="3425952"/>
          </a:xfrm>
          <a:custGeom>
            <a:avLst/>
            <a:gdLst/>
            <a:ahLst/>
            <a:cxnLst/>
            <a:rect l="l" t="t" r="r" b="b"/>
            <a:pathLst>
              <a:path w="7315200" h="3425952">
                <a:moveTo>
                  <a:pt x="7315200" y="0"/>
                </a:moveTo>
                <a:lnTo>
                  <a:pt x="0" y="0"/>
                </a:lnTo>
                <a:lnTo>
                  <a:pt x="0" y="3425952"/>
                </a:lnTo>
                <a:lnTo>
                  <a:pt x="7315200" y="3425952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a:blipFill>
        </p:spPr>
      </p:sp>
      <p:sp>
        <p:nvSpPr>
          <p:cNvPr id="46" name="Freeform 46"/>
          <p:cNvSpPr/>
          <p:nvPr/>
        </p:nvSpPr>
        <p:spPr>
          <a:xfrm flipV="1">
            <a:off x="16165514" y="-2634240"/>
            <a:ext cx="7315200" cy="3425952"/>
          </a:xfrm>
          <a:custGeom>
            <a:avLst/>
            <a:gdLst/>
            <a:ahLst/>
            <a:cxnLst/>
            <a:rect l="l" t="t" r="r" b="b"/>
            <a:pathLst>
              <a:path w="7315200" h="3425952">
                <a:moveTo>
                  <a:pt x="0" y="3425952"/>
                </a:moveTo>
                <a:lnTo>
                  <a:pt x="7315200" y="3425952"/>
                </a:lnTo>
                <a:lnTo>
                  <a:pt x="7315200" y="0"/>
                </a:lnTo>
                <a:lnTo>
                  <a:pt x="0" y="0"/>
                </a:lnTo>
                <a:lnTo>
                  <a:pt x="0" y="3425952"/>
                </a:lnTo>
                <a:close/>
              </a:path>
            </a:pathLst>
          </a:custGeom>
          <a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984885" y="7999591"/>
            <a:ext cx="4101465" cy="1158281"/>
            <a:chOff x="0" y="0"/>
            <a:chExt cx="1439059" cy="4064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39059" cy="406400"/>
            </a:xfrm>
            <a:custGeom>
              <a:avLst/>
              <a:gdLst/>
              <a:ahLst/>
              <a:cxnLst/>
              <a:rect l="l" t="t" r="r" b="b"/>
              <a:pathLst>
                <a:path w="1439059" h="406400">
                  <a:moveTo>
                    <a:pt x="1235859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1235859" y="406400"/>
                  </a:lnTo>
                  <a:lnTo>
                    <a:pt x="1439059" y="203200"/>
                  </a:lnTo>
                  <a:lnTo>
                    <a:pt x="1235859" y="0"/>
                  </a:lnTo>
                  <a:close/>
                </a:path>
              </a:pathLst>
            </a:custGeom>
            <a:solidFill>
              <a:srgbClr val="3A7377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324759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399"/>
                </a:lnSpc>
                <a:spcBef>
                  <a:spcPct val="0"/>
                </a:spcBef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086350" y="6666509"/>
            <a:ext cx="4101465" cy="1158281"/>
            <a:chOff x="0" y="0"/>
            <a:chExt cx="1439059" cy="4064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39059" cy="406400"/>
            </a:xfrm>
            <a:custGeom>
              <a:avLst/>
              <a:gdLst/>
              <a:ahLst/>
              <a:cxnLst/>
              <a:rect l="l" t="t" r="r" b="b"/>
              <a:pathLst>
                <a:path w="1439059" h="406400">
                  <a:moveTo>
                    <a:pt x="1235859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1235859" y="406400"/>
                  </a:lnTo>
                  <a:lnTo>
                    <a:pt x="1439059" y="203200"/>
                  </a:lnTo>
                  <a:lnTo>
                    <a:pt x="1235859" y="0"/>
                  </a:lnTo>
                  <a:close/>
                </a:path>
              </a:pathLst>
            </a:custGeom>
            <a:solidFill>
              <a:srgbClr val="B9DB5F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324759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399"/>
                </a:lnSpc>
                <a:spcBef>
                  <a:spcPct val="0"/>
                </a:spcBef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144000" y="5333426"/>
            <a:ext cx="4101465" cy="1158281"/>
            <a:chOff x="0" y="0"/>
            <a:chExt cx="1439059" cy="4064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439059" cy="406400"/>
            </a:xfrm>
            <a:custGeom>
              <a:avLst/>
              <a:gdLst/>
              <a:ahLst/>
              <a:cxnLst/>
              <a:rect l="l" t="t" r="r" b="b"/>
              <a:pathLst>
                <a:path w="1439059" h="406400">
                  <a:moveTo>
                    <a:pt x="1235859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1235859" y="406400"/>
                  </a:lnTo>
                  <a:lnTo>
                    <a:pt x="1439059" y="203200"/>
                  </a:lnTo>
                  <a:lnTo>
                    <a:pt x="1235859" y="0"/>
                  </a:lnTo>
                  <a:close/>
                </a:path>
              </a:pathLst>
            </a:custGeom>
            <a:solidFill>
              <a:srgbClr val="10AD5D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324759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399"/>
                </a:lnSpc>
                <a:spcBef>
                  <a:spcPct val="0"/>
                </a:spcBef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245465" y="4028918"/>
            <a:ext cx="4101465" cy="1158281"/>
            <a:chOff x="0" y="0"/>
            <a:chExt cx="1439059" cy="4064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439059" cy="406400"/>
            </a:xfrm>
            <a:custGeom>
              <a:avLst/>
              <a:gdLst/>
              <a:ahLst/>
              <a:cxnLst/>
              <a:rect l="l" t="t" r="r" b="b"/>
              <a:pathLst>
                <a:path w="1439059" h="406400">
                  <a:moveTo>
                    <a:pt x="1235859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1235859" y="406400"/>
                  </a:lnTo>
                  <a:lnTo>
                    <a:pt x="1439059" y="203200"/>
                  </a:lnTo>
                  <a:lnTo>
                    <a:pt x="1235859" y="0"/>
                  </a:lnTo>
                  <a:close/>
                </a:path>
              </a:pathLst>
            </a:custGeom>
            <a:solidFill>
              <a:srgbClr val="5EA6B2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324759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399"/>
                </a:lnSpc>
                <a:spcBef>
                  <a:spcPct val="0"/>
                </a:spcBef>
              </a:pPr>
              <a:endParaRPr>
                <a:latin typeface="Montserrat" pitchFamily="2" charset="77"/>
              </a:endParaRPr>
            </a:p>
          </p:txBody>
        </p:sp>
      </p:grpSp>
      <p:sp>
        <p:nvSpPr>
          <p:cNvPr id="15" name="Freeform 15"/>
          <p:cNvSpPr/>
          <p:nvPr/>
        </p:nvSpPr>
        <p:spPr>
          <a:xfrm>
            <a:off x="2527935" y="6604825"/>
            <a:ext cx="1059180" cy="1059180"/>
          </a:xfrm>
          <a:custGeom>
            <a:avLst/>
            <a:gdLst/>
            <a:ahLst/>
            <a:cxnLst/>
            <a:rect l="l" t="t" r="r" b="b"/>
            <a:pathLst>
              <a:path w="1059180" h="1059180">
                <a:moveTo>
                  <a:pt x="0" y="0"/>
                </a:moveTo>
                <a:lnTo>
                  <a:pt x="1059180" y="0"/>
                </a:lnTo>
                <a:lnTo>
                  <a:pt x="1059180" y="1059181"/>
                </a:lnTo>
                <a:lnTo>
                  <a:pt x="0" y="10591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0776604" y="4211838"/>
            <a:ext cx="792442" cy="792442"/>
          </a:xfrm>
          <a:custGeom>
            <a:avLst/>
            <a:gdLst/>
            <a:ahLst/>
            <a:cxnLst/>
            <a:rect l="l" t="t" r="r" b="b"/>
            <a:pathLst>
              <a:path w="792442" h="792442">
                <a:moveTo>
                  <a:pt x="0" y="0"/>
                </a:moveTo>
                <a:lnTo>
                  <a:pt x="792442" y="0"/>
                </a:lnTo>
                <a:lnTo>
                  <a:pt x="792442" y="792442"/>
                </a:lnTo>
                <a:lnTo>
                  <a:pt x="0" y="79244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6595503" y="5333426"/>
            <a:ext cx="1039345" cy="1002967"/>
          </a:xfrm>
          <a:custGeom>
            <a:avLst/>
            <a:gdLst/>
            <a:ahLst/>
            <a:cxnLst/>
            <a:rect l="l" t="t" r="r" b="b"/>
            <a:pathLst>
              <a:path w="1039345" h="1002967">
                <a:moveTo>
                  <a:pt x="0" y="0"/>
                </a:moveTo>
                <a:lnTo>
                  <a:pt x="1039344" y="0"/>
                </a:lnTo>
                <a:lnTo>
                  <a:pt x="1039344" y="1002967"/>
                </a:lnTo>
                <a:lnTo>
                  <a:pt x="0" y="100296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4890213" y="2609850"/>
            <a:ext cx="680523" cy="1059180"/>
          </a:xfrm>
          <a:custGeom>
            <a:avLst/>
            <a:gdLst/>
            <a:ahLst/>
            <a:cxnLst/>
            <a:rect l="l" t="t" r="r" b="b"/>
            <a:pathLst>
              <a:path w="680523" h="1059180">
                <a:moveTo>
                  <a:pt x="0" y="0"/>
                </a:moveTo>
                <a:lnTo>
                  <a:pt x="680524" y="0"/>
                </a:lnTo>
                <a:lnTo>
                  <a:pt x="680524" y="1059180"/>
                </a:lnTo>
                <a:lnTo>
                  <a:pt x="0" y="105918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 rot="2089008">
            <a:off x="-372046" y="95002"/>
            <a:ext cx="1338814" cy="933823"/>
          </a:xfrm>
          <a:custGeom>
            <a:avLst/>
            <a:gdLst/>
            <a:ahLst/>
            <a:cxnLst/>
            <a:rect l="l" t="t" r="r" b="b"/>
            <a:pathLst>
              <a:path w="1338814" h="933823">
                <a:moveTo>
                  <a:pt x="0" y="0"/>
                </a:moveTo>
                <a:lnTo>
                  <a:pt x="1338814" y="0"/>
                </a:lnTo>
                <a:lnTo>
                  <a:pt x="1338814" y="933823"/>
                </a:lnTo>
                <a:lnTo>
                  <a:pt x="0" y="93382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6260645" y="-1123663"/>
            <a:ext cx="1997311" cy="2247326"/>
          </a:xfrm>
          <a:custGeom>
            <a:avLst/>
            <a:gdLst/>
            <a:ahLst/>
            <a:cxnLst/>
            <a:rect l="l" t="t" r="r" b="b"/>
            <a:pathLst>
              <a:path w="1997311" h="2247326">
                <a:moveTo>
                  <a:pt x="0" y="0"/>
                </a:moveTo>
                <a:lnTo>
                  <a:pt x="1997310" y="0"/>
                </a:lnTo>
                <a:lnTo>
                  <a:pt x="1997310" y="2247326"/>
                </a:lnTo>
                <a:lnTo>
                  <a:pt x="0" y="224732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1028700" y="1019175"/>
            <a:ext cx="8115300" cy="777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>
              <a:lnSpc>
                <a:spcPts val="6480"/>
              </a:lnSpc>
              <a:spcBef>
                <a:spcPct val="0"/>
              </a:spcBef>
            </a:pPr>
            <a:r>
              <a:rPr lang="en-US" altLang="zh-CN" sz="4800" b="1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2026 Objectives</a:t>
            </a:r>
            <a:endParaRPr lang="en-US" sz="4800" b="1" u="none" strike="noStrike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467117" y="8352037"/>
            <a:ext cx="2895160" cy="405765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marL="0" lvl="1" indent="0" algn="ctr">
              <a:lnSpc>
                <a:spcPts val="3359"/>
              </a:lnSpc>
              <a:spcBef>
                <a:spcPct val="0"/>
              </a:spcBef>
            </a:pPr>
            <a:r>
              <a:rPr lang="en-US" altLang="zh-CN" sz="2399" b="1" spc="76" dirty="0">
                <a:solidFill>
                  <a:srgbClr val="FFFFFF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Finance</a:t>
            </a:r>
            <a:endParaRPr lang="en-US" sz="2399" b="1" spc="76" dirty="0">
              <a:solidFill>
                <a:srgbClr val="FFFFFF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5334000" y="7020339"/>
            <a:ext cx="3124199" cy="402995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marL="0" lvl="1" indent="0" algn="ctr">
              <a:lnSpc>
                <a:spcPts val="3359"/>
              </a:lnSpc>
              <a:spcBef>
                <a:spcPct val="0"/>
              </a:spcBef>
            </a:pPr>
            <a:r>
              <a:rPr lang="en-US" altLang="zh-CN" sz="2399" b="1" spc="76" dirty="0">
                <a:solidFill>
                  <a:srgbClr val="FFFFFF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Org.</a:t>
            </a:r>
            <a:endParaRPr lang="en-US" sz="2399" b="1" spc="76" dirty="0">
              <a:solidFill>
                <a:srgbClr val="FFFFFF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9418702" y="5687256"/>
            <a:ext cx="3076752" cy="402995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marL="0" lvl="1" indent="0" algn="ctr">
              <a:lnSpc>
                <a:spcPts val="3359"/>
              </a:lnSpc>
              <a:spcBef>
                <a:spcPct val="0"/>
              </a:spcBef>
            </a:pPr>
            <a:r>
              <a:rPr lang="en-US" altLang="zh-CN" sz="2399" b="1" spc="76" dirty="0">
                <a:solidFill>
                  <a:srgbClr val="FFFFFF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Product</a:t>
            </a:r>
            <a:endParaRPr lang="en-US" sz="2399" b="1" spc="76" dirty="0">
              <a:solidFill>
                <a:srgbClr val="FFFFFF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3563600" y="4352789"/>
            <a:ext cx="3034360" cy="405765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marL="0" lvl="1" indent="0" algn="ctr">
              <a:lnSpc>
                <a:spcPts val="3359"/>
              </a:lnSpc>
              <a:spcBef>
                <a:spcPct val="0"/>
              </a:spcBef>
            </a:pPr>
            <a:r>
              <a:rPr lang="en-US" altLang="zh-CN" sz="2399" b="1" spc="76" dirty="0">
                <a:solidFill>
                  <a:srgbClr val="FFFFFF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Tech</a:t>
            </a:r>
            <a:endParaRPr lang="en-US" sz="2399" b="1" spc="76" dirty="0">
              <a:solidFill>
                <a:srgbClr val="FFFFFF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504950" y="4615836"/>
            <a:ext cx="3374697" cy="28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altLang="zh-CN" sz="1599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Target 57.8B VND revenue, aiming for break-even by 2027 Q2.</a:t>
            </a:r>
            <a:endParaRPr lang="en-US" sz="1599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9507383" y="7023735"/>
            <a:ext cx="3374697" cy="28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altLang="zh-CN" sz="1599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Optimize Anti-Hijacking and launch the new TOMO AI HR product.</a:t>
            </a:r>
            <a:endParaRPr lang="en-US" sz="1599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5562600" y="3390900"/>
            <a:ext cx="3374697" cy="28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altLang="zh-CN" sz="1599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Grow to a 15-person team, enhancing our collective capabilities.</a:t>
            </a:r>
            <a:endParaRPr lang="en-US" sz="1599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3729333" y="5709839"/>
            <a:ext cx="3374697" cy="28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altLang="zh-CN" sz="1599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Standardize development processes, implement Vibe Coding for efficiency.</a:t>
            </a:r>
            <a:endParaRPr lang="en-US" sz="1599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30" name="Freeform 30"/>
          <p:cNvSpPr/>
          <p:nvPr/>
        </p:nvSpPr>
        <p:spPr>
          <a:xfrm flipH="1">
            <a:off x="-5405648" y="9457960"/>
            <a:ext cx="7315200" cy="3425952"/>
          </a:xfrm>
          <a:custGeom>
            <a:avLst/>
            <a:gdLst/>
            <a:ahLst/>
            <a:cxnLst/>
            <a:rect l="l" t="t" r="r" b="b"/>
            <a:pathLst>
              <a:path w="7315200" h="3425952">
                <a:moveTo>
                  <a:pt x="7315200" y="0"/>
                </a:moveTo>
                <a:lnTo>
                  <a:pt x="0" y="0"/>
                </a:lnTo>
                <a:lnTo>
                  <a:pt x="0" y="3425952"/>
                </a:lnTo>
                <a:lnTo>
                  <a:pt x="7315200" y="3425952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17411476" y="9457960"/>
            <a:ext cx="1489099" cy="1219200"/>
          </a:xfrm>
          <a:custGeom>
            <a:avLst/>
            <a:gdLst/>
            <a:ahLst/>
            <a:cxnLst/>
            <a:rect l="l" t="t" r="r" b="b"/>
            <a:pathLst>
              <a:path w="1489099" h="1219200">
                <a:moveTo>
                  <a:pt x="0" y="0"/>
                </a:moveTo>
                <a:lnTo>
                  <a:pt x="1489099" y="0"/>
                </a:lnTo>
                <a:lnTo>
                  <a:pt x="1489099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175178" y="6942188"/>
            <a:ext cx="3984613" cy="2316112"/>
            <a:chOff x="0" y="0"/>
            <a:chExt cx="1049445" cy="61000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49445" cy="610005"/>
            </a:xfrm>
            <a:custGeom>
              <a:avLst/>
              <a:gdLst/>
              <a:ahLst/>
              <a:cxnLst/>
              <a:rect l="l" t="t" r="r" b="b"/>
              <a:pathLst>
                <a:path w="1049445" h="610005">
                  <a:moveTo>
                    <a:pt x="29144" y="0"/>
                  </a:moveTo>
                  <a:lnTo>
                    <a:pt x="1020301" y="0"/>
                  </a:lnTo>
                  <a:cubicBezTo>
                    <a:pt x="1028031" y="0"/>
                    <a:pt x="1035444" y="3071"/>
                    <a:pt x="1040909" y="8536"/>
                  </a:cubicBezTo>
                  <a:cubicBezTo>
                    <a:pt x="1046375" y="14002"/>
                    <a:pt x="1049445" y="21415"/>
                    <a:pt x="1049445" y="29144"/>
                  </a:cubicBezTo>
                  <a:lnTo>
                    <a:pt x="1049445" y="580861"/>
                  </a:lnTo>
                  <a:cubicBezTo>
                    <a:pt x="1049445" y="588590"/>
                    <a:pt x="1046375" y="596003"/>
                    <a:pt x="1040909" y="601469"/>
                  </a:cubicBezTo>
                  <a:cubicBezTo>
                    <a:pt x="1035444" y="606934"/>
                    <a:pt x="1028031" y="610005"/>
                    <a:pt x="1020301" y="610005"/>
                  </a:cubicBezTo>
                  <a:lnTo>
                    <a:pt x="29144" y="610005"/>
                  </a:lnTo>
                  <a:cubicBezTo>
                    <a:pt x="21415" y="610005"/>
                    <a:pt x="14002" y="606934"/>
                    <a:pt x="8536" y="601469"/>
                  </a:cubicBezTo>
                  <a:cubicBezTo>
                    <a:pt x="3071" y="596003"/>
                    <a:pt x="0" y="588590"/>
                    <a:pt x="0" y="580861"/>
                  </a:cubicBezTo>
                  <a:lnTo>
                    <a:pt x="0" y="29144"/>
                  </a:lnTo>
                  <a:cubicBezTo>
                    <a:pt x="0" y="21415"/>
                    <a:pt x="3071" y="14002"/>
                    <a:pt x="8536" y="8536"/>
                  </a:cubicBezTo>
                  <a:cubicBezTo>
                    <a:pt x="14002" y="3071"/>
                    <a:pt x="21415" y="0"/>
                    <a:pt x="29144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049445" cy="6481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399"/>
                </a:lnSpc>
                <a:spcBef>
                  <a:spcPct val="0"/>
                </a:spcBef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3716982" y="4122035"/>
            <a:ext cx="3984613" cy="2316112"/>
            <a:chOff x="0" y="0"/>
            <a:chExt cx="1049445" cy="61000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49445" cy="610005"/>
            </a:xfrm>
            <a:custGeom>
              <a:avLst/>
              <a:gdLst/>
              <a:ahLst/>
              <a:cxnLst/>
              <a:rect l="l" t="t" r="r" b="b"/>
              <a:pathLst>
                <a:path w="1049445" h="610005">
                  <a:moveTo>
                    <a:pt x="29144" y="0"/>
                  </a:moveTo>
                  <a:lnTo>
                    <a:pt x="1020301" y="0"/>
                  </a:lnTo>
                  <a:cubicBezTo>
                    <a:pt x="1028031" y="0"/>
                    <a:pt x="1035444" y="3071"/>
                    <a:pt x="1040909" y="8536"/>
                  </a:cubicBezTo>
                  <a:cubicBezTo>
                    <a:pt x="1046375" y="14002"/>
                    <a:pt x="1049445" y="21415"/>
                    <a:pt x="1049445" y="29144"/>
                  </a:cubicBezTo>
                  <a:lnTo>
                    <a:pt x="1049445" y="580861"/>
                  </a:lnTo>
                  <a:cubicBezTo>
                    <a:pt x="1049445" y="588590"/>
                    <a:pt x="1046375" y="596003"/>
                    <a:pt x="1040909" y="601469"/>
                  </a:cubicBezTo>
                  <a:cubicBezTo>
                    <a:pt x="1035444" y="606934"/>
                    <a:pt x="1028031" y="610005"/>
                    <a:pt x="1020301" y="610005"/>
                  </a:cubicBezTo>
                  <a:lnTo>
                    <a:pt x="29144" y="610005"/>
                  </a:lnTo>
                  <a:cubicBezTo>
                    <a:pt x="21415" y="610005"/>
                    <a:pt x="14002" y="606934"/>
                    <a:pt x="8536" y="601469"/>
                  </a:cubicBezTo>
                  <a:cubicBezTo>
                    <a:pt x="3071" y="596003"/>
                    <a:pt x="0" y="588590"/>
                    <a:pt x="0" y="580861"/>
                  </a:cubicBezTo>
                  <a:lnTo>
                    <a:pt x="0" y="29144"/>
                  </a:lnTo>
                  <a:cubicBezTo>
                    <a:pt x="0" y="21415"/>
                    <a:pt x="3071" y="14002"/>
                    <a:pt x="8536" y="8536"/>
                  </a:cubicBezTo>
                  <a:cubicBezTo>
                    <a:pt x="14002" y="3071"/>
                    <a:pt x="21415" y="0"/>
                    <a:pt x="29144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049445" cy="6481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399"/>
                </a:lnSpc>
                <a:spcBef>
                  <a:spcPct val="0"/>
                </a:spcBef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175178" y="1079521"/>
            <a:ext cx="3984613" cy="2316112"/>
            <a:chOff x="0" y="0"/>
            <a:chExt cx="1049445" cy="61000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49445" cy="610005"/>
            </a:xfrm>
            <a:custGeom>
              <a:avLst/>
              <a:gdLst/>
              <a:ahLst/>
              <a:cxnLst/>
              <a:rect l="l" t="t" r="r" b="b"/>
              <a:pathLst>
                <a:path w="1049445" h="610005">
                  <a:moveTo>
                    <a:pt x="29144" y="0"/>
                  </a:moveTo>
                  <a:lnTo>
                    <a:pt x="1020301" y="0"/>
                  </a:lnTo>
                  <a:cubicBezTo>
                    <a:pt x="1028031" y="0"/>
                    <a:pt x="1035444" y="3071"/>
                    <a:pt x="1040909" y="8536"/>
                  </a:cubicBezTo>
                  <a:cubicBezTo>
                    <a:pt x="1046375" y="14002"/>
                    <a:pt x="1049445" y="21415"/>
                    <a:pt x="1049445" y="29144"/>
                  </a:cubicBezTo>
                  <a:lnTo>
                    <a:pt x="1049445" y="580861"/>
                  </a:lnTo>
                  <a:cubicBezTo>
                    <a:pt x="1049445" y="588590"/>
                    <a:pt x="1046375" y="596003"/>
                    <a:pt x="1040909" y="601469"/>
                  </a:cubicBezTo>
                  <a:cubicBezTo>
                    <a:pt x="1035444" y="606934"/>
                    <a:pt x="1028031" y="610005"/>
                    <a:pt x="1020301" y="610005"/>
                  </a:cubicBezTo>
                  <a:lnTo>
                    <a:pt x="29144" y="610005"/>
                  </a:lnTo>
                  <a:cubicBezTo>
                    <a:pt x="21415" y="610005"/>
                    <a:pt x="14002" y="606934"/>
                    <a:pt x="8536" y="601469"/>
                  </a:cubicBezTo>
                  <a:cubicBezTo>
                    <a:pt x="3071" y="596003"/>
                    <a:pt x="0" y="588590"/>
                    <a:pt x="0" y="580861"/>
                  </a:cubicBezTo>
                  <a:lnTo>
                    <a:pt x="0" y="29144"/>
                  </a:lnTo>
                  <a:cubicBezTo>
                    <a:pt x="0" y="21415"/>
                    <a:pt x="3071" y="14002"/>
                    <a:pt x="8536" y="8536"/>
                  </a:cubicBezTo>
                  <a:cubicBezTo>
                    <a:pt x="14002" y="3071"/>
                    <a:pt x="21415" y="0"/>
                    <a:pt x="2914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049445" cy="6481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sp>
        <p:nvSpPr>
          <p:cNvPr id="12" name="Freeform 12"/>
          <p:cNvSpPr/>
          <p:nvPr/>
        </p:nvSpPr>
        <p:spPr>
          <a:xfrm>
            <a:off x="11590277" y="502313"/>
            <a:ext cx="1389698" cy="1389698"/>
          </a:xfrm>
          <a:custGeom>
            <a:avLst/>
            <a:gdLst/>
            <a:ahLst/>
            <a:cxnLst/>
            <a:rect l="l" t="t" r="r" b="b"/>
            <a:pathLst>
              <a:path w="1389698" h="1389698">
                <a:moveTo>
                  <a:pt x="0" y="0"/>
                </a:moveTo>
                <a:lnTo>
                  <a:pt x="1389698" y="0"/>
                </a:lnTo>
                <a:lnTo>
                  <a:pt x="1389698" y="1389698"/>
                </a:lnTo>
                <a:lnTo>
                  <a:pt x="0" y="13896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3" name="Freeform 13"/>
          <p:cNvSpPr/>
          <p:nvPr/>
        </p:nvSpPr>
        <p:spPr>
          <a:xfrm>
            <a:off x="15112291" y="3544828"/>
            <a:ext cx="1389697" cy="1389698"/>
          </a:xfrm>
          <a:custGeom>
            <a:avLst/>
            <a:gdLst/>
            <a:ahLst/>
            <a:cxnLst/>
            <a:rect l="l" t="t" r="r" b="b"/>
            <a:pathLst>
              <a:path w="1389697" h="1389698">
                <a:moveTo>
                  <a:pt x="0" y="0"/>
                </a:moveTo>
                <a:lnTo>
                  <a:pt x="1389697" y="0"/>
                </a:lnTo>
                <a:lnTo>
                  <a:pt x="1389697" y="1389697"/>
                </a:lnTo>
                <a:lnTo>
                  <a:pt x="0" y="13896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4" name="Freeform 14"/>
          <p:cNvSpPr/>
          <p:nvPr/>
        </p:nvSpPr>
        <p:spPr>
          <a:xfrm flipH="1">
            <a:off x="6652367" y="4934338"/>
            <a:ext cx="4098480" cy="2202933"/>
          </a:xfrm>
          <a:custGeom>
            <a:avLst/>
            <a:gdLst/>
            <a:ahLst/>
            <a:cxnLst/>
            <a:rect l="l" t="t" r="r" b="b"/>
            <a:pathLst>
              <a:path w="4098480" h="2202933">
                <a:moveTo>
                  <a:pt x="4098479" y="0"/>
                </a:moveTo>
                <a:lnTo>
                  <a:pt x="0" y="0"/>
                </a:lnTo>
                <a:lnTo>
                  <a:pt x="0" y="2202933"/>
                </a:lnTo>
                <a:lnTo>
                  <a:pt x="4098479" y="2202933"/>
                </a:lnTo>
                <a:lnTo>
                  <a:pt x="4098479" y="0"/>
                </a:lnTo>
                <a:close/>
              </a:path>
            </a:pathLst>
          </a:custGeom>
          <a:blipFill>
            <a:blip r:embed="rId6">
              <a:alphaModFix amt="5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5" name="Group 15"/>
          <p:cNvGrpSpPr/>
          <p:nvPr/>
        </p:nvGrpSpPr>
        <p:grpSpPr>
          <a:xfrm>
            <a:off x="6633374" y="4122035"/>
            <a:ext cx="3984613" cy="2316112"/>
            <a:chOff x="0" y="0"/>
            <a:chExt cx="1049445" cy="61000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49445" cy="610005"/>
            </a:xfrm>
            <a:custGeom>
              <a:avLst/>
              <a:gdLst/>
              <a:ahLst/>
              <a:cxnLst/>
              <a:rect l="l" t="t" r="r" b="b"/>
              <a:pathLst>
                <a:path w="1049445" h="610005">
                  <a:moveTo>
                    <a:pt x="29144" y="0"/>
                  </a:moveTo>
                  <a:lnTo>
                    <a:pt x="1020301" y="0"/>
                  </a:lnTo>
                  <a:cubicBezTo>
                    <a:pt x="1028031" y="0"/>
                    <a:pt x="1035444" y="3071"/>
                    <a:pt x="1040909" y="8536"/>
                  </a:cubicBezTo>
                  <a:cubicBezTo>
                    <a:pt x="1046375" y="14002"/>
                    <a:pt x="1049445" y="21415"/>
                    <a:pt x="1049445" y="29144"/>
                  </a:cubicBezTo>
                  <a:lnTo>
                    <a:pt x="1049445" y="580861"/>
                  </a:lnTo>
                  <a:cubicBezTo>
                    <a:pt x="1049445" y="588590"/>
                    <a:pt x="1046375" y="596003"/>
                    <a:pt x="1040909" y="601469"/>
                  </a:cubicBezTo>
                  <a:cubicBezTo>
                    <a:pt x="1035444" y="606934"/>
                    <a:pt x="1028031" y="610005"/>
                    <a:pt x="1020301" y="610005"/>
                  </a:cubicBezTo>
                  <a:lnTo>
                    <a:pt x="29144" y="610005"/>
                  </a:lnTo>
                  <a:cubicBezTo>
                    <a:pt x="21415" y="610005"/>
                    <a:pt x="14002" y="606934"/>
                    <a:pt x="8536" y="601469"/>
                  </a:cubicBezTo>
                  <a:cubicBezTo>
                    <a:pt x="3071" y="596003"/>
                    <a:pt x="0" y="588590"/>
                    <a:pt x="0" y="580861"/>
                  </a:cubicBezTo>
                  <a:lnTo>
                    <a:pt x="0" y="29144"/>
                  </a:lnTo>
                  <a:cubicBezTo>
                    <a:pt x="0" y="21415"/>
                    <a:pt x="3071" y="14002"/>
                    <a:pt x="8536" y="8536"/>
                  </a:cubicBezTo>
                  <a:cubicBezTo>
                    <a:pt x="14002" y="3071"/>
                    <a:pt x="21415" y="0"/>
                    <a:pt x="29144" y="0"/>
                  </a:cubicBezTo>
                  <a:close/>
                </a:path>
              </a:pathLst>
            </a:custGeom>
            <a:solidFill>
              <a:srgbClr val="10AD5D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049445" cy="6481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sp>
        <p:nvSpPr>
          <p:cNvPr id="18" name="Freeform 18"/>
          <p:cNvSpPr/>
          <p:nvPr/>
        </p:nvSpPr>
        <p:spPr>
          <a:xfrm>
            <a:off x="8036917" y="3544828"/>
            <a:ext cx="1389511" cy="1389511"/>
          </a:xfrm>
          <a:custGeom>
            <a:avLst/>
            <a:gdLst/>
            <a:ahLst/>
            <a:cxnLst/>
            <a:rect l="l" t="t" r="r" b="b"/>
            <a:pathLst>
              <a:path w="1389511" h="1389511">
                <a:moveTo>
                  <a:pt x="0" y="0"/>
                </a:moveTo>
                <a:lnTo>
                  <a:pt x="1389511" y="0"/>
                </a:lnTo>
                <a:lnTo>
                  <a:pt x="1389511" y="1389510"/>
                </a:lnTo>
                <a:lnTo>
                  <a:pt x="0" y="13895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9" name="Freeform 19"/>
          <p:cNvSpPr/>
          <p:nvPr/>
        </p:nvSpPr>
        <p:spPr>
          <a:xfrm>
            <a:off x="11590277" y="6364980"/>
            <a:ext cx="1389511" cy="1389511"/>
          </a:xfrm>
          <a:custGeom>
            <a:avLst/>
            <a:gdLst/>
            <a:ahLst/>
            <a:cxnLst/>
            <a:rect l="l" t="t" r="r" b="b"/>
            <a:pathLst>
              <a:path w="1389511" h="1389511">
                <a:moveTo>
                  <a:pt x="0" y="0"/>
                </a:moveTo>
                <a:lnTo>
                  <a:pt x="1389511" y="0"/>
                </a:lnTo>
                <a:lnTo>
                  <a:pt x="1389511" y="1389511"/>
                </a:lnTo>
                <a:lnTo>
                  <a:pt x="0" y="13895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20" name="Group 20"/>
          <p:cNvGrpSpPr/>
          <p:nvPr/>
        </p:nvGrpSpPr>
        <p:grpSpPr>
          <a:xfrm>
            <a:off x="8048473" y="3544828"/>
            <a:ext cx="1154415" cy="1154415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952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5132081" y="3544828"/>
            <a:ext cx="1154415" cy="1154415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AD5D"/>
            </a:solidFill>
            <a:ln w="95250" cap="sq">
              <a:solidFill>
                <a:srgbClr val="10AD5D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399"/>
                </a:lnSpc>
                <a:spcBef>
                  <a:spcPct val="0"/>
                </a:spcBef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1590277" y="502313"/>
            <a:ext cx="1154415" cy="1154415"/>
            <a:chOff x="0" y="0"/>
            <a:chExt cx="812800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9DB5F"/>
            </a:solidFill>
            <a:ln w="95250" cap="sq">
              <a:solidFill>
                <a:srgbClr val="B9DB5F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1590277" y="6364980"/>
            <a:ext cx="1154415" cy="1154415"/>
            <a:chOff x="0" y="0"/>
            <a:chExt cx="812800" cy="8128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9DB5F"/>
            </a:solidFill>
            <a:ln w="95250" cap="sq">
              <a:solidFill>
                <a:srgbClr val="B9DB5F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399"/>
                </a:lnSpc>
                <a:spcBef>
                  <a:spcPct val="0"/>
                </a:spcBef>
              </a:pPr>
              <a:endParaRPr>
                <a:latin typeface="Montserrat" pitchFamily="2" charset="77"/>
              </a:endParaRPr>
            </a:p>
          </p:txBody>
        </p:sp>
      </p:grpSp>
      <p:sp>
        <p:nvSpPr>
          <p:cNvPr id="32" name="Freeform 32"/>
          <p:cNvSpPr/>
          <p:nvPr/>
        </p:nvSpPr>
        <p:spPr>
          <a:xfrm>
            <a:off x="15475906" y="3868137"/>
            <a:ext cx="476259" cy="459590"/>
          </a:xfrm>
          <a:custGeom>
            <a:avLst/>
            <a:gdLst/>
            <a:ahLst/>
            <a:cxnLst/>
            <a:rect l="l" t="t" r="r" b="b"/>
            <a:pathLst>
              <a:path w="476259" h="459590">
                <a:moveTo>
                  <a:pt x="0" y="0"/>
                </a:moveTo>
                <a:lnTo>
                  <a:pt x="476259" y="0"/>
                </a:lnTo>
                <a:lnTo>
                  <a:pt x="476259" y="459591"/>
                </a:lnTo>
                <a:lnTo>
                  <a:pt x="0" y="45959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3" name="Freeform 33"/>
          <p:cNvSpPr/>
          <p:nvPr/>
        </p:nvSpPr>
        <p:spPr>
          <a:xfrm>
            <a:off x="11934102" y="846138"/>
            <a:ext cx="466765" cy="466765"/>
          </a:xfrm>
          <a:custGeom>
            <a:avLst/>
            <a:gdLst/>
            <a:ahLst/>
            <a:cxnLst/>
            <a:rect l="l" t="t" r="r" b="b"/>
            <a:pathLst>
              <a:path w="466765" h="466765">
                <a:moveTo>
                  <a:pt x="0" y="0"/>
                </a:moveTo>
                <a:lnTo>
                  <a:pt x="466765" y="0"/>
                </a:lnTo>
                <a:lnTo>
                  <a:pt x="466765" y="466765"/>
                </a:lnTo>
                <a:lnTo>
                  <a:pt x="0" y="46676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34" name="Freeform 34"/>
          <p:cNvSpPr/>
          <p:nvPr/>
        </p:nvSpPr>
        <p:spPr>
          <a:xfrm>
            <a:off x="930536" y="1312903"/>
            <a:ext cx="4705191" cy="4722902"/>
          </a:xfrm>
          <a:custGeom>
            <a:avLst/>
            <a:gdLst/>
            <a:ahLst/>
            <a:cxnLst/>
            <a:rect l="l" t="t" r="r" b="b"/>
            <a:pathLst>
              <a:path w="4705191" h="4722902">
                <a:moveTo>
                  <a:pt x="0" y="0"/>
                </a:moveTo>
                <a:lnTo>
                  <a:pt x="4705191" y="0"/>
                </a:lnTo>
                <a:lnTo>
                  <a:pt x="4705191" y="4722902"/>
                </a:lnTo>
                <a:lnTo>
                  <a:pt x="0" y="472290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5" name="Freeform 35"/>
          <p:cNvSpPr/>
          <p:nvPr/>
        </p:nvSpPr>
        <p:spPr>
          <a:xfrm>
            <a:off x="14800996" y="2164411"/>
            <a:ext cx="849030" cy="967555"/>
          </a:xfrm>
          <a:custGeom>
            <a:avLst/>
            <a:gdLst/>
            <a:ahLst/>
            <a:cxnLst/>
            <a:rect l="l" t="t" r="r" b="b"/>
            <a:pathLst>
              <a:path w="849030" h="967555">
                <a:moveTo>
                  <a:pt x="0" y="0"/>
                </a:moveTo>
                <a:lnTo>
                  <a:pt x="849030" y="0"/>
                </a:lnTo>
                <a:lnTo>
                  <a:pt x="849030" y="967555"/>
                </a:lnTo>
                <a:lnTo>
                  <a:pt x="0" y="967555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6" name="Freeform 36"/>
          <p:cNvSpPr/>
          <p:nvPr/>
        </p:nvSpPr>
        <p:spPr>
          <a:xfrm rot="5400000">
            <a:off x="14800996" y="7130868"/>
            <a:ext cx="849030" cy="967555"/>
          </a:xfrm>
          <a:custGeom>
            <a:avLst/>
            <a:gdLst/>
            <a:ahLst/>
            <a:cxnLst/>
            <a:rect l="l" t="t" r="r" b="b"/>
            <a:pathLst>
              <a:path w="849030" h="967555">
                <a:moveTo>
                  <a:pt x="0" y="0"/>
                </a:moveTo>
                <a:lnTo>
                  <a:pt x="849030" y="0"/>
                </a:lnTo>
                <a:lnTo>
                  <a:pt x="849030" y="967555"/>
                </a:lnTo>
                <a:lnTo>
                  <a:pt x="0" y="967555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7" name="Freeform 37"/>
          <p:cNvSpPr/>
          <p:nvPr/>
        </p:nvSpPr>
        <p:spPr>
          <a:xfrm rot="-10800000">
            <a:off x="8676592" y="7130868"/>
            <a:ext cx="849030" cy="967555"/>
          </a:xfrm>
          <a:custGeom>
            <a:avLst/>
            <a:gdLst/>
            <a:ahLst/>
            <a:cxnLst/>
            <a:rect l="l" t="t" r="r" b="b"/>
            <a:pathLst>
              <a:path w="849030" h="967555">
                <a:moveTo>
                  <a:pt x="0" y="0"/>
                </a:moveTo>
                <a:lnTo>
                  <a:pt x="849030" y="0"/>
                </a:lnTo>
                <a:lnTo>
                  <a:pt x="849030" y="967555"/>
                </a:lnTo>
                <a:lnTo>
                  <a:pt x="0" y="967555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8" name="Freeform 38"/>
          <p:cNvSpPr/>
          <p:nvPr/>
        </p:nvSpPr>
        <p:spPr>
          <a:xfrm rot="-5400000">
            <a:off x="8676592" y="1934858"/>
            <a:ext cx="849030" cy="967555"/>
          </a:xfrm>
          <a:custGeom>
            <a:avLst/>
            <a:gdLst/>
            <a:ahLst/>
            <a:cxnLst/>
            <a:rect l="l" t="t" r="r" b="b"/>
            <a:pathLst>
              <a:path w="849030" h="967555">
                <a:moveTo>
                  <a:pt x="0" y="0"/>
                </a:moveTo>
                <a:lnTo>
                  <a:pt x="849030" y="0"/>
                </a:lnTo>
                <a:lnTo>
                  <a:pt x="849030" y="967556"/>
                </a:lnTo>
                <a:lnTo>
                  <a:pt x="0" y="967556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39" name="Freeform 39"/>
          <p:cNvSpPr/>
          <p:nvPr/>
        </p:nvSpPr>
        <p:spPr>
          <a:xfrm>
            <a:off x="11943900" y="6713704"/>
            <a:ext cx="456967" cy="456967"/>
          </a:xfrm>
          <a:custGeom>
            <a:avLst/>
            <a:gdLst/>
            <a:ahLst/>
            <a:cxnLst/>
            <a:rect l="l" t="t" r="r" b="b"/>
            <a:pathLst>
              <a:path w="456967" h="456967">
                <a:moveTo>
                  <a:pt x="0" y="0"/>
                </a:moveTo>
                <a:lnTo>
                  <a:pt x="456967" y="0"/>
                </a:lnTo>
                <a:lnTo>
                  <a:pt x="456967" y="456967"/>
                </a:lnTo>
                <a:lnTo>
                  <a:pt x="0" y="456967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0" name="Freeform 40"/>
          <p:cNvSpPr/>
          <p:nvPr/>
        </p:nvSpPr>
        <p:spPr>
          <a:xfrm>
            <a:off x="8435805" y="3826509"/>
            <a:ext cx="379751" cy="591052"/>
          </a:xfrm>
          <a:custGeom>
            <a:avLst/>
            <a:gdLst/>
            <a:ahLst/>
            <a:cxnLst/>
            <a:rect l="l" t="t" r="r" b="b"/>
            <a:pathLst>
              <a:path w="379751" h="591052">
                <a:moveTo>
                  <a:pt x="0" y="0"/>
                </a:moveTo>
                <a:lnTo>
                  <a:pt x="379751" y="0"/>
                </a:lnTo>
                <a:lnTo>
                  <a:pt x="379751" y="591052"/>
                </a:lnTo>
                <a:lnTo>
                  <a:pt x="0" y="591052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1" name="Freeform 41"/>
          <p:cNvSpPr/>
          <p:nvPr/>
        </p:nvSpPr>
        <p:spPr>
          <a:xfrm rot="734040">
            <a:off x="17293010" y="8973915"/>
            <a:ext cx="1750367" cy="1972245"/>
          </a:xfrm>
          <a:custGeom>
            <a:avLst/>
            <a:gdLst/>
            <a:ahLst/>
            <a:cxnLst/>
            <a:rect l="l" t="t" r="r" b="b"/>
            <a:pathLst>
              <a:path w="1750367" h="1972245">
                <a:moveTo>
                  <a:pt x="0" y="0"/>
                </a:moveTo>
                <a:lnTo>
                  <a:pt x="1750368" y="0"/>
                </a:lnTo>
                <a:lnTo>
                  <a:pt x="1750368" y="1972244"/>
                </a:lnTo>
                <a:lnTo>
                  <a:pt x="0" y="1972244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</p:spPr>
      </p:sp>
      <p:sp>
        <p:nvSpPr>
          <p:cNvPr id="42" name="Freeform 42"/>
          <p:cNvSpPr/>
          <p:nvPr/>
        </p:nvSpPr>
        <p:spPr>
          <a:xfrm flipH="1">
            <a:off x="-5367006" y="-1383193"/>
            <a:ext cx="7315200" cy="3425952"/>
          </a:xfrm>
          <a:custGeom>
            <a:avLst/>
            <a:gdLst/>
            <a:ahLst/>
            <a:cxnLst/>
            <a:rect l="l" t="t" r="r" b="b"/>
            <a:pathLst>
              <a:path w="7315200" h="3425952">
                <a:moveTo>
                  <a:pt x="7315200" y="0"/>
                </a:moveTo>
                <a:lnTo>
                  <a:pt x="0" y="0"/>
                </a:lnTo>
                <a:lnTo>
                  <a:pt x="0" y="3425952"/>
                </a:lnTo>
                <a:lnTo>
                  <a:pt x="7315200" y="3425952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a:blipFill>
        </p:spPr>
      </p:sp>
      <p:sp>
        <p:nvSpPr>
          <p:cNvPr id="43" name="Freeform 43"/>
          <p:cNvSpPr/>
          <p:nvPr/>
        </p:nvSpPr>
        <p:spPr>
          <a:xfrm flipH="1">
            <a:off x="-5405648" y="9457960"/>
            <a:ext cx="7315200" cy="3425952"/>
          </a:xfrm>
          <a:custGeom>
            <a:avLst/>
            <a:gdLst/>
            <a:ahLst/>
            <a:cxnLst/>
            <a:rect l="l" t="t" r="r" b="b"/>
            <a:pathLst>
              <a:path w="7315200" h="3425952">
                <a:moveTo>
                  <a:pt x="7315200" y="0"/>
                </a:moveTo>
                <a:lnTo>
                  <a:pt x="0" y="0"/>
                </a:lnTo>
                <a:lnTo>
                  <a:pt x="0" y="3425952"/>
                </a:lnTo>
                <a:lnTo>
                  <a:pt x="7315200" y="3425952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a:blipFill>
        </p:spPr>
      </p:sp>
      <p:sp>
        <p:nvSpPr>
          <p:cNvPr id="44" name="Freeform 44"/>
          <p:cNvSpPr/>
          <p:nvPr/>
        </p:nvSpPr>
        <p:spPr>
          <a:xfrm flipV="1">
            <a:off x="16165514" y="-2634240"/>
            <a:ext cx="7315200" cy="3425952"/>
          </a:xfrm>
          <a:custGeom>
            <a:avLst/>
            <a:gdLst/>
            <a:ahLst/>
            <a:cxnLst/>
            <a:rect l="l" t="t" r="r" b="b"/>
            <a:pathLst>
              <a:path w="7315200" h="3425952">
                <a:moveTo>
                  <a:pt x="0" y="3425952"/>
                </a:moveTo>
                <a:lnTo>
                  <a:pt x="7315200" y="3425952"/>
                </a:lnTo>
                <a:lnTo>
                  <a:pt x="7315200" y="0"/>
                </a:lnTo>
                <a:lnTo>
                  <a:pt x="0" y="0"/>
                </a:lnTo>
                <a:lnTo>
                  <a:pt x="0" y="3425952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a:blipFill>
        </p:spPr>
      </p:sp>
      <p:sp>
        <p:nvSpPr>
          <p:cNvPr id="45" name="TextBox 45"/>
          <p:cNvSpPr txBox="1"/>
          <p:nvPr/>
        </p:nvSpPr>
        <p:spPr>
          <a:xfrm>
            <a:off x="1028700" y="6467475"/>
            <a:ext cx="5442952" cy="764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>
              <a:lnSpc>
                <a:spcPts val="6480"/>
              </a:lnSpc>
              <a:spcBef>
                <a:spcPct val="0"/>
              </a:spcBef>
            </a:pPr>
            <a:r>
              <a:rPr lang="en-US" altLang="zh-CN" sz="4400" b="1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2026 KPIs</a:t>
            </a:r>
            <a:endParaRPr lang="en-US" sz="4400" b="1" u="none" strike="noStrike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6938332" y="4718292"/>
            <a:ext cx="3374697" cy="422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600"/>
              </a:lnSpc>
              <a:spcBef>
                <a:spcPct val="0"/>
              </a:spcBef>
            </a:pPr>
            <a:r>
              <a:rPr lang="en-US" altLang="zh-CN" sz="2400" b="1" dirty="0">
                <a:solidFill>
                  <a:srgbClr val="FFFFFF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Revenue</a:t>
            </a:r>
            <a:endParaRPr lang="en-US" sz="2400" b="1" dirty="0">
              <a:solidFill>
                <a:srgbClr val="FFFFFF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14021940" y="4718292"/>
            <a:ext cx="3374697" cy="422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600"/>
              </a:lnSpc>
              <a:spcBef>
                <a:spcPct val="0"/>
              </a:spcBef>
            </a:pPr>
            <a:r>
              <a:rPr lang="en-US" altLang="zh-CN" sz="2400" b="1" u="none" strike="noStrike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Clients</a:t>
            </a:r>
            <a:endParaRPr lang="en-US" sz="2400" b="1" u="none" strike="noStrike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10480136" y="1675778"/>
            <a:ext cx="3374697" cy="422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600"/>
              </a:lnSpc>
              <a:spcBef>
                <a:spcPct val="0"/>
              </a:spcBef>
            </a:pPr>
            <a:r>
              <a:rPr lang="en-US" altLang="zh-CN" sz="2400" b="1" u="none" strike="noStrike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Team</a:t>
            </a:r>
            <a:endParaRPr lang="en-US" sz="2400" b="1" u="none" strike="noStrike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49" name="TextBox 49"/>
          <p:cNvSpPr txBox="1"/>
          <p:nvPr/>
        </p:nvSpPr>
        <p:spPr>
          <a:xfrm>
            <a:off x="10480136" y="7538445"/>
            <a:ext cx="3374697" cy="422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600"/>
              </a:lnSpc>
              <a:spcBef>
                <a:spcPct val="0"/>
              </a:spcBef>
            </a:pPr>
            <a:r>
              <a:rPr lang="en-US" altLang="zh-CN" sz="2400" b="1" u="none" strike="noStrike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Global</a:t>
            </a:r>
            <a:endParaRPr lang="en-US" sz="2400" b="1" u="none" strike="noStrike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50" name="TextBox 50"/>
          <p:cNvSpPr txBox="1"/>
          <p:nvPr/>
        </p:nvSpPr>
        <p:spPr>
          <a:xfrm>
            <a:off x="6938332" y="5311515"/>
            <a:ext cx="3374697" cy="28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altLang="zh-CN" sz="1599" u="none" strike="noStrike" dirty="0">
                <a:solidFill>
                  <a:srgbClr val="FFFFFF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57.8 billion VND (~$220K USD) in annual revenue.</a:t>
            </a:r>
            <a:endParaRPr lang="en-US" sz="1599" u="none" strike="noStrike" dirty="0">
              <a:solidFill>
                <a:srgbClr val="FFFFFF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51" name="TextBox 51"/>
          <p:cNvSpPr txBox="1"/>
          <p:nvPr/>
        </p:nvSpPr>
        <p:spPr>
          <a:xfrm>
            <a:off x="14021940" y="5311515"/>
            <a:ext cx="3374697" cy="28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altLang="zh-CN" sz="1599" u="none" strike="noStrike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Secure 50 customers for our Anti-Hijacking solution.</a:t>
            </a:r>
            <a:endParaRPr lang="en-US" sz="1599" u="none" strike="noStrike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52" name="TextBox 52"/>
          <p:cNvSpPr txBox="1"/>
          <p:nvPr/>
        </p:nvSpPr>
        <p:spPr>
          <a:xfrm>
            <a:off x="10480136" y="2269001"/>
            <a:ext cx="3374697" cy="28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altLang="zh-CN" sz="1599" u="none" strike="noStrike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15 people by Q4; Technical Lead hired in Q1 for enhanced leadership.</a:t>
            </a:r>
            <a:endParaRPr lang="en-US" sz="1599" u="none" strike="noStrike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53" name="TextBox 53"/>
          <p:cNvSpPr txBox="1"/>
          <p:nvPr/>
        </p:nvSpPr>
        <p:spPr>
          <a:xfrm>
            <a:off x="10480136" y="8131668"/>
            <a:ext cx="3374697" cy="28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altLang="zh-CN" sz="1599" u="none" strike="noStrike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Execute 3 cross-border projects and facilitate 3 international exchanges.</a:t>
            </a:r>
            <a:endParaRPr lang="en-US" sz="1599" u="none" strike="noStrike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955864" y="7170313"/>
            <a:ext cx="2087987" cy="2087987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5618" y="0"/>
                  </a:moveTo>
                  <a:lnTo>
                    <a:pt x="757182" y="0"/>
                  </a:lnTo>
                  <a:cubicBezTo>
                    <a:pt x="787899" y="0"/>
                    <a:pt x="812800" y="24901"/>
                    <a:pt x="812800" y="55618"/>
                  </a:cubicBezTo>
                  <a:lnTo>
                    <a:pt x="812800" y="757182"/>
                  </a:lnTo>
                  <a:cubicBezTo>
                    <a:pt x="812800" y="787899"/>
                    <a:pt x="787899" y="812800"/>
                    <a:pt x="757182" y="812800"/>
                  </a:cubicBezTo>
                  <a:lnTo>
                    <a:pt x="55618" y="812800"/>
                  </a:lnTo>
                  <a:cubicBezTo>
                    <a:pt x="24901" y="812800"/>
                    <a:pt x="0" y="787899"/>
                    <a:pt x="0" y="757182"/>
                  </a:cubicBezTo>
                  <a:lnTo>
                    <a:pt x="0" y="55618"/>
                  </a:lnTo>
                  <a:cubicBezTo>
                    <a:pt x="0" y="24901"/>
                    <a:pt x="24901" y="0"/>
                    <a:pt x="55618" y="0"/>
                  </a:cubicBezTo>
                  <a:close/>
                </a:path>
              </a:pathLst>
            </a:custGeom>
            <a:solidFill>
              <a:srgbClr val="B9DB5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9"/>
                </a:lnSpc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043851" y="5570474"/>
            <a:ext cx="1599840" cy="1599840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72588" y="0"/>
                  </a:moveTo>
                  <a:lnTo>
                    <a:pt x="740212" y="0"/>
                  </a:lnTo>
                  <a:cubicBezTo>
                    <a:pt x="780301" y="0"/>
                    <a:pt x="812800" y="32499"/>
                    <a:pt x="812800" y="72588"/>
                  </a:cubicBezTo>
                  <a:lnTo>
                    <a:pt x="812800" y="740212"/>
                  </a:lnTo>
                  <a:cubicBezTo>
                    <a:pt x="812800" y="780301"/>
                    <a:pt x="780301" y="812800"/>
                    <a:pt x="740212" y="812800"/>
                  </a:cubicBezTo>
                  <a:lnTo>
                    <a:pt x="72588" y="812800"/>
                  </a:lnTo>
                  <a:cubicBezTo>
                    <a:pt x="32499" y="812800"/>
                    <a:pt x="0" y="780301"/>
                    <a:pt x="0" y="740212"/>
                  </a:cubicBezTo>
                  <a:lnTo>
                    <a:pt x="0" y="72588"/>
                  </a:lnTo>
                  <a:cubicBezTo>
                    <a:pt x="0" y="32499"/>
                    <a:pt x="32499" y="0"/>
                    <a:pt x="72588" y="0"/>
                  </a:cubicBezTo>
                  <a:close/>
                </a:path>
              </a:pathLst>
            </a:custGeom>
            <a:solidFill>
              <a:srgbClr val="3A7377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9"/>
                </a:lnSpc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643691" y="7170313"/>
            <a:ext cx="1914342" cy="1914342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60663" y="0"/>
                  </a:moveTo>
                  <a:lnTo>
                    <a:pt x="752137" y="0"/>
                  </a:lnTo>
                  <a:cubicBezTo>
                    <a:pt x="785640" y="0"/>
                    <a:pt x="812800" y="27160"/>
                    <a:pt x="812800" y="60663"/>
                  </a:cubicBezTo>
                  <a:lnTo>
                    <a:pt x="812800" y="752137"/>
                  </a:lnTo>
                  <a:cubicBezTo>
                    <a:pt x="812800" y="785640"/>
                    <a:pt x="785640" y="812800"/>
                    <a:pt x="752137" y="812800"/>
                  </a:cubicBezTo>
                  <a:lnTo>
                    <a:pt x="60663" y="812800"/>
                  </a:lnTo>
                  <a:cubicBezTo>
                    <a:pt x="27160" y="812800"/>
                    <a:pt x="0" y="785640"/>
                    <a:pt x="0" y="752137"/>
                  </a:cubicBezTo>
                  <a:lnTo>
                    <a:pt x="0" y="60663"/>
                  </a:lnTo>
                  <a:cubicBezTo>
                    <a:pt x="0" y="27160"/>
                    <a:pt x="27160" y="0"/>
                    <a:pt x="60663" y="0"/>
                  </a:cubicBezTo>
                  <a:close/>
                </a:path>
              </a:pathLst>
            </a:custGeom>
            <a:solidFill>
              <a:srgbClr val="10AD5D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9"/>
                </a:lnSpc>
              </a:pPr>
              <a:endParaRPr>
                <a:latin typeface="Montserrat" pitchFamily="2" charset="77"/>
              </a:endParaRPr>
            </a:p>
          </p:txBody>
        </p:sp>
      </p:grpSp>
      <p:sp>
        <p:nvSpPr>
          <p:cNvPr id="12" name="Freeform 12"/>
          <p:cNvSpPr/>
          <p:nvPr/>
        </p:nvSpPr>
        <p:spPr>
          <a:xfrm>
            <a:off x="10482257" y="4769917"/>
            <a:ext cx="2926573" cy="2926573"/>
          </a:xfrm>
          <a:custGeom>
            <a:avLst/>
            <a:gdLst/>
            <a:ahLst/>
            <a:cxnLst/>
            <a:rect l="l" t="t" r="r" b="b"/>
            <a:pathLst>
              <a:path w="2926573" h="2926573">
                <a:moveTo>
                  <a:pt x="0" y="0"/>
                </a:moveTo>
                <a:lnTo>
                  <a:pt x="2926574" y="0"/>
                </a:lnTo>
                <a:lnTo>
                  <a:pt x="2926574" y="2926573"/>
                </a:lnTo>
                <a:lnTo>
                  <a:pt x="0" y="292657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10558033" y="4395291"/>
            <a:ext cx="2775023" cy="277502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1848" y="0"/>
                  </a:moveTo>
                  <a:lnTo>
                    <a:pt x="770952" y="0"/>
                  </a:lnTo>
                  <a:cubicBezTo>
                    <a:pt x="782051" y="0"/>
                    <a:pt x="792695" y="4409"/>
                    <a:pt x="800543" y="12257"/>
                  </a:cubicBezTo>
                  <a:cubicBezTo>
                    <a:pt x="808391" y="20105"/>
                    <a:pt x="812800" y="30749"/>
                    <a:pt x="812800" y="41848"/>
                  </a:cubicBezTo>
                  <a:lnTo>
                    <a:pt x="812800" y="770952"/>
                  </a:lnTo>
                  <a:cubicBezTo>
                    <a:pt x="812800" y="782051"/>
                    <a:pt x="808391" y="792695"/>
                    <a:pt x="800543" y="800543"/>
                  </a:cubicBezTo>
                  <a:cubicBezTo>
                    <a:pt x="792695" y="808391"/>
                    <a:pt x="782051" y="812800"/>
                    <a:pt x="770952" y="812800"/>
                  </a:cubicBezTo>
                  <a:lnTo>
                    <a:pt x="41848" y="812800"/>
                  </a:lnTo>
                  <a:cubicBezTo>
                    <a:pt x="30749" y="812800"/>
                    <a:pt x="20105" y="808391"/>
                    <a:pt x="12257" y="800543"/>
                  </a:cubicBezTo>
                  <a:cubicBezTo>
                    <a:pt x="4409" y="792695"/>
                    <a:pt x="0" y="782051"/>
                    <a:pt x="0" y="770952"/>
                  </a:cubicBezTo>
                  <a:lnTo>
                    <a:pt x="0" y="41848"/>
                  </a:lnTo>
                  <a:cubicBezTo>
                    <a:pt x="0" y="30749"/>
                    <a:pt x="4409" y="20105"/>
                    <a:pt x="12257" y="12257"/>
                  </a:cubicBezTo>
                  <a:cubicBezTo>
                    <a:pt x="20105" y="4409"/>
                    <a:pt x="30749" y="0"/>
                    <a:pt x="41848" y="0"/>
                  </a:cubicBezTo>
                  <a:close/>
                </a:path>
              </a:pathLst>
            </a:custGeom>
            <a:solidFill>
              <a:srgbClr val="5EA6B2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9"/>
                </a:lnSpc>
              </a:pPr>
              <a:endParaRPr>
                <a:latin typeface="Montserrat" pitchFamily="2" charset="77"/>
              </a:endParaRPr>
            </a:p>
          </p:txBody>
        </p:sp>
      </p:grpSp>
      <p:sp>
        <p:nvSpPr>
          <p:cNvPr id="16" name="Freeform 16"/>
          <p:cNvSpPr/>
          <p:nvPr/>
        </p:nvSpPr>
        <p:spPr>
          <a:xfrm>
            <a:off x="5482042" y="7696490"/>
            <a:ext cx="1035632" cy="1035632"/>
          </a:xfrm>
          <a:custGeom>
            <a:avLst/>
            <a:gdLst/>
            <a:ahLst/>
            <a:cxnLst/>
            <a:rect l="l" t="t" r="r" b="b"/>
            <a:pathLst>
              <a:path w="1035632" h="1035632">
                <a:moveTo>
                  <a:pt x="0" y="0"/>
                </a:moveTo>
                <a:lnTo>
                  <a:pt x="1035632" y="0"/>
                </a:lnTo>
                <a:lnTo>
                  <a:pt x="1035632" y="1035633"/>
                </a:lnTo>
                <a:lnTo>
                  <a:pt x="0" y="103563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7470091" y="6009793"/>
            <a:ext cx="747359" cy="721202"/>
          </a:xfrm>
          <a:custGeom>
            <a:avLst/>
            <a:gdLst/>
            <a:ahLst/>
            <a:cxnLst/>
            <a:rect l="l" t="t" r="r" b="b"/>
            <a:pathLst>
              <a:path w="747359" h="721202">
                <a:moveTo>
                  <a:pt x="0" y="0"/>
                </a:moveTo>
                <a:lnTo>
                  <a:pt x="747359" y="0"/>
                </a:lnTo>
                <a:lnTo>
                  <a:pt x="747359" y="721201"/>
                </a:lnTo>
                <a:lnTo>
                  <a:pt x="0" y="72120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9094093" y="7620715"/>
            <a:ext cx="1013538" cy="1013538"/>
          </a:xfrm>
          <a:custGeom>
            <a:avLst/>
            <a:gdLst/>
            <a:ahLst/>
            <a:cxnLst/>
            <a:rect l="l" t="t" r="r" b="b"/>
            <a:pathLst>
              <a:path w="1013538" h="1013538">
                <a:moveTo>
                  <a:pt x="0" y="0"/>
                </a:moveTo>
                <a:lnTo>
                  <a:pt x="1013538" y="0"/>
                </a:lnTo>
                <a:lnTo>
                  <a:pt x="1013538" y="1013538"/>
                </a:lnTo>
                <a:lnTo>
                  <a:pt x="0" y="101353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1393310" y="4923294"/>
            <a:ext cx="1104468" cy="1719016"/>
          </a:xfrm>
          <a:custGeom>
            <a:avLst/>
            <a:gdLst/>
            <a:ahLst/>
            <a:cxnLst/>
            <a:rect l="l" t="t" r="r" b="b"/>
            <a:pathLst>
              <a:path w="1104468" h="1719016">
                <a:moveTo>
                  <a:pt x="0" y="0"/>
                </a:moveTo>
                <a:lnTo>
                  <a:pt x="1104468" y="0"/>
                </a:lnTo>
                <a:lnTo>
                  <a:pt x="1104468" y="1719016"/>
                </a:lnTo>
                <a:lnTo>
                  <a:pt x="0" y="171901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 rot="-3408427" flipV="1">
            <a:off x="8321459" y="4310007"/>
            <a:ext cx="1110715" cy="1003808"/>
          </a:xfrm>
          <a:custGeom>
            <a:avLst/>
            <a:gdLst/>
            <a:ahLst/>
            <a:cxnLst/>
            <a:rect l="l" t="t" r="r" b="b"/>
            <a:pathLst>
              <a:path w="1110715" h="1003808">
                <a:moveTo>
                  <a:pt x="0" y="1003808"/>
                </a:moveTo>
                <a:lnTo>
                  <a:pt x="1110715" y="1003808"/>
                </a:lnTo>
                <a:lnTo>
                  <a:pt x="1110715" y="0"/>
                </a:lnTo>
                <a:lnTo>
                  <a:pt x="0" y="0"/>
                </a:lnTo>
                <a:lnTo>
                  <a:pt x="0" y="1003808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4190666" y="6642310"/>
            <a:ext cx="1110715" cy="1003808"/>
          </a:xfrm>
          <a:custGeom>
            <a:avLst/>
            <a:gdLst/>
            <a:ahLst/>
            <a:cxnLst/>
            <a:rect l="l" t="t" r="r" b="b"/>
            <a:pathLst>
              <a:path w="1110715" h="1003808">
                <a:moveTo>
                  <a:pt x="0" y="0"/>
                </a:moveTo>
                <a:lnTo>
                  <a:pt x="1110714" y="0"/>
                </a:lnTo>
                <a:lnTo>
                  <a:pt x="1110714" y="1003808"/>
                </a:lnTo>
                <a:lnTo>
                  <a:pt x="0" y="100380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16946426" y="-417565"/>
            <a:ext cx="2683149" cy="835130"/>
          </a:xfrm>
          <a:custGeom>
            <a:avLst/>
            <a:gdLst/>
            <a:ahLst/>
            <a:cxnLst/>
            <a:rect l="l" t="t" r="r" b="b"/>
            <a:pathLst>
              <a:path w="2683149" h="835130">
                <a:moveTo>
                  <a:pt x="0" y="0"/>
                </a:moveTo>
                <a:lnTo>
                  <a:pt x="2683148" y="0"/>
                </a:lnTo>
                <a:lnTo>
                  <a:pt x="2683148" y="835130"/>
                </a:lnTo>
                <a:lnTo>
                  <a:pt x="0" y="83513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 flipH="1">
            <a:off x="-5367006" y="-1383193"/>
            <a:ext cx="7315200" cy="3425952"/>
          </a:xfrm>
          <a:custGeom>
            <a:avLst/>
            <a:gdLst/>
            <a:ahLst/>
            <a:cxnLst/>
            <a:rect l="l" t="t" r="r" b="b"/>
            <a:pathLst>
              <a:path w="7315200" h="3425952">
                <a:moveTo>
                  <a:pt x="7315200" y="0"/>
                </a:moveTo>
                <a:lnTo>
                  <a:pt x="0" y="0"/>
                </a:lnTo>
                <a:lnTo>
                  <a:pt x="0" y="3425952"/>
                </a:lnTo>
                <a:lnTo>
                  <a:pt x="7315200" y="3425952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 flipH="1">
            <a:off x="-5405648" y="9457960"/>
            <a:ext cx="7315200" cy="3425952"/>
          </a:xfrm>
          <a:custGeom>
            <a:avLst/>
            <a:gdLst/>
            <a:ahLst/>
            <a:cxnLst/>
            <a:rect l="l" t="t" r="r" b="b"/>
            <a:pathLst>
              <a:path w="7315200" h="3425952">
                <a:moveTo>
                  <a:pt x="7315200" y="0"/>
                </a:moveTo>
                <a:lnTo>
                  <a:pt x="0" y="0"/>
                </a:lnTo>
                <a:lnTo>
                  <a:pt x="0" y="3425952"/>
                </a:lnTo>
                <a:lnTo>
                  <a:pt x="7315200" y="3425952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17411476" y="9457960"/>
            <a:ext cx="1489099" cy="1219200"/>
          </a:xfrm>
          <a:custGeom>
            <a:avLst/>
            <a:gdLst/>
            <a:ahLst/>
            <a:cxnLst/>
            <a:rect l="l" t="t" r="r" b="b"/>
            <a:pathLst>
              <a:path w="1489099" h="1219200">
                <a:moveTo>
                  <a:pt x="0" y="0"/>
                </a:moveTo>
                <a:lnTo>
                  <a:pt x="1489099" y="0"/>
                </a:lnTo>
                <a:lnTo>
                  <a:pt x="1489099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1189722" y="7122688"/>
            <a:ext cx="3374697" cy="422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r">
              <a:lnSpc>
                <a:spcPts val="3599"/>
              </a:lnSpc>
            </a:pPr>
            <a:r>
              <a:rPr lang="en-US" altLang="zh-CN" sz="2399" b="1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Revenue</a:t>
            </a:r>
            <a:endParaRPr lang="en-US" sz="2399" b="1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189722" y="7771288"/>
            <a:ext cx="3374697" cy="28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99"/>
              </a:lnSpc>
              <a:spcBef>
                <a:spcPct val="0"/>
              </a:spcBef>
            </a:pPr>
            <a:r>
              <a:rPr lang="en-US" altLang="zh-CN" sz="1599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Annual target: 57.8 billion VND (~$220,000 USD / 7M TWD).</a:t>
            </a:r>
            <a:endParaRPr lang="en-US" sz="1599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3278041" y="4039859"/>
            <a:ext cx="3374697" cy="422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r">
              <a:lnSpc>
                <a:spcPts val="3599"/>
              </a:lnSpc>
            </a:pPr>
            <a:r>
              <a:rPr lang="en-US" altLang="zh-CN" sz="2399" b="1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Profit</a:t>
            </a:r>
            <a:endParaRPr lang="en-US" sz="2399" b="1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3278041" y="4688459"/>
            <a:ext cx="3374697" cy="28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99"/>
              </a:lnSpc>
              <a:spcBef>
                <a:spcPct val="0"/>
              </a:spcBef>
            </a:pPr>
            <a:r>
              <a:rPr lang="en-US" altLang="zh-CN" sz="1599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Achieve break-even by 2027 Q2, focusing on sustainable growth.</a:t>
            </a:r>
            <a:endParaRPr lang="en-US" sz="1599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0948558" y="7573090"/>
            <a:ext cx="3374697" cy="422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599"/>
              </a:lnSpc>
            </a:pPr>
            <a:r>
              <a:rPr lang="en-US" altLang="zh-CN" sz="2399" b="1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Core Svc</a:t>
            </a:r>
            <a:endParaRPr lang="en-US" sz="2399" b="1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0948558" y="8221690"/>
            <a:ext cx="3374697" cy="28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altLang="zh-CN" sz="1599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Siraya Service Fee (Salary + 10%) and Product Maintenance Fee (50-100K TWD/month).</a:t>
            </a:r>
            <a:endParaRPr lang="en-US" sz="1599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13723580" y="4347666"/>
            <a:ext cx="3374697" cy="422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599"/>
              </a:lnSpc>
            </a:pPr>
            <a:r>
              <a:rPr lang="en-US" altLang="zh-CN" sz="2399" b="1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Growth</a:t>
            </a:r>
            <a:endParaRPr lang="en-US" sz="2399" b="1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13723580" y="4996265"/>
            <a:ext cx="3374697" cy="28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altLang="zh-CN" sz="1599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Anti-Hijacking Commission (5-10%), TOMO AI HR (~$6K USD), Sky-Net GC (~$50K+ USD).</a:t>
            </a:r>
            <a:endParaRPr lang="en-US" sz="1599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3541977" y="1028700"/>
            <a:ext cx="11204046" cy="796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6480"/>
              </a:lnSpc>
              <a:spcBef>
                <a:spcPct val="0"/>
              </a:spcBef>
            </a:pPr>
            <a:r>
              <a:rPr lang="en-US" altLang="zh-CN" sz="5400" b="1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Revenue Targets</a:t>
            </a:r>
            <a:endParaRPr lang="en-US" sz="5400" b="1" u="none" strike="noStrike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6197472" y="4107344"/>
            <a:ext cx="2481824" cy="5076706"/>
            <a:chOff x="0" y="0"/>
            <a:chExt cx="660400" cy="135088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60400" cy="1350884"/>
            </a:xfrm>
            <a:custGeom>
              <a:avLst/>
              <a:gdLst/>
              <a:ahLst/>
              <a:cxnLst/>
              <a:rect l="l" t="t" r="r" b="b"/>
              <a:pathLst>
                <a:path w="660400" h="1350884">
                  <a:moveTo>
                    <a:pt x="220252" y="1331815"/>
                  </a:moveTo>
                  <a:cubicBezTo>
                    <a:pt x="254109" y="1343329"/>
                    <a:pt x="292600" y="1350884"/>
                    <a:pt x="330378" y="1350884"/>
                  </a:cubicBezTo>
                  <a:cubicBezTo>
                    <a:pt x="368157" y="1350884"/>
                    <a:pt x="404509" y="1344407"/>
                    <a:pt x="438009" y="1332893"/>
                  </a:cubicBezTo>
                  <a:cubicBezTo>
                    <a:pt x="438723" y="1332534"/>
                    <a:pt x="439435" y="1332534"/>
                    <a:pt x="440148" y="1332174"/>
                  </a:cubicBezTo>
                  <a:cubicBezTo>
                    <a:pt x="565955" y="1286119"/>
                    <a:pt x="658618" y="1164505"/>
                    <a:pt x="660400" y="1010430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1009680"/>
                  </a:lnTo>
                  <a:cubicBezTo>
                    <a:pt x="1782" y="1165224"/>
                    <a:pt x="93019" y="1286839"/>
                    <a:pt x="220252" y="1331815"/>
                  </a:cubicBezTo>
                  <a:close/>
                </a:path>
              </a:pathLst>
            </a:custGeom>
            <a:solidFill>
              <a:srgbClr val="5EA6B2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660400" cy="12619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790431" y="4107344"/>
            <a:ext cx="2481824" cy="5076706"/>
            <a:chOff x="0" y="0"/>
            <a:chExt cx="660400" cy="135088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60400" cy="1350884"/>
            </a:xfrm>
            <a:custGeom>
              <a:avLst/>
              <a:gdLst/>
              <a:ahLst/>
              <a:cxnLst/>
              <a:rect l="l" t="t" r="r" b="b"/>
              <a:pathLst>
                <a:path w="660400" h="1350884">
                  <a:moveTo>
                    <a:pt x="220252" y="1331815"/>
                  </a:moveTo>
                  <a:cubicBezTo>
                    <a:pt x="254109" y="1343329"/>
                    <a:pt x="292600" y="1350884"/>
                    <a:pt x="330378" y="1350884"/>
                  </a:cubicBezTo>
                  <a:cubicBezTo>
                    <a:pt x="368157" y="1350884"/>
                    <a:pt x="404509" y="1344407"/>
                    <a:pt x="438009" y="1332893"/>
                  </a:cubicBezTo>
                  <a:cubicBezTo>
                    <a:pt x="438723" y="1332534"/>
                    <a:pt x="439435" y="1332534"/>
                    <a:pt x="440148" y="1332174"/>
                  </a:cubicBezTo>
                  <a:cubicBezTo>
                    <a:pt x="565955" y="1286119"/>
                    <a:pt x="658618" y="1164505"/>
                    <a:pt x="660400" y="1010430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1009680"/>
                  </a:lnTo>
                  <a:cubicBezTo>
                    <a:pt x="1782" y="1165224"/>
                    <a:pt x="93019" y="1286839"/>
                    <a:pt x="220252" y="1331815"/>
                  </a:cubicBezTo>
                  <a:close/>
                </a:path>
              </a:pathLst>
            </a:custGeom>
            <a:solidFill>
              <a:srgbClr val="B9DB5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660400" cy="12619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sp>
        <p:nvSpPr>
          <p:cNvPr id="9" name="Freeform 9"/>
          <p:cNvSpPr/>
          <p:nvPr/>
        </p:nvSpPr>
        <p:spPr>
          <a:xfrm>
            <a:off x="2527848" y="4048364"/>
            <a:ext cx="3006990" cy="813445"/>
          </a:xfrm>
          <a:custGeom>
            <a:avLst/>
            <a:gdLst/>
            <a:ahLst/>
            <a:cxnLst/>
            <a:rect l="l" t="t" r="r" b="b"/>
            <a:pathLst>
              <a:path w="3006990" h="813445">
                <a:moveTo>
                  <a:pt x="0" y="0"/>
                </a:moveTo>
                <a:lnTo>
                  <a:pt x="3006990" y="0"/>
                </a:lnTo>
                <a:lnTo>
                  <a:pt x="3006990" y="813445"/>
                </a:lnTo>
                <a:lnTo>
                  <a:pt x="0" y="8134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107472"/>
            </a:stretch>
          </a:blipFill>
          <a:ln cap="sq">
            <a:noFill/>
            <a:prstDash val="solid"/>
            <a:miter/>
          </a:ln>
        </p:spPr>
      </p:sp>
      <p:sp>
        <p:nvSpPr>
          <p:cNvPr id="10" name="Freeform 10"/>
          <p:cNvSpPr/>
          <p:nvPr/>
        </p:nvSpPr>
        <p:spPr>
          <a:xfrm>
            <a:off x="5934888" y="4048364"/>
            <a:ext cx="3006990" cy="813445"/>
          </a:xfrm>
          <a:custGeom>
            <a:avLst/>
            <a:gdLst/>
            <a:ahLst/>
            <a:cxnLst/>
            <a:rect l="l" t="t" r="r" b="b"/>
            <a:pathLst>
              <a:path w="3006990" h="813445">
                <a:moveTo>
                  <a:pt x="0" y="0"/>
                </a:moveTo>
                <a:lnTo>
                  <a:pt x="3006991" y="0"/>
                </a:lnTo>
                <a:lnTo>
                  <a:pt x="3006991" y="813445"/>
                </a:lnTo>
                <a:lnTo>
                  <a:pt x="0" y="8134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107472"/>
            </a:stretch>
          </a:blipFill>
          <a:ln cap="sq">
            <a:noFill/>
            <a:prstDash val="solid"/>
            <a:miter/>
          </a:ln>
        </p:spPr>
      </p:sp>
      <p:sp>
        <p:nvSpPr>
          <p:cNvPr id="11" name="Freeform 11"/>
          <p:cNvSpPr/>
          <p:nvPr/>
        </p:nvSpPr>
        <p:spPr>
          <a:xfrm>
            <a:off x="3325680" y="7308626"/>
            <a:ext cx="1629194" cy="1629194"/>
          </a:xfrm>
          <a:custGeom>
            <a:avLst/>
            <a:gdLst/>
            <a:ahLst/>
            <a:cxnLst/>
            <a:rect l="l" t="t" r="r" b="b"/>
            <a:pathLst>
              <a:path w="1629194" h="1629194">
                <a:moveTo>
                  <a:pt x="0" y="0"/>
                </a:moveTo>
                <a:lnTo>
                  <a:pt x="1629194" y="0"/>
                </a:lnTo>
                <a:lnTo>
                  <a:pt x="1629194" y="1629194"/>
                </a:lnTo>
                <a:lnTo>
                  <a:pt x="0" y="162919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9604512" y="4107344"/>
            <a:ext cx="2481824" cy="5076706"/>
            <a:chOff x="0" y="0"/>
            <a:chExt cx="660400" cy="135088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60400" cy="1350884"/>
            </a:xfrm>
            <a:custGeom>
              <a:avLst/>
              <a:gdLst/>
              <a:ahLst/>
              <a:cxnLst/>
              <a:rect l="l" t="t" r="r" b="b"/>
              <a:pathLst>
                <a:path w="660400" h="1350884">
                  <a:moveTo>
                    <a:pt x="220252" y="1331815"/>
                  </a:moveTo>
                  <a:cubicBezTo>
                    <a:pt x="254109" y="1343329"/>
                    <a:pt x="292600" y="1350884"/>
                    <a:pt x="330378" y="1350884"/>
                  </a:cubicBezTo>
                  <a:cubicBezTo>
                    <a:pt x="368157" y="1350884"/>
                    <a:pt x="404509" y="1344407"/>
                    <a:pt x="438009" y="1332893"/>
                  </a:cubicBezTo>
                  <a:cubicBezTo>
                    <a:pt x="438723" y="1332534"/>
                    <a:pt x="439435" y="1332534"/>
                    <a:pt x="440148" y="1332174"/>
                  </a:cubicBezTo>
                  <a:cubicBezTo>
                    <a:pt x="565955" y="1286119"/>
                    <a:pt x="658618" y="1164505"/>
                    <a:pt x="660400" y="1010430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1009680"/>
                  </a:lnTo>
                  <a:cubicBezTo>
                    <a:pt x="1782" y="1165224"/>
                    <a:pt x="93019" y="1286839"/>
                    <a:pt x="220252" y="1331815"/>
                  </a:cubicBezTo>
                  <a:close/>
                </a:path>
              </a:pathLst>
            </a:custGeom>
            <a:solidFill>
              <a:srgbClr val="10AD5D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660400" cy="12619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3011553" y="4107344"/>
            <a:ext cx="2481824" cy="5076706"/>
            <a:chOff x="0" y="0"/>
            <a:chExt cx="660400" cy="135088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60400" cy="1350884"/>
            </a:xfrm>
            <a:custGeom>
              <a:avLst/>
              <a:gdLst/>
              <a:ahLst/>
              <a:cxnLst/>
              <a:rect l="l" t="t" r="r" b="b"/>
              <a:pathLst>
                <a:path w="660400" h="1350884">
                  <a:moveTo>
                    <a:pt x="220252" y="1331815"/>
                  </a:moveTo>
                  <a:cubicBezTo>
                    <a:pt x="254109" y="1343329"/>
                    <a:pt x="292600" y="1350884"/>
                    <a:pt x="330378" y="1350884"/>
                  </a:cubicBezTo>
                  <a:cubicBezTo>
                    <a:pt x="368157" y="1350884"/>
                    <a:pt x="404509" y="1344407"/>
                    <a:pt x="438009" y="1332893"/>
                  </a:cubicBezTo>
                  <a:cubicBezTo>
                    <a:pt x="438723" y="1332534"/>
                    <a:pt x="439435" y="1332534"/>
                    <a:pt x="440148" y="1332174"/>
                  </a:cubicBezTo>
                  <a:cubicBezTo>
                    <a:pt x="565955" y="1286119"/>
                    <a:pt x="658618" y="1164505"/>
                    <a:pt x="660400" y="1010430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1009680"/>
                  </a:lnTo>
                  <a:cubicBezTo>
                    <a:pt x="1782" y="1165224"/>
                    <a:pt x="93019" y="1286839"/>
                    <a:pt x="220252" y="1331815"/>
                  </a:cubicBezTo>
                  <a:close/>
                </a:path>
              </a:pathLst>
            </a:custGeom>
            <a:solidFill>
              <a:srgbClr val="3A7377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660400" cy="12619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sp>
        <p:nvSpPr>
          <p:cNvPr id="18" name="Freeform 18"/>
          <p:cNvSpPr/>
          <p:nvPr/>
        </p:nvSpPr>
        <p:spPr>
          <a:xfrm>
            <a:off x="9341929" y="4048364"/>
            <a:ext cx="3006990" cy="813445"/>
          </a:xfrm>
          <a:custGeom>
            <a:avLst/>
            <a:gdLst/>
            <a:ahLst/>
            <a:cxnLst/>
            <a:rect l="l" t="t" r="r" b="b"/>
            <a:pathLst>
              <a:path w="3006990" h="813445">
                <a:moveTo>
                  <a:pt x="0" y="0"/>
                </a:moveTo>
                <a:lnTo>
                  <a:pt x="3006990" y="0"/>
                </a:lnTo>
                <a:lnTo>
                  <a:pt x="3006990" y="813445"/>
                </a:lnTo>
                <a:lnTo>
                  <a:pt x="0" y="8134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107472"/>
            </a:stretch>
          </a:blipFill>
          <a:ln cap="sq">
            <a:noFill/>
            <a:prstDash val="solid"/>
            <a:miter/>
          </a:ln>
        </p:spPr>
      </p:sp>
      <p:sp>
        <p:nvSpPr>
          <p:cNvPr id="19" name="Freeform 19"/>
          <p:cNvSpPr/>
          <p:nvPr/>
        </p:nvSpPr>
        <p:spPr>
          <a:xfrm>
            <a:off x="12748969" y="4048364"/>
            <a:ext cx="3006990" cy="813445"/>
          </a:xfrm>
          <a:custGeom>
            <a:avLst/>
            <a:gdLst/>
            <a:ahLst/>
            <a:cxnLst/>
            <a:rect l="l" t="t" r="r" b="b"/>
            <a:pathLst>
              <a:path w="3006990" h="813445">
                <a:moveTo>
                  <a:pt x="0" y="0"/>
                </a:moveTo>
                <a:lnTo>
                  <a:pt x="3006991" y="0"/>
                </a:lnTo>
                <a:lnTo>
                  <a:pt x="3006991" y="813445"/>
                </a:lnTo>
                <a:lnTo>
                  <a:pt x="0" y="8134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107472"/>
            </a:stretch>
          </a:blipFill>
          <a:ln cap="sq">
            <a:noFill/>
            <a:prstDash val="solid"/>
            <a:miter/>
          </a:ln>
        </p:spPr>
      </p:sp>
      <p:sp>
        <p:nvSpPr>
          <p:cNvPr id="20" name="Freeform 20"/>
          <p:cNvSpPr/>
          <p:nvPr/>
        </p:nvSpPr>
        <p:spPr>
          <a:xfrm>
            <a:off x="13583857" y="7308626"/>
            <a:ext cx="1629194" cy="1629194"/>
          </a:xfrm>
          <a:custGeom>
            <a:avLst/>
            <a:gdLst/>
            <a:ahLst/>
            <a:cxnLst/>
            <a:rect l="l" t="t" r="r" b="b"/>
            <a:pathLst>
              <a:path w="1629194" h="1629194">
                <a:moveTo>
                  <a:pt x="0" y="0"/>
                </a:moveTo>
                <a:lnTo>
                  <a:pt x="1629194" y="0"/>
                </a:lnTo>
                <a:lnTo>
                  <a:pt x="1629194" y="1629194"/>
                </a:lnTo>
                <a:lnTo>
                  <a:pt x="0" y="162919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50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0176817" y="7308626"/>
            <a:ext cx="1629194" cy="1629194"/>
          </a:xfrm>
          <a:custGeom>
            <a:avLst/>
            <a:gdLst/>
            <a:ahLst/>
            <a:cxnLst/>
            <a:rect l="l" t="t" r="r" b="b"/>
            <a:pathLst>
              <a:path w="1629194" h="1629194">
                <a:moveTo>
                  <a:pt x="0" y="0"/>
                </a:moveTo>
                <a:lnTo>
                  <a:pt x="1629194" y="0"/>
                </a:lnTo>
                <a:lnTo>
                  <a:pt x="1629194" y="1629194"/>
                </a:lnTo>
                <a:lnTo>
                  <a:pt x="0" y="162919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50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6771744" y="7308626"/>
            <a:ext cx="1629194" cy="1629194"/>
          </a:xfrm>
          <a:custGeom>
            <a:avLst/>
            <a:gdLst/>
            <a:ahLst/>
            <a:cxnLst/>
            <a:rect l="l" t="t" r="r" b="b"/>
            <a:pathLst>
              <a:path w="1629194" h="1629194">
                <a:moveTo>
                  <a:pt x="0" y="0"/>
                </a:moveTo>
                <a:lnTo>
                  <a:pt x="1629194" y="0"/>
                </a:lnTo>
                <a:lnTo>
                  <a:pt x="1629194" y="1629194"/>
                </a:lnTo>
                <a:lnTo>
                  <a:pt x="0" y="162919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50000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grpSp>
        <p:nvGrpSpPr>
          <p:cNvPr id="23" name="Group 23"/>
          <p:cNvGrpSpPr/>
          <p:nvPr/>
        </p:nvGrpSpPr>
        <p:grpSpPr>
          <a:xfrm>
            <a:off x="2527848" y="3849807"/>
            <a:ext cx="3011183" cy="448037"/>
            <a:chOff x="0" y="0"/>
            <a:chExt cx="972175" cy="144651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972175" cy="144651"/>
            </a:xfrm>
            <a:custGeom>
              <a:avLst/>
              <a:gdLst/>
              <a:ahLst/>
              <a:cxnLst/>
              <a:rect l="l" t="t" r="r" b="b"/>
              <a:pathLst>
                <a:path w="972175" h="144651">
                  <a:moveTo>
                    <a:pt x="53992" y="0"/>
                  </a:moveTo>
                  <a:lnTo>
                    <a:pt x="918183" y="0"/>
                  </a:lnTo>
                  <a:cubicBezTo>
                    <a:pt x="948002" y="0"/>
                    <a:pt x="972175" y="24173"/>
                    <a:pt x="972175" y="53992"/>
                  </a:cubicBezTo>
                  <a:lnTo>
                    <a:pt x="972175" y="90659"/>
                  </a:lnTo>
                  <a:cubicBezTo>
                    <a:pt x="972175" y="120478"/>
                    <a:pt x="948002" y="144651"/>
                    <a:pt x="918183" y="144651"/>
                  </a:cubicBezTo>
                  <a:lnTo>
                    <a:pt x="53992" y="144651"/>
                  </a:lnTo>
                  <a:cubicBezTo>
                    <a:pt x="24173" y="144651"/>
                    <a:pt x="0" y="120478"/>
                    <a:pt x="0" y="90659"/>
                  </a:cubicBezTo>
                  <a:lnTo>
                    <a:pt x="0" y="53992"/>
                  </a:lnTo>
                  <a:cubicBezTo>
                    <a:pt x="0" y="24173"/>
                    <a:pt x="24173" y="0"/>
                    <a:pt x="5399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972175" cy="1827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771744" y="7308626"/>
            <a:ext cx="1337472" cy="1337472"/>
            <a:chOff x="0" y="0"/>
            <a:chExt cx="812800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934888" y="3849807"/>
            <a:ext cx="3011183" cy="448037"/>
            <a:chOff x="0" y="0"/>
            <a:chExt cx="972175" cy="144651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972175" cy="144651"/>
            </a:xfrm>
            <a:custGeom>
              <a:avLst/>
              <a:gdLst/>
              <a:ahLst/>
              <a:cxnLst/>
              <a:rect l="l" t="t" r="r" b="b"/>
              <a:pathLst>
                <a:path w="972175" h="144651">
                  <a:moveTo>
                    <a:pt x="53992" y="0"/>
                  </a:moveTo>
                  <a:lnTo>
                    <a:pt x="918183" y="0"/>
                  </a:lnTo>
                  <a:cubicBezTo>
                    <a:pt x="948002" y="0"/>
                    <a:pt x="972175" y="24173"/>
                    <a:pt x="972175" y="53992"/>
                  </a:cubicBezTo>
                  <a:lnTo>
                    <a:pt x="972175" y="90659"/>
                  </a:lnTo>
                  <a:cubicBezTo>
                    <a:pt x="972175" y="120478"/>
                    <a:pt x="948002" y="144651"/>
                    <a:pt x="918183" y="144651"/>
                  </a:cubicBezTo>
                  <a:lnTo>
                    <a:pt x="53992" y="144651"/>
                  </a:lnTo>
                  <a:cubicBezTo>
                    <a:pt x="24173" y="144651"/>
                    <a:pt x="0" y="120478"/>
                    <a:pt x="0" y="90659"/>
                  </a:cubicBezTo>
                  <a:lnTo>
                    <a:pt x="0" y="53992"/>
                  </a:lnTo>
                  <a:cubicBezTo>
                    <a:pt x="0" y="24173"/>
                    <a:pt x="24173" y="0"/>
                    <a:pt x="5399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972175" cy="1827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0178784" y="7308626"/>
            <a:ext cx="1337472" cy="1337472"/>
            <a:chOff x="0" y="0"/>
            <a:chExt cx="812800" cy="8128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9341929" y="3849807"/>
            <a:ext cx="3011183" cy="448037"/>
            <a:chOff x="0" y="0"/>
            <a:chExt cx="972175" cy="144651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972175" cy="144651"/>
            </a:xfrm>
            <a:custGeom>
              <a:avLst/>
              <a:gdLst/>
              <a:ahLst/>
              <a:cxnLst/>
              <a:rect l="l" t="t" r="r" b="b"/>
              <a:pathLst>
                <a:path w="972175" h="144651">
                  <a:moveTo>
                    <a:pt x="53992" y="0"/>
                  </a:moveTo>
                  <a:lnTo>
                    <a:pt x="918183" y="0"/>
                  </a:lnTo>
                  <a:cubicBezTo>
                    <a:pt x="948002" y="0"/>
                    <a:pt x="972175" y="24173"/>
                    <a:pt x="972175" y="53992"/>
                  </a:cubicBezTo>
                  <a:lnTo>
                    <a:pt x="972175" y="90659"/>
                  </a:lnTo>
                  <a:cubicBezTo>
                    <a:pt x="972175" y="120478"/>
                    <a:pt x="948002" y="144651"/>
                    <a:pt x="918183" y="144651"/>
                  </a:cubicBezTo>
                  <a:lnTo>
                    <a:pt x="53992" y="144651"/>
                  </a:lnTo>
                  <a:cubicBezTo>
                    <a:pt x="24173" y="144651"/>
                    <a:pt x="0" y="120478"/>
                    <a:pt x="0" y="90659"/>
                  </a:cubicBezTo>
                  <a:lnTo>
                    <a:pt x="0" y="53992"/>
                  </a:lnTo>
                  <a:cubicBezTo>
                    <a:pt x="0" y="24173"/>
                    <a:pt x="24173" y="0"/>
                    <a:pt x="5399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972175" cy="1827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3585825" y="7308626"/>
            <a:ext cx="1337472" cy="1337472"/>
            <a:chOff x="0" y="0"/>
            <a:chExt cx="812800" cy="8128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0" name="TextBox 4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2748969" y="3849807"/>
            <a:ext cx="3011183" cy="448037"/>
            <a:chOff x="0" y="0"/>
            <a:chExt cx="972175" cy="144651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972175" cy="144651"/>
            </a:xfrm>
            <a:custGeom>
              <a:avLst/>
              <a:gdLst/>
              <a:ahLst/>
              <a:cxnLst/>
              <a:rect l="l" t="t" r="r" b="b"/>
              <a:pathLst>
                <a:path w="972175" h="144651">
                  <a:moveTo>
                    <a:pt x="53992" y="0"/>
                  </a:moveTo>
                  <a:lnTo>
                    <a:pt x="918183" y="0"/>
                  </a:lnTo>
                  <a:cubicBezTo>
                    <a:pt x="948002" y="0"/>
                    <a:pt x="972175" y="24173"/>
                    <a:pt x="972175" y="53992"/>
                  </a:cubicBezTo>
                  <a:lnTo>
                    <a:pt x="972175" y="90659"/>
                  </a:lnTo>
                  <a:cubicBezTo>
                    <a:pt x="972175" y="120478"/>
                    <a:pt x="948002" y="144651"/>
                    <a:pt x="918183" y="144651"/>
                  </a:cubicBezTo>
                  <a:lnTo>
                    <a:pt x="53992" y="144651"/>
                  </a:lnTo>
                  <a:cubicBezTo>
                    <a:pt x="24173" y="144651"/>
                    <a:pt x="0" y="120478"/>
                    <a:pt x="0" y="90659"/>
                  </a:cubicBezTo>
                  <a:lnTo>
                    <a:pt x="0" y="53992"/>
                  </a:lnTo>
                  <a:cubicBezTo>
                    <a:pt x="0" y="24173"/>
                    <a:pt x="24173" y="0"/>
                    <a:pt x="5399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3" name="TextBox 43"/>
            <p:cNvSpPr txBox="1"/>
            <p:nvPr/>
          </p:nvSpPr>
          <p:spPr>
            <a:xfrm>
              <a:off x="0" y="-38100"/>
              <a:ext cx="972175" cy="1827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3364703" y="7308626"/>
            <a:ext cx="1337472" cy="1337472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6" name="TextBox 4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sp>
        <p:nvSpPr>
          <p:cNvPr id="47" name="Freeform 47"/>
          <p:cNvSpPr/>
          <p:nvPr/>
        </p:nvSpPr>
        <p:spPr>
          <a:xfrm>
            <a:off x="3679944" y="7623867"/>
            <a:ext cx="706990" cy="706990"/>
          </a:xfrm>
          <a:custGeom>
            <a:avLst/>
            <a:gdLst/>
            <a:ahLst/>
            <a:cxnLst/>
            <a:rect l="l" t="t" r="r" b="b"/>
            <a:pathLst>
              <a:path w="706990" h="706990">
                <a:moveTo>
                  <a:pt x="0" y="0"/>
                </a:moveTo>
                <a:lnTo>
                  <a:pt x="706990" y="0"/>
                </a:lnTo>
                <a:lnTo>
                  <a:pt x="706990" y="706990"/>
                </a:lnTo>
                <a:lnTo>
                  <a:pt x="0" y="70699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48" name="Freeform 48"/>
          <p:cNvSpPr/>
          <p:nvPr/>
        </p:nvSpPr>
        <p:spPr>
          <a:xfrm>
            <a:off x="7080108" y="7629603"/>
            <a:ext cx="720743" cy="695517"/>
          </a:xfrm>
          <a:custGeom>
            <a:avLst/>
            <a:gdLst/>
            <a:ahLst/>
            <a:cxnLst/>
            <a:rect l="l" t="t" r="r" b="b"/>
            <a:pathLst>
              <a:path w="720743" h="695517">
                <a:moveTo>
                  <a:pt x="0" y="0"/>
                </a:moveTo>
                <a:lnTo>
                  <a:pt x="720743" y="0"/>
                </a:lnTo>
                <a:lnTo>
                  <a:pt x="720743" y="695517"/>
                </a:lnTo>
                <a:lnTo>
                  <a:pt x="0" y="695517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49" name="Freeform 49"/>
          <p:cNvSpPr/>
          <p:nvPr/>
        </p:nvSpPr>
        <p:spPr>
          <a:xfrm>
            <a:off x="10517658" y="7647500"/>
            <a:ext cx="659725" cy="659725"/>
          </a:xfrm>
          <a:custGeom>
            <a:avLst/>
            <a:gdLst/>
            <a:ahLst/>
            <a:cxnLst/>
            <a:rect l="l" t="t" r="r" b="b"/>
            <a:pathLst>
              <a:path w="659725" h="659725">
                <a:moveTo>
                  <a:pt x="0" y="0"/>
                </a:moveTo>
                <a:lnTo>
                  <a:pt x="659725" y="0"/>
                </a:lnTo>
                <a:lnTo>
                  <a:pt x="659725" y="659724"/>
                </a:lnTo>
                <a:lnTo>
                  <a:pt x="0" y="659724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  <p:sp>
        <p:nvSpPr>
          <p:cNvPr id="50" name="Freeform 50"/>
          <p:cNvSpPr/>
          <p:nvPr/>
        </p:nvSpPr>
        <p:spPr>
          <a:xfrm>
            <a:off x="13987834" y="7562223"/>
            <a:ext cx="533454" cy="830279"/>
          </a:xfrm>
          <a:custGeom>
            <a:avLst/>
            <a:gdLst/>
            <a:ahLst/>
            <a:cxnLst/>
            <a:rect l="l" t="t" r="r" b="b"/>
            <a:pathLst>
              <a:path w="533454" h="830279">
                <a:moveTo>
                  <a:pt x="0" y="0"/>
                </a:moveTo>
                <a:lnTo>
                  <a:pt x="533454" y="0"/>
                </a:lnTo>
                <a:lnTo>
                  <a:pt x="533454" y="830278"/>
                </a:lnTo>
                <a:lnTo>
                  <a:pt x="0" y="830278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</p:sp>
      <p:sp>
        <p:nvSpPr>
          <p:cNvPr id="51" name="Freeform 51"/>
          <p:cNvSpPr/>
          <p:nvPr/>
        </p:nvSpPr>
        <p:spPr>
          <a:xfrm>
            <a:off x="-386933" y="8937820"/>
            <a:ext cx="1854543" cy="1349180"/>
          </a:xfrm>
          <a:custGeom>
            <a:avLst/>
            <a:gdLst/>
            <a:ahLst/>
            <a:cxnLst/>
            <a:rect l="l" t="t" r="r" b="b"/>
            <a:pathLst>
              <a:path w="1854543" h="1349180">
                <a:moveTo>
                  <a:pt x="0" y="0"/>
                </a:moveTo>
                <a:lnTo>
                  <a:pt x="1854543" y="0"/>
                </a:lnTo>
                <a:lnTo>
                  <a:pt x="1854543" y="1349180"/>
                </a:lnTo>
                <a:lnTo>
                  <a:pt x="0" y="1349180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</p:spPr>
      </p:sp>
      <p:sp>
        <p:nvSpPr>
          <p:cNvPr id="52" name="Freeform 52"/>
          <p:cNvSpPr/>
          <p:nvPr/>
        </p:nvSpPr>
        <p:spPr>
          <a:xfrm flipH="1">
            <a:off x="-5367006" y="-1383193"/>
            <a:ext cx="7315200" cy="3425952"/>
          </a:xfrm>
          <a:custGeom>
            <a:avLst/>
            <a:gdLst/>
            <a:ahLst/>
            <a:cxnLst/>
            <a:rect l="l" t="t" r="r" b="b"/>
            <a:pathLst>
              <a:path w="7315200" h="3425952">
                <a:moveTo>
                  <a:pt x="7315200" y="0"/>
                </a:moveTo>
                <a:lnTo>
                  <a:pt x="0" y="0"/>
                </a:lnTo>
                <a:lnTo>
                  <a:pt x="0" y="3425952"/>
                </a:lnTo>
                <a:lnTo>
                  <a:pt x="7315200" y="3425952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a:blipFill>
        </p:spPr>
      </p:sp>
      <p:sp>
        <p:nvSpPr>
          <p:cNvPr id="53" name="Freeform 53"/>
          <p:cNvSpPr/>
          <p:nvPr/>
        </p:nvSpPr>
        <p:spPr>
          <a:xfrm flipH="1">
            <a:off x="16912072" y="9483066"/>
            <a:ext cx="7315200" cy="3425952"/>
          </a:xfrm>
          <a:custGeom>
            <a:avLst/>
            <a:gdLst/>
            <a:ahLst/>
            <a:cxnLst/>
            <a:rect l="l" t="t" r="r" b="b"/>
            <a:pathLst>
              <a:path w="7315200" h="3425952">
                <a:moveTo>
                  <a:pt x="7315200" y="0"/>
                </a:moveTo>
                <a:lnTo>
                  <a:pt x="0" y="0"/>
                </a:lnTo>
                <a:lnTo>
                  <a:pt x="0" y="3425952"/>
                </a:lnTo>
                <a:lnTo>
                  <a:pt x="7315200" y="3425952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a:blipFill>
        </p:spPr>
      </p:sp>
      <p:sp>
        <p:nvSpPr>
          <p:cNvPr id="54" name="Freeform 54"/>
          <p:cNvSpPr/>
          <p:nvPr/>
        </p:nvSpPr>
        <p:spPr>
          <a:xfrm flipV="1">
            <a:off x="16165514" y="-2634240"/>
            <a:ext cx="7315200" cy="3425952"/>
          </a:xfrm>
          <a:custGeom>
            <a:avLst/>
            <a:gdLst/>
            <a:ahLst/>
            <a:cxnLst/>
            <a:rect l="l" t="t" r="r" b="b"/>
            <a:pathLst>
              <a:path w="7315200" h="3425952">
                <a:moveTo>
                  <a:pt x="0" y="3425952"/>
                </a:moveTo>
                <a:lnTo>
                  <a:pt x="7315200" y="3425952"/>
                </a:lnTo>
                <a:lnTo>
                  <a:pt x="7315200" y="0"/>
                </a:lnTo>
                <a:lnTo>
                  <a:pt x="0" y="0"/>
                </a:lnTo>
                <a:lnTo>
                  <a:pt x="0" y="3425952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a:blipFill>
        </p:spPr>
      </p:sp>
      <p:sp>
        <p:nvSpPr>
          <p:cNvPr id="55" name="TextBox 55"/>
          <p:cNvSpPr txBox="1"/>
          <p:nvPr/>
        </p:nvSpPr>
        <p:spPr>
          <a:xfrm>
            <a:off x="3150598" y="4545877"/>
            <a:ext cx="1765682" cy="839012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marL="0" lvl="1" indent="0" algn="ctr">
              <a:lnSpc>
                <a:spcPts val="3359"/>
              </a:lnSpc>
              <a:spcBef>
                <a:spcPct val="0"/>
              </a:spcBef>
            </a:pPr>
            <a:r>
              <a:rPr lang="en-US" altLang="zh-CN" sz="2399" b="1" spc="76" dirty="0">
                <a:solidFill>
                  <a:srgbClr val="FFFFFF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Budget</a:t>
            </a:r>
            <a:endParaRPr lang="en-US" sz="2399" b="1" spc="76" dirty="0">
              <a:solidFill>
                <a:srgbClr val="FFFFFF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56" name="TextBox 56"/>
          <p:cNvSpPr txBox="1"/>
          <p:nvPr/>
        </p:nvSpPr>
        <p:spPr>
          <a:xfrm>
            <a:off x="3150598" y="5477701"/>
            <a:ext cx="1765682" cy="233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57"/>
              </a:lnSpc>
              <a:spcBef>
                <a:spcPct val="0"/>
              </a:spcBef>
            </a:pPr>
            <a:r>
              <a:rPr lang="en-US" altLang="zh-CN" sz="1305" dirty="0">
                <a:solidFill>
                  <a:srgbClr val="FFFFFF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Spending limit: 57.8B VND, doubling 2025's budget for aggressive growth.</a:t>
            </a:r>
            <a:endParaRPr lang="en-US" sz="1305" dirty="0">
              <a:solidFill>
                <a:srgbClr val="FFFFFF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57" name="TextBox 57"/>
          <p:cNvSpPr txBox="1"/>
          <p:nvPr/>
        </p:nvSpPr>
        <p:spPr>
          <a:xfrm>
            <a:off x="6557639" y="4545877"/>
            <a:ext cx="1765682" cy="839012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marL="0" lvl="1" indent="0" algn="ctr">
              <a:lnSpc>
                <a:spcPts val="3359"/>
              </a:lnSpc>
              <a:spcBef>
                <a:spcPct val="0"/>
              </a:spcBef>
            </a:pPr>
            <a:r>
              <a:rPr lang="en-US" altLang="zh-CN" sz="2399" b="1" spc="76" dirty="0">
                <a:solidFill>
                  <a:srgbClr val="FFFFFF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Costs</a:t>
            </a:r>
            <a:endParaRPr lang="en-US" sz="2399" b="1" spc="76" dirty="0">
              <a:solidFill>
                <a:srgbClr val="FFFFFF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58" name="TextBox 58"/>
          <p:cNvSpPr txBox="1"/>
          <p:nvPr/>
        </p:nvSpPr>
        <p:spPr>
          <a:xfrm>
            <a:off x="6557639" y="5477701"/>
            <a:ext cx="1765682" cy="490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57"/>
              </a:lnSpc>
              <a:spcBef>
                <a:spcPct val="0"/>
              </a:spcBef>
            </a:pPr>
            <a:r>
              <a:rPr lang="en-US" altLang="zh-CN" sz="1305" dirty="0">
                <a:solidFill>
                  <a:srgbClr val="FFFFFF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Personnel costs for 15 people estimated at ~50B VND/year. Operating costs ~7B VND/year.</a:t>
            </a:r>
            <a:endParaRPr lang="en-US" sz="1305" dirty="0">
              <a:solidFill>
                <a:srgbClr val="FFFFFF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59" name="TextBox 59"/>
          <p:cNvSpPr txBox="1"/>
          <p:nvPr/>
        </p:nvSpPr>
        <p:spPr>
          <a:xfrm>
            <a:off x="9964679" y="4545877"/>
            <a:ext cx="1765682" cy="839012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marL="0" lvl="1" indent="0" algn="ctr">
              <a:lnSpc>
                <a:spcPts val="3359"/>
              </a:lnSpc>
              <a:spcBef>
                <a:spcPct val="0"/>
              </a:spcBef>
            </a:pPr>
            <a:r>
              <a:rPr lang="en-US" altLang="zh-CN" sz="2399" b="1" spc="76" dirty="0">
                <a:solidFill>
                  <a:srgbClr val="FFFFFF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Cases</a:t>
            </a:r>
            <a:endParaRPr lang="en-US" sz="2399" b="1" spc="76" dirty="0">
              <a:solidFill>
                <a:srgbClr val="FFFFFF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60" name="TextBox 60"/>
          <p:cNvSpPr txBox="1"/>
          <p:nvPr/>
        </p:nvSpPr>
        <p:spPr>
          <a:xfrm>
            <a:off x="9964679" y="5477701"/>
            <a:ext cx="1765682" cy="490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57"/>
              </a:lnSpc>
              <a:spcBef>
                <a:spcPct val="0"/>
              </a:spcBef>
            </a:pPr>
            <a:r>
              <a:rPr lang="en-US" altLang="zh-CN" sz="1305" dirty="0">
                <a:solidFill>
                  <a:srgbClr val="FFFFFF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Conservative scenario: 24B revenue leading to -33B loss. Commission model: 60B revenue potentially yielding +3B profit.</a:t>
            </a:r>
            <a:endParaRPr lang="en-US" sz="1305" dirty="0">
              <a:solidFill>
                <a:srgbClr val="FFFFFF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61" name="TextBox 61"/>
          <p:cNvSpPr txBox="1"/>
          <p:nvPr/>
        </p:nvSpPr>
        <p:spPr>
          <a:xfrm>
            <a:off x="13371719" y="4545877"/>
            <a:ext cx="1765682" cy="839012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marL="0" lvl="1" indent="0" algn="ctr">
              <a:lnSpc>
                <a:spcPts val="3359"/>
              </a:lnSpc>
              <a:spcBef>
                <a:spcPct val="0"/>
              </a:spcBef>
            </a:pPr>
            <a:r>
              <a:rPr lang="en-US" altLang="zh-CN" sz="2399" b="1" spc="76" dirty="0">
                <a:solidFill>
                  <a:srgbClr val="FFFFFF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Strategy</a:t>
            </a:r>
            <a:endParaRPr lang="en-US" sz="2399" b="1" spc="76" dirty="0">
              <a:solidFill>
                <a:srgbClr val="FFFFFF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62" name="TextBox 62"/>
          <p:cNvSpPr txBox="1"/>
          <p:nvPr/>
        </p:nvSpPr>
        <p:spPr>
          <a:xfrm>
            <a:off x="13371719" y="5477701"/>
            <a:ext cx="1765682" cy="490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57"/>
              </a:lnSpc>
              <a:spcBef>
                <a:spcPct val="0"/>
              </a:spcBef>
            </a:pPr>
            <a:r>
              <a:rPr lang="en-US" altLang="zh-CN" sz="1305" dirty="0">
                <a:solidFill>
                  <a:srgbClr val="FFFFFF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Actively push the commission model to achieve financial break-even by target.</a:t>
            </a:r>
            <a:endParaRPr lang="en-US" sz="1305" dirty="0">
              <a:solidFill>
                <a:srgbClr val="FFFFFF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63" name="TextBox 63"/>
          <p:cNvSpPr txBox="1"/>
          <p:nvPr/>
        </p:nvSpPr>
        <p:spPr>
          <a:xfrm>
            <a:off x="3541977" y="1028700"/>
            <a:ext cx="11204046" cy="796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6480"/>
              </a:lnSpc>
              <a:spcBef>
                <a:spcPct val="0"/>
              </a:spcBef>
            </a:pPr>
            <a:r>
              <a:rPr lang="en-US" altLang="zh-CN" sz="5400" b="1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Budget &amp; P/L</a:t>
            </a:r>
            <a:endParaRPr lang="en-US" sz="5400" b="1" u="none" strike="noStrike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5652112"/>
            <a:ext cx="18288000" cy="4634888"/>
            <a:chOff x="0" y="0"/>
            <a:chExt cx="4816593" cy="122071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1220711"/>
            </a:xfrm>
            <a:custGeom>
              <a:avLst/>
              <a:gdLst/>
              <a:ahLst/>
              <a:cxnLst/>
              <a:rect l="l" t="t" r="r" b="b"/>
              <a:pathLst>
                <a:path w="4816592" h="1220711">
                  <a:moveTo>
                    <a:pt x="0" y="0"/>
                  </a:moveTo>
                  <a:lnTo>
                    <a:pt x="4816592" y="0"/>
                  </a:lnTo>
                  <a:lnTo>
                    <a:pt x="4816592" y="1220711"/>
                  </a:lnTo>
                  <a:lnTo>
                    <a:pt x="0" y="1220711"/>
                  </a:lnTo>
                  <a:close/>
                </a:path>
              </a:pathLst>
            </a:custGeom>
            <a:solidFill>
              <a:srgbClr val="10AD5D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12588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399"/>
                </a:lnSpc>
                <a:spcBef>
                  <a:spcPct val="0"/>
                </a:spcBef>
              </a:pPr>
              <a:endParaRPr>
                <a:latin typeface="Montserrat" pitchFamily="2" charset="77"/>
              </a:endParaRPr>
            </a:p>
          </p:txBody>
        </p:sp>
      </p:grpSp>
      <p:sp>
        <p:nvSpPr>
          <p:cNvPr id="6" name="Freeform 6"/>
          <p:cNvSpPr/>
          <p:nvPr/>
        </p:nvSpPr>
        <p:spPr>
          <a:xfrm>
            <a:off x="11449568" y="613733"/>
            <a:ext cx="4969101" cy="5038379"/>
          </a:xfrm>
          <a:custGeom>
            <a:avLst/>
            <a:gdLst/>
            <a:ahLst/>
            <a:cxnLst/>
            <a:rect l="l" t="t" r="r" b="b"/>
            <a:pathLst>
              <a:path w="4969101" h="5038379">
                <a:moveTo>
                  <a:pt x="0" y="0"/>
                </a:moveTo>
                <a:lnTo>
                  <a:pt x="4969100" y="0"/>
                </a:lnTo>
                <a:lnTo>
                  <a:pt x="4969100" y="5038379"/>
                </a:lnTo>
                <a:lnTo>
                  <a:pt x="0" y="50383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7" name="Group 7"/>
          <p:cNvGrpSpPr/>
          <p:nvPr/>
        </p:nvGrpSpPr>
        <p:grpSpPr>
          <a:xfrm>
            <a:off x="1908068" y="6286403"/>
            <a:ext cx="1245141" cy="1245141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9952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901929" y="6286403"/>
            <a:ext cx="1245141" cy="1245141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9952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sp>
        <p:nvSpPr>
          <p:cNvPr id="13" name="Freeform 13"/>
          <p:cNvSpPr/>
          <p:nvPr/>
        </p:nvSpPr>
        <p:spPr>
          <a:xfrm>
            <a:off x="2269605" y="6630596"/>
            <a:ext cx="522066" cy="522066"/>
          </a:xfrm>
          <a:custGeom>
            <a:avLst/>
            <a:gdLst/>
            <a:ahLst/>
            <a:cxnLst/>
            <a:rect l="l" t="t" r="r" b="b"/>
            <a:pathLst>
              <a:path w="522066" h="522066">
                <a:moveTo>
                  <a:pt x="0" y="0"/>
                </a:moveTo>
                <a:lnTo>
                  <a:pt x="522066" y="0"/>
                </a:lnTo>
                <a:lnTo>
                  <a:pt x="522066" y="522066"/>
                </a:lnTo>
                <a:lnTo>
                  <a:pt x="0" y="5220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6262613" y="6638909"/>
            <a:ext cx="523773" cy="505441"/>
          </a:xfrm>
          <a:custGeom>
            <a:avLst/>
            <a:gdLst/>
            <a:ahLst/>
            <a:cxnLst/>
            <a:rect l="l" t="t" r="r" b="b"/>
            <a:pathLst>
              <a:path w="523773" h="505441">
                <a:moveTo>
                  <a:pt x="0" y="0"/>
                </a:moveTo>
                <a:lnTo>
                  <a:pt x="523772" y="0"/>
                </a:lnTo>
                <a:lnTo>
                  <a:pt x="523772" y="505440"/>
                </a:lnTo>
                <a:lnTo>
                  <a:pt x="0" y="50544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15" name="Group 15"/>
          <p:cNvGrpSpPr/>
          <p:nvPr/>
        </p:nvGrpSpPr>
        <p:grpSpPr>
          <a:xfrm>
            <a:off x="9895790" y="6286403"/>
            <a:ext cx="1245141" cy="1245141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9952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sp>
        <p:nvSpPr>
          <p:cNvPr id="18" name="Freeform 18"/>
          <p:cNvSpPr/>
          <p:nvPr/>
        </p:nvSpPr>
        <p:spPr>
          <a:xfrm>
            <a:off x="10289548" y="6662817"/>
            <a:ext cx="457624" cy="457624"/>
          </a:xfrm>
          <a:custGeom>
            <a:avLst/>
            <a:gdLst/>
            <a:ahLst/>
            <a:cxnLst/>
            <a:rect l="l" t="t" r="r" b="b"/>
            <a:pathLst>
              <a:path w="457624" h="457624">
                <a:moveTo>
                  <a:pt x="0" y="0"/>
                </a:moveTo>
                <a:lnTo>
                  <a:pt x="457624" y="0"/>
                </a:lnTo>
                <a:lnTo>
                  <a:pt x="457624" y="457624"/>
                </a:lnTo>
                <a:lnTo>
                  <a:pt x="0" y="45762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19"/>
          <p:cNvGrpSpPr/>
          <p:nvPr/>
        </p:nvGrpSpPr>
        <p:grpSpPr>
          <a:xfrm>
            <a:off x="13889651" y="6286403"/>
            <a:ext cx="1245141" cy="1245141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9952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sp>
        <p:nvSpPr>
          <p:cNvPr id="22" name="Freeform 22"/>
          <p:cNvSpPr/>
          <p:nvPr/>
        </p:nvSpPr>
        <p:spPr>
          <a:xfrm>
            <a:off x="14315630" y="6585650"/>
            <a:ext cx="393183" cy="611958"/>
          </a:xfrm>
          <a:custGeom>
            <a:avLst/>
            <a:gdLst/>
            <a:ahLst/>
            <a:cxnLst/>
            <a:rect l="l" t="t" r="r" b="b"/>
            <a:pathLst>
              <a:path w="393183" h="611958">
                <a:moveTo>
                  <a:pt x="0" y="0"/>
                </a:moveTo>
                <a:lnTo>
                  <a:pt x="393183" y="0"/>
                </a:lnTo>
                <a:lnTo>
                  <a:pt x="393183" y="611958"/>
                </a:lnTo>
                <a:lnTo>
                  <a:pt x="0" y="61195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1028700" y="1133475"/>
            <a:ext cx="9029390" cy="796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>
              <a:lnSpc>
                <a:spcPts val="6480"/>
              </a:lnSpc>
              <a:spcBef>
                <a:spcPct val="0"/>
              </a:spcBef>
            </a:pPr>
            <a:r>
              <a:rPr lang="en-US" altLang="zh-CN" sz="5400" b="1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Team Growth</a:t>
            </a:r>
            <a:endParaRPr lang="en-US" sz="5400" b="1" u="none" strike="noStrike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908068" y="7798244"/>
            <a:ext cx="3102949" cy="3903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>
              <a:lnSpc>
                <a:spcPts val="3359"/>
              </a:lnSpc>
              <a:spcBef>
                <a:spcPct val="0"/>
              </a:spcBef>
            </a:pPr>
            <a:r>
              <a:rPr lang="en-US" altLang="zh-CN" sz="2000" b="1" spc="76" dirty="0">
                <a:solidFill>
                  <a:srgbClr val="FFFFFF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Current</a:t>
            </a:r>
            <a:endParaRPr lang="en-US" sz="2000" b="1" spc="76" dirty="0">
              <a:solidFill>
                <a:srgbClr val="FFFFFF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908068" y="8437318"/>
            <a:ext cx="3102949" cy="2430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1957"/>
              </a:lnSpc>
              <a:spcBef>
                <a:spcPct val="0"/>
              </a:spcBef>
            </a:pPr>
            <a:r>
              <a:rPr lang="en-US" altLang="zh-CN" sz="1600" dirty="0">
                <a:solidFill>
                  <a:srgbClr val="FFFFFF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Starting with approximately 8 people, building a strong foundation.</a:t>
            </a:r>
            <a:endParaRPr lang="en-US" sz="1600" dirty="0">
              <a:solidFill>
                <a:srgbClr val="FFFFFF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5901929" y="7798244"/>
            <a:ext cx="3102949" cy="3742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>
              <a:lnSpc>
                <a:spcPts val="3079"/>
              </a:lnSpc>
              <a:spcBef>
                <a:spcPct val="0"/>
              </a:spcBef>
            </a:pPr>
            <a:r>
              <a:rPr lang="en-US" altLang="zh-CN" sz="2000" b="1" spc="76" dirty="0">
                <a:solidFill>
                  <a:srgbClr val="FFFFFF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Target</a:t>
            </a:r>
            <a:endParaRPr lang="en-US" sz="2000" b="1" spc="76" dirty="0">
              <a:solidFill>
                <a:srgbClr val="FFFFFF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5901929" y="8437318"/>
            <a:ext cx="3102949" cy="2430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1957"/>
              </a:lnSpc>
              <a:spcBef>
                <a:spcPct val="0"/>
              </a:spcBef>
            </a:pPr>
            <a:r>
              <a:rPr lang="en-US" altLang="zh-CN" sz="1600" dirty="0">
                <a:solidFill>
                  <a:srgbClr val="FFFFFF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Expand the team to 15 people by the fourth quarter of 2026.</a:t>
            </a:r>
            <a:endParaRPr lang="en-US" sz="1600" dirty="0">
              <a:solidFill>
                <a:srgbClr val="FFFFFF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9895790" y="7798244"/>
            <a:ext cx="3102949" cy="3675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>
              <a:lnSpc>
                <a:spcPts val="3079"/>
              </a:lnSpc>
              <a:spcBef>
                <a:spcPct val="0"/>
              </a:spcBef>
            </a:pPr>
            <a:r>
              <a:rPr lang="en-US" altLang="zh-CN" sz="2000" b="1" spc="76" dirty="0">
                <a:solidFill>
                  <a:srgbClr val="FFFFFF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Phased</a:t>
            </a:r>
            <a:endParaRPr lang="en-US" sz="2000" b="1" spc="76" dirty="0">
              <a:solidFill>
                <a:srgbClr val="FFFFFF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9895790" y="8437318"/>
            <a:ext cx="3102949" cy="2430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1957"/>
              </a:lnSpc>
              <a:spcBef>
                <a:spcPct val="0"/>
              </a:spcBef>
            </a:pPr>
            <a:r>
              <a:rPr lang="en-US" altLang="zh-CN" sz="1600" dirty="0">
                <a:solidFill>
                  <a:srgbClr val="FFFFFF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Q1: +3 (including Tech Lead); Q2: +2; Q3: +1; Q4: +1, reaching 15 total.</a:t>
            </a:r>
            <a:endParaRPr lang="en-US" sz="1600" dirty="0">
              <a:solidFill>
                <a:srgbClr val="FFFFFF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3889651" y="7798244"/>
            <a:ext cx="3102949" cy="3615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>
              <a:lnSpc>
                <a:spcPts val="3079"/>
              </a:lnSpc>
              <a:spcBef>
                <a:spcPct val="0"/>
              </a:spcBef>
            </a:pPr>
            <a:r>
              <a:rPr lang="en-US" altLang="zh-CN" sz="2000" b="1" spc="76" dirty="0">
                <a:solidFill>
                  <a:srgbClr val="FFFFFF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Makeup</a:t>
            </a:r>
            <a:endParaRPr lang="en-US" sz="2000" b="1" spc="76" dirty="0">
              <a:solidFill>
                <a:srgbClr val="FFFFFF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3889651" y="8437318"/>
            <a:ext cx="3102949" cy="2430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1957"/>
              </a:lnSpc>
              <a:spcBef>
                <a:spcPct val="0"/>
              </a:spcBef>
            </a:pPr>
            <a:r>
              <a:rPr lang="en-US" altLang="zh-CN" sz="1600" dirty="0">
                <a:solidFill>
                  <a:srgbClr val="FFFFFF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Team composition will include development, project management, and administration roles.</a:t>
            </a:r>
            <a:endParaRPr lang="en-US" sz="1600" dirty="0">
              <a:solidFill>
                <a:srgbClr val="FFFFFF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32" name="Freeform 32"/>
          <p:cNvSpPr/>
          <p:nvPr/>
        </p:nvSpPr>
        <p:spPr>
          <a:xfrm>
            <a:off x="17422243" y="-496474"/>
            <a:ext cx="1731513" cy="1525174"/>
          </a:xfrm>
          <a:custGeom>
            <a:avLst/>
            <a:gdLst/>
            <a:ahLst/>
            <a:cxnLst/>
            <a:rect l="l" t="t" r="r" b="b"/>
            <a:pathLst>
              <a:path w="1731513" h="1525174">
                <a:moveTo>
                  <a:pt x="0" y="0"/>
                </a:moveTo>
                <a:lnTo>
                  <a:pt x="1731514" y="0"/>
                </a:lnTo>
                <a:lnTo>
                  <a:pt x="1731514" y="1525174"/>
                </a:lnTo>
                <a:lnTo>
                  <a:pt x="0" y="152517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33" name="Freeform 33"/>
          <p:cNvSpPr/>
          <p:nvPr/>
        </p:nvSpPr>
        <p:spPr>
          <a:xfrm rot="-5400000">
            <a:off x="-603795" y="7769288"/>
            <a:ext cx="1207589" cy="732101"/>
          </a:xfrm>
          <a:custGeom>
            <a:avLst/>
            <a:gdLst/>
            <a:ahLst/>
            <a:cxnLst/>
            <a:rect l="l" t="t" r="r" b="b"/>
            <a:pathLst>
              <a:path w="1207589" h="732101">
                <a:moveTo>
                  <a:pt x="0" y="0"/>
                </a:moveTo>
                <a:lnTo>
                  <a:pt x="1207590" y="0"/>
                </a:lnTo>
                <a:lnTo>
                  <a:pt x="1207590" y="732100"/>
                </a:lnTo>
                <a:lnTo>
                  <a:pt x="0" y="73210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34" name="Freeform 34"/>
          <p:cNvSpPr/>
          <p:nvPr/>
        </p:nvSpPr>
        <p:spPr>
          <a:xfrm flipH="1">
            <a:off x="-5367006" y="-1383193"/>
            <a:ext cx="7315200" cy="3425952"/>
          </a:xfrm>
          <a:custGeom>
            <a:avLst/>
            <a:gdLst/>
            <a:ahLst/>
            <a:cxnLst/>
            <a:rect l="l" t="t" r="r" b="b"/>
            <a:pathLst>
              <a:path w="7315200" h="3425952">
                <a:moveTo>
                  <a:pt x="7315200" y="0"/>
                </a:moveTo>
                <a:lnTo>
                  <a:pt x="0" y="0"/>
                </a:lnTo>
                <a:lnTo>
                  <a:pt x="0" y="3425952"/>
                </a:lnTo>
                <a:lnTo>
                  <a:pt x="7315200" y="3425952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2747441" y="4340875"/>
            <a:ext cx="5718014" cy="3073433"/>
          </a:xfrm>
          <a:custGeom>
            <a:avLst/>
            <a:gdLst/>
            <a:ahLst/>
            <a:cxnLst/>
            <a:rect l="l" t="t" r="r" b="b"/>
            <a:pathLst>
              <a:path w="5718014" h="3073433">
                <a:moveTo>
                  <a:pt x="5718014" y="0"/>
                </a:moveTo>
                <a:lnTo>
                  <a:pt x="0" y="0"/>
                </a:lnTo>
                <a:lnTo>
                  <a:pt x="0" y="3073433"/>
                </a:lnTo>
                <a:lnTo>
                  <a:pt x="5718014" y="3073433"/>
                </a:lnTo>
                <a:lnTo>
                  <a:pt x="5718014" y="0"/>
                </a:lnTo>
                <a:close/>
              </a:path>
            </a:pathLst>
          </a:custGeom>
          <a:blipFill>
            <a:blip r:embed="rId3">
              <a:alphaModFix amt="2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0673185" y="4340875"/>
            <a:ext cx="5718014" cy="3073433"/>
          </a:xfrm>
          <a:custGeom>
            <a:avLst/>
            <a:gdLst/>
            <a:ahLst/>
            <a:cxnLst/>
            <a:rect l="l" t="t" r="r" b="b"/>
            <a:pathLst>
              <a:path w="5718014" h="3073433">
                <a:moveTo>
                  <a:pt x="5718014" y="0"/>
                </a:moveTo>
                <a:lnTo>
                  <a:pt x="0" y="0"/>
                </a:lnTo>
                <a:lnTo>
                  <a:pt x="0" y="3073433"/>
                </a:lnTo>
                <a:lnTo>
                  <a:pt x="5718014" y="3073433"/>
                </a:lnTo>
                <a:lnTo>
                  <a:pt x="5718014" y="0"/>
                </a:lnTo>
                <a:close/>
              </a:path>
            </a:pathLst>
          </a:custGeom>
          <a:blipFill>
            <a:blip r:embed="rId3">
              <a:alphaModFix amt="2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2747441" y="4011570"/>
            <a:ext cx="5718014" cy="2245051"/>
            <a:chOff x="0" y="0"/>
            <a:chExt cx="1505979" cy="59128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05979" cy="591289"/>
            </a:xfrm>
            <a:custGeom>
              <a:avLst/>
              <a:gdLst/>
              <a:ahLst/>
              <a:cxnLst/>
              <a:rect l="l" t="t" r="r" b="b"/>
              <a:pathLst>
                <a:path w="1505979" h="591289">
                  <a:moveTo>
                    <a:pt x="44680" y="0"/>
                  </a:moveTo>
                  <a:lnTo>
                    <a:pt x="1461299" y="0"/>
                  </a:lnTo>
                  <a:cubicBezTo>
                    <a:pt x="1473149" y="0"/>
                    <a:pt x="1484513" y="4707"/>
                    <a:pt x="1492892" y="13087"/>
                  </a:cubicBezTo>
                  <a:cubicBezTo>
                    <a:pt x="1501272" y="21466"/>
                    <a:pt x="1505979" y="32830"/>
                    <a:pt x="1505979" y="44680"/>
                  </a:cubicBezTo>
                  <a:lnTo>
                    <a:pt x="1505979" y="546609"/>
                  </a:lnTo>
                  <a:cubicBezTo>
                    <a:pt x="1505979" y="558459"/>
                    <a:pt x="1501272" y="569823"/>
                    <a:pt x="1492892" y="578202"/>
                  </a:cubicBezTo>
                  <a:cubicBezTo>
                    <a:pt x="1484513" y="586582"/>
                    <a:pt x="1473149" y="591289"/>
                    <a:pt x="1461299" y="591289"/>
                  </a:cubicBezTo>
                  <a:lnTo>
                    <a:pt x="44680" y="591289"/>
                  </a:lnTo>
                  <a:cubicBezTo>
                    <a:pt x="32830" y="591289"/>
                    <a:pt x="21466" y="586582"/>
                    <a:pt x="13087" y="578202"/>
                  </a:cubicBezTo>
                  <a:cubicBezTo>
                    <a:pt x="4707" y="569823"/>
                    <a:pt x="0" y="558459"/>
                    <a:pt x="0" y="546609"/>
                  </a:cubicBezTo>
                  <a:lnTo>
                    <a:pt x="0" y="44680"/>
                  </a:lnTo>
                  <a:cubicBezTo>
                    <a:pt x="0" y="32830"/>
                    <a:pt x="4707" y="21466"/>
                    <a:pt x="13087" y="13087"/>
                  </a:cubicBezTo>
                  <a:cubicBezTo>
                    <a:pt x="21466" y="4707"/>
                    <a:pt x="32830" y="0"/>
                    <a:pt x="44680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505979" cy="6293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1790700" y="4260242"/>
            <a:ext cx="1736201" cy="1736201"/>
            <a:chOff x="0" y="0"/>
            <a:chExt cx="14400530" cy="1440053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400530" cy="14399261"/>
            </a:xfrm>
            <a:custGeom>
              <a:avLst/>
              <a:gdLst/>
              <a:ahLst/>
              <a:cxnLst/>
              <a:rect l="l" t="t" r="r" b="b"/>
              <a:pathLst>
                <a:path w="14400530" h="14399261">
                  <a:moveTo>
                    <a:pt x="7199630" y="0"/>
                  </a:moveTo>
                  <a:cubicBezTo>
                    <a:pt x="3223260" y="0"/>
                    <a:pt x="0" y="3223260"/>
                    <a:pt x="0" y="7199630"/>
                  </a:cubicBezTo>
                  <a:cubicBezTo>
                    <a:pt x="0" y="11176001"/>
                    <a:pt x="3223260" y="14399261"/>
                    <a:pt x="7199630" y="14399261"/>
                  </a:cubicBezTo>
                  <a:lnTo>
                    <a:pt x="14399261" y="14399261"/>
                  </a:lnTo>
                  <a:lnTo>
                    <a:pt x="14399261" y="7199630"/>
                  </a:lnTo>
                  <a:cubicBezTo>
                    <a:pt x="14400530" y="3223260"/>
                    <a:pt x="11176000" y="0"/>
                    <a:pt x="7199630" y="0"/>
                  </a:cubicBezTo>
                  <a:close/>
                </a:path>
              </a:pathLst>
            </a:custGeom>
            <a:solidFill>
              <a:srgbClr val="3A7377"/>
            </a:solidFill>
          </p:spPr>
        </p:sp>
      </p:grpSp>
      <p:grpSp>
        <p:nvGrpSpPr>
          <p:cNvPr id="10" name="Group 10"/>
          <p:cNvGrpSpPr>
            <a:grpSpLocks noChangeAspect="1"/>
          </p:cNvGrpSpPr>
          <p:nvPr/>
        </p:nvGrpSpPr>
        <p:grpSpPr>
          <a:xfrm>
            <a:off x="1909552" y="4379093"/>
            <a:ext cx="1498498" cy="1498498"/>
            <a:chOff x="0" y="0"/>
            <a:chExt cx="495300" cy="4953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95300" cy="495300"/>
            </a:xfrm>
            <a:custGeom>
              <a:avLst/>
              <a:gdLst/>
              <a:ahLst/>
              <a:cxnLst/>
              <a:rect l="l" t="t" r="r" b="b"/>
              <a:pathLst>
                <a:path w="495300" h="495300">
                  <a:moveTo>
                    <a:pt x="247650" y="0"/>
                  </a:moveTo>
                  <a:cubicBezTo>
                    <a:pt x="110490" y="0"/>
                    <a:pt x="0" y="110490"/>
                    <a:pt x="0" y="247650"/>
                  </a:cubicBezTo>
                  <a:cubicBezTo>
                    <a:pt x="0" y="384810"/>
                    <a:pt x="110490" y="495300"/>
                    <a:pt x="247650" y="495300"/>
                  </a:cubicBezTo>
                  <a:cubicBezTo>
                    <a:pt x="383540" y="495300"/>
                    <a:pt x="495300" y="384810"/>
                    <a:pt x="495300" y="247650"/>
                  </a:cubicBezTo>
                  <a:cubicBezTo>
                    <a:pt x="495300" y="110490"/>
                    <a:pt x="383540" y="0"/>
                    <a:pt x="247650" y="0"/>
                  </a:cubicBezTo>
                  <a:close/>
                  <a:moveTo>
                    <a:pt x="247650" y="457200"/>
                  </a:moveTo>
                  <a:cubicBezTo>
                    <a:pt x="132080" y="457200"/>
                    <a:pt x="38100" y="363220"/>
                    <a:pt x="38100" y="247650"/>
                  </a:cubicBezTo>
                  <a:cubicBezTo>
                    <a:pt x="38100" y="132080"/>
                    <a:pt x="132080" y="38100"/>
                    <a:pt x="247650" y="38100"/>
                  </a:cubicBezTo>
                  <a:cubicBezTo>
                    <a:pt x="363220" y="38100"/>
                    <a:pt x="457200" y="132080"/>
                    <a:pt x="457200" y="247650"/>
                  </a:cubicBezTo>
                  <a:cubicBezTo>
                    <a:pt x="457200" y="363220"/>
                    <a:pt x="363220" y="457200"/>
                    <a:pt x="247650" y="4572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38100" y="38100"/>
              <a:ext cx="419100" cy="419100"/>
            </a:xfrm>
            <a:custGeom>
              <a:avLst/>
              <a:gdLst/>
              <a:ahLst/>
              <a:cxnLst/>
              <a:rect l="l" t="t" r="r" b="b"/>
              <a:pathLst>
                <a:path w="419100" h="419100">
                  <a:moveTo>
                    <a:pt x="209550" y="0"/>
                  </a:moveTo>
                  <a:cubicBezTo>
                    <a:pt x="93980" y="0"/>
                    <a:pt x="0" y="93980"/>
                    <a:pt x="0" y="209550"/>
                  </a:cubicBezTo>
                  <a:cubicBezTo>
                    <a:pt x="0" y="325120"/>
                    <a:pt x="93980" y="419100"/>
                    <a:pt x="209550" y="419100"/>
                  </a:cubicBezTo>
                  <a:cubicBezTo>
                    <a:pt x="325120" y="419100"/>
                    <a:pt x="419100" y="325120"/>
                    <a:pt x="419100" y="209550"/>
                  </a:cubicBezTo>
                  <a:cubicBezTo>
                    <a:pt x="419100" y="93980"/>
                    <a:pt x="325120" y="0"/>
                    <a:pt x="209550" y="0"/>
                  </a:cubicBezTo>
                  <a:close/>
                </a:path>
              </a:pathLst>
            </a:custGeom>
            <a:solidFill>
              <a:srgbClr val="3A7377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10673185" y="4011570"/>
            <a:ext cx="5718014" cy="2245051"/>
            <a:chOff x="0" y="0"/>
            <a:chExt cx="1505979" cy="59128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505979" cy="591289"/>
            </a:xfrm>
            <a:custGeom>
              <a:avLst/>
              <a:gdLst/>
              <a:ahLst/>
              <a:cxnLst/>
              <a:rect l="l" t="t" r="r" b="b"/>
              <a:pathLst>
                <a:path w="1505979" h="591289">
                  <a:moveTo>
                    <a:pt x="44680" y="0"/>
                  </a:moveTo>
                  <a:lnTo>
                    <a:pt x="1461299" y="0"/>
                  </a:lnTo>
                  <a:cubicBezTo>
                    <a:pt x="1473149" y="0"/>
                    <a:pt x="1484513" y="4707"/>
                    <a:pt x="1492892" y="13087"/>
                  </a:cubicBezTo>
                  <a:cubicBezTo>
                    <a:pt x="1501272" y="21466"/>
                    <a:pt x="1505979" y="32830"/>
                    <a:pt x="1505979" y="44680"/>
                  </a:cubicBezTo>
                  <a:lnTo>
                    <a:pt x="1505979" y="546609"/>
                  </a:lnTo>
                  <a:cubicBezTo>
                    <a:pt x="1505979" y="558459"/>
                    <a:pt x="1501272" y="569823"/>
                    <a:pt x="1492892" y="578202"/>
                  </a:cubicBezTo>
                  <a:cubicBezTo>
                    <a:pt x="1484513" y="586582"/>
                    <a:pt x="1473149" y="591289"/>
                    <a:pt x="1461299" y="591289"/>
                  </a:cubicBezTo>
                  <a:lnTo>
                    <a:pt x="44680" y="591289"/>
                  </a:lnTo>
                  <a:cubicBezTo>
                    <a:pt x="32830" y="591289"/>
                    <a:pt x="21466" y="586582"/>
                    <a:pt x="13087" y="578202"/>
                  </a:cubicBezTo>
                  <a:cubicBezTo>
                    <a:pt x="4707" y="569823"/>
                    <a:pt x="0" y="558459"/>
                    <a:pt x="0" y="546609"/>
                  </a:cubicBezTo>
                  <a:lnTo>
                    <a:pt x="0" y="44680"/>
                  </a:lnTo>
                  <a:cubicBezTo>
                    <a:pt x="0" y="32830"/>
                    <a:pt x="4707" y="21466"/>
                    <a:pt x="13087" y="13087"/>
                  </a:cubicBezTo>
                  <a:cubicBezTo>
                    <a:pt x="21466" y="4707"/>
                    <a:pt x="32830" y="0"/>
                    <a:pt x="44680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505979" cy="6293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16" name="Group 16"/>
          <p:cNvGrpSpPr>
            <a:grpSpLocks noChangeAspect="1"/>
          </p:cNvGrpSpPr>
          <p:nvPr/>
        </p:nvGrpSpPr>
        <p:grpSpPr>
          <a:xfrm>
            <a:off x="9716444" y="4260242"/>
            <a:ext cx="1736201" cy="1736201"/>
            <a:chOff x="0" y="0"/>
            <a:chExt cx="14400530" cy="1440053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4400530" cy="14399261"/>
            </a:xfrm>
            <a:custGeom>
              <a:avLst/>
              <a:gdLst/>
              <a:ahLst/>
              <a:cxnLst/>
              <a:rect l="l" t="t" r="r" b="b"/>
              <a:pathLst>
                <a:path w="14400530" h="14399261">
                  <a:moveTo>
                    <a:pt x="7199630" y="0"/>
                  </a:moveTo>
                  <a:cubicBezTo>
                    <a:pt x="3223260" y="0"/>
                    <a:pt x="0" y="3223260"/>
                    <a:pt x="0" y="7199630"/>
                  </a:cubicBezTo>
                  <a:cubicBezTo>
                    <a:pt x="0" y="11176001"/>
                    <a:pt x="3223260" y="14399261"/>
                    <a:pt x="7199630" y="14399261"/>
                  </a:cubicBezTo>
                  <a:lnTo>
                    <a:pt x="14399261" y="14399261"/>
                  </a:lnTo>
                  <a:lnTo>
                    <a:pt x="14399261" y="7199630"/>
                  </a:lnTo>
                  <a:cubicBezTo>
                    <a:pt x="14400530" y="3223260"/>
                    <a:pt x="11176000" y="0"/>
                    <a:pt x="7199630" y="0"/>
                  </a:cubicBezTo>
                  <a:close/>
                </a:path>
              </a:pathLst>
            </a:custGeom>
            <a:solidFill>
              <a:srgbClr val="5EA6B2"/>
            </a:solidFill>
          </p:spPr>
        </p:sp>
      </p:grpSp>
      <p:grpSp>
        <p:nvGrpSpPr>
          <p:cNvPr id="18" name="Group 18"/>
          <p:cNvGrpSpPr>
            <a:grpSpLocks noChangeAspect="1"/>
          </p:cNvGrpSpPr>
          <p:nvPr/>
        </p:nvGrpSpPr>
        <p:grpSpPr>
          <a:xfrm>
            <a:off x="9835296" y="4379093"/>
            <a:ext cx="1498498" cy="1498498"/>
            <a:chOff x="0" y="0"/>
            <a:chExt cx="495300" cy="4953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95300" cy="495300"/>
            </a:xfrm>
            <a:custGeom>
              <a:avLst/>
              <a:gdLst/>
              <a:ahLst/>
              <a:cxnLst/>
              <a:rect l="l" t="t" r="r" b="b"/>
              <a:pathLst>
                <a:path w="495300" h="495300">
                  <a:moveTo>
                    <a:pt x="247650" y="0"/>
                  </a:moveTo>
                  <a:cubicBezTo>
                    <a:pt x="110490" y="0"/>
                    <a:pt x="0" y="110490"/>
                    <a:pt x="0" y="247650"/>
                  </a:cubicBezTo>
                  <a:cubicBezTo>
                    <a:pt x="0" y="384810"/>
                    <a:pt x="110490" y="495300"/>
                    <a:pt x="247650" y="495300"/>
                  </a:cubicBezTo>
                  <a:cubicBezTo>
                    <a:pt x="383540" y="495300"/>
                    <a:pt x="495300" y="384810"/>
                    <a:pt x="495300" y="247650"/>
                  </a:cubicBezTo>
                  <a:cubicBezTo>
                    <a:pt x="495300" y="110490"/>
                    <a:pt x="383540" y="0"/>
                    <a:pt x="247650" y="0"/>
                  </a:cubicBezTo>
                  <a:close/>
                  <a:moveTo>
                    <a:pt x="247650" y="457200"/>
                  </a:moveTo>
                  <a:cubicBezTo>
                    <a:pt x="132080" y="457200"/>
                    <a:pt x="38100" y="363220"/>
                    <a:pt x="38100" y="247650"/>
                  </a:cubicBezTo>
                  <a:cubicBezTo>
                    <a:pt x="38100" y="132080"/>
                    <a:pt x="132080" y="38100"/>
                    <a:pt x="247650" y="38100"/>
                  </a:cubicBezTo>
                  <a:cubicBezTo>
                    <a:pt x="363220" y="38100"/>
                    <a:pt x="457200" y="132080"/>
                    <a:pt x="457200" y="247650"/>
                  </a:cubicBezTo>
                  <a:cubicBezTo>
                    <a:pt x="457200" y="363220"/>
                    <a:pt x="363220" y="457200"/>
                    <a:pt x="247650" y="4572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0" name="Freeform 20"/>
            <p:cNvSpPr/>
            <p:nvPr/>
          </p:nvSpPr>
          <p:spPr>
            <a:xfrm>
              <a:off x="38100" y="38100"/>
              <a:ext cx="419100" cy="419100"/>
            </a:xfrm>
            <a:custGeom>
              <a:avLst/>
              <a:gdLst/>
              <a:ahLst/>
              <a:cxnLst/>
              <a:rect l="l" t="t" r="r" b="b"/>
              <a:pathLst>
                <a:path w="419100" h="419100">
                  <a:moveTo>
                    <a:pt x="209550" y="0"/>
                  </a:moveTo>
                  <a:cubicBezTo>
                    <a:pt x="93980" y="0"/>
                    <a:pt x="0" y="93980"/>
                    <a:pt x="0" y="209550"/>
                  </a:cubicBezTo>
                  <a:cubicBezTo>
                    <a:pt x="0" y="325120"/>
                    <a:pt x="93980" y="419100"/>
                    <a:pt x="209550" y="419100"/>
                  </a:cubicBezTo>
                  <a:cubicBezTo>
                    <a:pt x="325120" y="419100"/>
                    <a:pt x="419100" y="325120"/>
                    <a:pt x="419100" y="209550"/>
                  </a:cubicBezTo>
                  <a:cubicBezTo>
                    <a:pt x="419100" y="93980"/>
                    <a:pt x="325120" y="0"/>
                    <a:pt x="209550" y="0"/>
                  </a:cubicBezTo>
                  <a:close/>
                </a:path>
              </a:pathLst>
            </a:custGeom>
            <a:solidFill>
              <a:srgbClr val="5EA6B2"/>
            </a:solidFill>
          </p:spPr>
        </p:sp>
      </p:grpSp>
      <p:sp>
        <p:nvSpPr>
          <p:cNvPr id="21" name="Freeform 21"/>
          <p:cNvSpPr/>
          <p:nvPr/>
        </p:nvSpPr>
        <p:spPr>
          <a:xfrm flipH="1">
            <a:off x="2747441" y="7176656"/>
            <a:ext cx="5718014" cy="3073433"/>
          </a:xfrm>
          <a:custGeom>
            <a:avLst/>
            <a:gdLst/>
            <a:ahLst/>
            <a:cxnLst/>
            <a:rect l="l" t="t" r="r" b="b"/>
            <a:pathLst>
              <a:path w="5718014" h="3073433">
                <a:moveTo>
                  <a:pt x="5718014" y="0"/>
                </a:moveTo>
                <a:lnTo>
                  <a:pt x="0" y="0"/>
                </a:lnTo>
                <a:lnTo>
                  <a:pt x="0" y="3073432"/>
                </a:lnTo>
                <a:lnTo>
                  <a:pt x="5718014" y="3073432"/>
                </a:lnTo>
                <a:lnTo>
                  <a:pt x="5718014" y="0"/>
                </a:lnTo>
                <a:close/>
              </a:path>
            </a:pathLst>
          </a:custGeom>
          <a:blipFill>
            <a:blip r:embed="rId3">
              <a:alphaModFix amt="2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 flipH="1">
            <a:off x="10673185" y="7176656"/>
            <a:ext cx="5718014" cy="3073433"/>
          </a:xfrm>
          <a:custGeom>
            <a:avLst/>
            <a:gdLst/>
            <a:ahLst/>
            <a:cxnLst/>
            <a:rect l="l" t="t" r="r" b="b"/>
            <a:pathLst>
              <a:path w="5718014" h="3073433">
                <a:moveTo>
                  <a:pt x="5718014" y="0"/>
                </a:moveTo>
                <a:lnTo>
                  <a:pt x="0" y="0"/>
                </a:lnTo>
                <a:lnTo>
                  <a:pt x="0" y="3073432"/>
                </a:lnTo>
                <a:lnTo>
                  <a:pt x="5718014" y="3073432"/>
                </a:lnTo>
                <a:lnTo>
                  <a:pt x="5718014" y="0"/>
                </a:lnTo>
                <a:close/>
              </a:path>
            </a:pathLst>
          </a:custGeom>
          <a:blipFill>
            <a:blip r:embed="rId3">
              <a:alphaModFix amt="2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23" name="Group 23"/>
          <p:cNvGrpSpPr/>
          <p:nvPr/>
        </p:nvGrpSpPr>
        <p:grpSpPr>
          <a:xfrm>
            <a:off x="2747441" y="7013249"/>
            <a:ext cx="5718014" cy="2245051"/>
            <a:chOff x="0" y="0"/>
            <a:chExt cx="1505979" cy="59128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505979" cy="591289"/>
            </a:xfrm>
            <a:custGeom>
              <a:avLst/>
              <a:gdLst/>
              <a:ahLst/>
              <a:cxnLst/>
              <a:rect l="l" t="t" r="r" b="b"/>
              <a:pathLst>
                <a:path w="1505979" h="591289">
                  <a:moveTo>
                    <a:pt x="44680" y="0"/>
                  </a:moveTo>
                  <a:lnTo>
                    <a:pt x="1461299" y="0"/>
                  </a:lnTo>
                  <a:cubicBezTo>
                    <a:pt x="1473149" y="0"/>
                    <a:pt x="1484513" y="4707"/>
                    <a:pt x="1492892" y="13087"/>
                  </a:cubicBezTo>
                  <a:cubicBezTo>
                    <a:pt x="1501272" y="21466"/>
                    <a:pt x="1505979" y="32830"/>
                    <a:pt x="1505979" y="44680"/>
                  </a:cubicBezTo>
                  <a:lnTo>
                    <a:pt x="1505979" y="546609"/>
                  </a:lnTo>
                  <a:cubicBezTo>
                    <a:pt x="1505979" y="558459"/>
                    <a:pt x="1501272" y="569823"/>
                    <a:pt x="1492892" y="578202"/>
                  </a:cubicBezTo>
                  <a:cubicBezTo>
                    <a:pt x="1484513" y="586582"/>
                    <a:pt x="1473149" y="591289"/>
                    <a:pt x="1461299" y="591289"/>
                  </a:cubicBezTo>
                  <a:lnTo>
                    <a:pt x="44680" y="591289"/>
                  </a:lnTo>
                  <a:cubicBezTo>
                    <a:pt x="32830" y="591289"/>
                    <a:pt x="21466" y="586582"/>
                    <a:pt x="13087" y="578202"/>
                  </a:cubicBezTo>
                  <a:cubicBezTo>
                    <a:pt x="4707" y="569823"/>
                    <a:pt x="0" y="558459"/>
                    <a:pt x="0" y="546609"/>
                  </a:cubicBezTo>
                  <a:lnTo>
                    <a:pt x="0" y="44680"/>
                  </a:lnTo>
                  <a:cubicBezTo>
                    <a:pt x="0" y="32830"/>
                    <a:pt x="4707" y="21466"/>
                    <a:pt x="13087" y="13087"/>
                  </a:cubicBezTo>
                  <a:cubicBezTo>
                    <a:pt x="21466" y="4707"/>
                    <a:pt x="32830" y="0"/>
                    <a:pt x="44680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1505979" cy="6293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26" name="Group 26"/>
          <p:cNvGrpSpPr>
            <a:grpSpLocks noChangeAspect="1"/>
          </p:cNvGrpSpPr>
          <p:nvPr/>
        </p:nvGrpSpPr>
        <p:grpSpPr>
          <a:xfrm>
            <a:off x="1790700" y="7261921"/>
            <a:ext cx="1736201" cy="1736201"/>
            <a:chOff x="0" y="0"/>
            <a:chExt cx="14400530" cy="1440053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4400530" cy="14399261"/>
            </a:xfrm>
            <a:custGeom>
              <a:avLst/>
              <a:gdLst/>
              <a:ahLst/>
              <a:cxnLst/>
              <a:rect l="l" t="t" r="r" b="b"/>
              <a:pathLst>
                <a:path w="14400530" h="14399261">
                  <a:moveTo>
                    <a:pt x="7199630" y="0"/>
                  </a:moveTo>
                  <a:cubicBezTo>
                    <a:pt x="3223260" y="0"/>
                    <a:pt x="0" y="3223260"/>
                    <a:pt x="0" y="7199630"/>
                  </a:cubicBezTo>
                  <a:cubicBezTo>
                    <a:pt x="0" y="11176001"/>
                    <a:pt x="3223260" y="14399261"/>
                    <a:pt x="7199630" y="14399261"/>
                  </a:cubicBezTo>
                  <a:lnTo>
                    <a:pt x="14399261" y="14399261"/>
                  </a:lnTo>
                  <a:lnTo>
                    <a:pt x="14399261" y="7199630"/>
                  </a:lnTo>
                  <a:cubicBezTo>
                    <a:pt x="14400530" y="3223260"/>
                    <a:pt x="11176000" y="0"/>
                    <a:pt x="7199630" y="0"/>
                  </a:cubicBezTo>
                  <a:close/>
                </a:path>
              </a:pathLst>
            </a:custGeom>
            <a:solidFill>
              <a:srgbClr val="10AD5D"/>
            </a:solidFill>
          </p:spPr>
        </p:sp>
      </p:grpSp>
      <p:grpSp>
        <p:nvGrpSpPr>
          <p:cNvPr id="28" name="Group 28"/>
          <p:cNvGrpSpPr>
            <a:grpSpLocks noChangeAspect="1"/>
          </p:cNvGrpSpPr>
          <p:nvPr/>
        </p:nvGrpSpPr>
        <p:grpSpPr>
          <a:xfrm>
            <a:off x="1909552" y="7380772"/>
            <a:ext cx="1498498" cy="1498498"/>
            <a:chOff x="0" y="0"/>
            <a:chExt cx="495300" cy="4953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495300" cy="495300"/>
            </a:xfrm>
            <a:custGeom>
              <a:avLst/>
              <a:gdLst/>
              <a:ahLst/>
              <a:cxnLst/>
              <a:rect l="l" t="t" r="r" b="b"/>
              <a:pathLst>
                <a:path w="495300" h="495300">
                  <a:moveTo>
                    <a:pt x="247650" y="0"/>
                  </a:moveTo>
                  <a:cubicBezTo>
                    <a:pt x="110490" y="0"/>
                    <a:pt x="0" y="110490"/>
                    <a:pt x="0" y="247650"/>
                  </a:cubicBezTo>
                  <a:cubicBezTo>
                    <a:pt x="0" y="384810"/>
                    <a:pt x="110490" y="495300"/>
                    <a:pt x="247650" y="495300"/>
                  </a:cubicBezTo>
                  <a:cubicBezTo>
                    <a:pt x="383540" y="495300"/>
                    <a:pt x="495300" y="384810"/>
                    <a:pt x="495300" y="247650"/>
                  </a:cubicBezTo>
                  <a:cubicBezTo>
                    <a:pt x="495300" y="110490"/>
                    <a:pt x="383540" y="0"/>
                    <a:pt x="247650" y="0"/>
                  </a:cubicBezTo>
                  <a:close/>
                  <a:moveTo>
                    <a:pt x="247650" y="457200"/>
                  </a:moveTo>
                  <a:cubicBezTo>
                    <a:pt x="132080" y="457200"/>
                    <a:pt x="38100" y="363220"/>
                    <a:pt x="38100" y="247650"/>
                  </a:cubicBezTo>
                  <a:cubicBezTo>
                    <a:pt x="38100" y="132080"/>
                    <a:pt x="132080" y="38100"/>
                    <a:pt x="247650" y="38100"/>
                  </a:cubicBezTo>
                  <a:cubicBezTo>
                    <a:pt x="363220" y="38100"/>
                    <a:pt x="457200" y="132080"/>
                    <a:pt x="457200" y="247650"/>
                  </a:cubicBezTo>
                  <a:cubicBezTo>
                    <a:pt x="457200" y="363220"/>
                    <a:pt x="363220" y="457200"/>
                    <a:pt x="247650" y="4572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0" name="Freeform 30"/>
            <p:cNvSpPr/>
            <p:nvPr/>
          </p:nvSpPr>
          <p:spPr>
            <a:xfrm>
              <a:off x="38100" y="38100"/>
              <a:ext cx="419100" cy="419100"/>
            </a:xfrm>
            <a:custGeom>
              <a:avLst/>
              <a:gdLst/>
              <a:ahLst/>
              <a:cxnLst/>
              <a:rect l="l" t="t" r="r" b="b"/>
              <a:pathLst>
                <a:path w="419100" h="419100">
                  <a:moveTo>
                    <a:pt x="209550" y="0"/>
                  </a:moveTo>
                  <a:cubicBezTo>
                    <a:pt x="93980" y="0"/>
                    <a:pt x="0" y="93980"/>
                    <a:pt x="0" y="209550"/>
                  </a:cubicBezTo>
                  <a:cubicBezTo>
                    <a:pt x="0" y="325120"/>
                    <a:pt x="93980" y="419100"/>
                    <a:pt x="209550" y="419100"/>
                  </a:cubicBezTo>
                  <a:cubicBezTo>
                    <a:pt x="325120" y="419100"/>
                    <a:pt x="419100" y="325120"/>
                    <a:pt x="419100" y="209550"/>
                  </a:cubicBezTo>
                  <a:cubicBezTo>
                    <a:pt x="419100" y="93980"/>
                    <a:pt x="325120" y="0"/>
                    <a:pt x="209550" y="0"/>
                  </a:cubicBezTo>
                  <a:close/>
                </a:path>
              </a:pathLst>
            </a:custGeom>
            <a:solidFill>
              <a:srgbClr val="10AD5D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10673185" y="7013249"/>
            <a:ext cx="5718014" cy="2245051"/>
            <a:chOff x="0" y="0"/>
            <a:chExt cx="1505979" cy="59128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505979" cy="591289"/>
            </a:xfrm>
            <a:custGeom>
              <a:avLst/>
              <a:gdLst/>
              <a:ahLst/>
              <a:cxnLst/>
              <a:rect l="l" t="t" r="r" b="b"/>
              <a:pathLst>
                <a:path w="1505979" h="591289">
                  <a:moveTo>
                    <a:pt x="44680" y="0"/>
                  </a:moveTo>
                  <a:lnTo>
                    <a:pt x="1461299" y="0"/>
                  </a:lnTo>
                  <a:cubicBezTo>
                    <a:pt x="1473149" y="0"/>
                    <a:pt x="1484513" y="4707"/>
                    <a:pt x="1492892" y="13087"/>
                  </a:cubicBezTo>
                  <a:cubicBezTo>
                    <a:pt x="1501272" y="21466"/>
                    <a:pt x="1505979" y="32830"/>
                    <a:pt x="1505979" y="44680"/>
                  </a:cubicBezTo>
                  <a:lnTo>
                    <a:pt x="1505979" y="546609"/>
                  </a:lnTo>
                  <a:cubicBezTo>
                    <a:pt x="1505979" y="558459"/>
                    <a:pt x="1501272" y="569823"/>
                    <a:pt x="1492892" y="578202"/>
                  </a:cubicBezTo>
                  <a:cubicBezTo>
                    <a:pt x="1484513" y="586582"/>
                    <a:pt x="1473149" y="591289"/>
                    <a:pt x="1461299" y="591289"/>
                  </a:cubicBezTo>
                  <a:lnTo>
                    <a:pt x="44680" y="591289"/>
                  </a:lnTo>
                  <a:cubicBezTo>
                    <a:pt x="32830" y="591289"/>
                    <a:pt x="21466" y="586582"/>
                    <a:pt x="13087" y="578202"/>
                  </a:cubicBezTo>
                  <a:cubicBezTo>
                    <a:pt x="4707" y="569823"/>
                    <a:pt x="0" y="558459"/>
                    <a:pt x="0" y="546609"/>
                  </a:cubicBezTo>
                  <a:lnTo>
                    <a:pt x="0" y="44680"/>
                  </a:lnTo>
                  <a:cubicBezTo>
                    <a:pt x="0" y="32830"/>
                    <a:pt x="4707" y="21466"/>
                    <a:pt x="13087" y="13087"/>
                  </a:cubicBezTo>
                  <a:cubicBezTo>
                    <a:pt x="21466" y="4707"/>
                    <a:pt x="32830" y="0"/>
                    <a:pt x="44680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0" y="-38100"/>
              <a:ext cx="1505979" cy="6293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34" name="Group 34"/>
          <p:cNvGrpSpPr>
            <a:grpSpLocks noChangeAspect="1"/>
          </p:cNvGrpSpPr>
          <p:nvPr/>
        </p:nvGrpSpPr>
        <p:grpSpPr>
          <a:xfrm>
            <a:off x="9716444" y="7261921"/>
            <a:ext cx="1736201" cy="1736201"/>
            <a:chOff x="0" y="0"/>
            <a:chExt cx="14400530" cy="1440053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4400530" cy="14399261"/>
            </a:xfrm>
            <a:custGeom>
              <a:avLst/>
              <a:gdLst/>
              <a:ahLst/>
              <a:cxnLst/>
              <a:rect l="l" t="t" r="r" b="b"/>
              <a:pathLst>
                <a:path w="14400530" h="14399261">
                  <a:moveTo>
                    <a:pt x="7199630" y="0"/>
                  </a:moveTo>
                  <a:cubicBezTo>
                    <a:pt x="3223260" y="0"/>
                    <a:pt x="0" y="3223260"/>
                    <a:pt x="0" y="7199630"/>
                  </a:cubicBezTo>
                  <a:cubicBezTo>
                    <a:pt x="0" y="11176001"/>
                    <a:pt x="3223260" y="14399261"/>
                    <a:pt x="7199630" y="14399261"/>
                  </a:cubicBezTo>
                  <a:lnTo>
                    <a:pt x="14399261" y="14399261"/>
                  </a:lnTo>
                  <a:lnTo>
                    <a:pt x="14399261" y="7199630"/>
                  </a:lnTo>
                  <a:cubicBezTo>
                    <a:pt x="14400530" y="3223260"/>
                    <a:pt x="11176000" y="0"/>
                    <a:pt x="7199630" y="0"/>
                  </a:cubicBezTo>
                  <a:close/>
                </a:path>
              </a:pathLst>
            </a:custGeom>
            <a:solidFill>
              <a:srgbClr val="B9DB5F"/>
            </a:solidFill>
          </p:spPr>
        </p:sp>
      </p:grpSp>
      <p:grpSp>
        <p:nvGrpSpPr>
          <p:cNvPr id="36" name="Group 36"/>
          <p:cNvGrpSpPr>
            <a:grpSpLocks noChangeAspect="1"/>
          </p:cNvGrpSpPr>
          <p:nvPr/>
        </p:nvGrpSpPr>
        <p:grpSpPr>
          <a:xfrm>
            <a:off x="9835296" y="7380772"/>
            <a:ext cx="1498498" cy="1498498"/>
            <a:chOff x="0" y="0"/>
            <a:chExt cx="495300" cy="4953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495300" cy="495300"/>
            </a:xfrm>
            <a:custGeom>
              <a:avLst/>
              <a:gdLst/>
              <a:ahLst/>
              <a:cxnLst/>
              <a:rect l="l" t="t" r="r" b="b"/>
              <a:pathLst>
                <a:path w="495300" h="495300">
                  <a:moveTo>
                    <a:pt x="247650" y="0"/>
                  </a:moveTo>
                  <a:cubicBezTo>
                    <a:pt x="110490" y="0"/>
                    <a:pt x="0" y="110490"/>
                    <a:pt x="0" y="247650"/>
                  </a:cubicBezTo>
                  <a:cubicBezTo>
                    <a:pt x="0" y="384810"/>
                    <a:pt x="110490" y="495300"/>
                    <a:pt x="247650" y="495300"/>
                  </a:cubicBezTo>
                  <a:cubicBezTo>
                    <a:pt x="383540" y="495300"/>
                    <a:pt x="495300" y="384810"/>
                    <a:pt x="495300" y="247650"/>
                  </a:cubicBezTo>
                  <a:cubicBezTo>
                    <a:pt x="495300" y="110490"/>
                    <a:pt x="383540" y="0"/>
                    <a:pt x="247650" y="0"/>
                  </a:cubicBezTo>
                  <a:close/>
                  <a:moveTo>
                    <a:pt x="247650" y="457200"/>
                  </a:moveTo>
                  <a:cubicBezTo>
                    <a:pt x="132080" y="457200"/>
                    <a:pt x="38100" y="363220"/>
                    <a:pt x="38100" y="247650"/>
                  </a:cubicBezTo>
                  <a:cubicBezTo>
                    <a:pt x="38100" y="132080"/>
                    <a:pt x="132080" y="38100"/>
                    <a:pt x="247650" y="38100"/>
                  </a:cubicBezTo>
                  <a:cubicBezTo>
                    <a:pt x="363220" y="38100"/>
                    <a:pt x="457200" y="132080"/>
                    <a:pt x="457200" y="247650"/>
                  </a:cubicBezTo>
                  <a:cubicBezTo>
                    <a:pt x="457200" y="363220"/>
                    <a:pt x="363220" y="457200"/>
                    <a:pt x="247650" y="4572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8" name="Freeform 38"/>
            <p:cNvSpPr/>
            <p:nvPr/>
          </p:nvSpPr>
          <p:spPr>
            <a:xfrm>
              <a:off x="38100" y="38100"/>
              <a:ext cx="419100" cy="419100"/>
            </a:xfrm>
            <a:custGeom>
              <a:avLst/>
              <a:gdLst/>
              <a:ahLst/>
              <a:cxnLst/>
              <a:rect l="l" t="t" r="r" b="b"/>
              <a:pathLst>
                <a:path w="419100" h="419100">
                  <a:moveTo>
                    <a:pt x="209550" y="0"/>
                  </a:moveTo>
                  <a:cubicBezTo>
                    <a:pt x="93980" y="0"/>
                    <a:pt x="0" y="93980"/>
                    <a:pt x="0" y="209550"/>
                  </a:cubicBezTo>
                  <a:cubicBezTo>
                    <a:pt x="0" y="325120"/>
                    <a:pt x="93980" y="419100"/>
                    <a:pt x="209550" y="419100"/>
                  </a:cubicBezTo>
                  <a:cubicBezTo>
                    <a:pt x="325120" y="419100"/>
                    <a:pt x="419100" y="325120"/>
                    <a:pt x="419100" y="209550"/>
                  </a:cubicBezTo>
                  <a:cubicBezTo>
                    <a:pt x="419100" y="93980"/>
                    <a:pt x="325120" y="0"/>
                    <a:pt x="209550" y="0"/>
                  </a:cubicBezTo>
                  <a:close/>
                </a:path>
              </a:pathLst>
            </a:custGeom>
            <a:solidFill>
              <a:srgbClr val="B9DB5F"/>
            </a:solidFill>
          </p:spPr>
        </p:sp>
      </p:grpSp>
      <p:sp>
        <p:nvSpPr>
          <p:cNvPr id="39" name="AutoShape 39"/>
          <p:cNvSpPr/>
          <p:nvPr/>
        </p:nvSpPr>
        <p:spPr>
          <a:xfrm>
            <a:off x="-369380" y="650332"/>
            <a:ext cx="1279725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0" name="Freeform 40"/>
          <p:cNvSpPr/>
          <p:nvPr/>
        </p:nvSpPr>
        <p:spPr>
          <a:xfrm>
            <a:off x="2278109" y="7852863"/>
            <a:ext cx="761383" cy="710942"/>
          </a:xfrm>
          <a:custGeom>
            <a:avLst/>
            <a:gdLst/>
            <a:ahLst/>
            <a:cxnLst/>
            <a:rect l="l" t="t" r="r" b="b"/>
            <a:pathLst>
              <a:path w="761383" h="710942">
                <a:moveTo>
                  <a:pt x="0" y="0"/>
                </a:moveTo>
                <a:lnTo>
                  <a:pt x="761383" y="0"/>
                </a:lnTo>
                <a:lnTo>
                  <a:pt x="761383" y="710942"/>
                </a:lnTo>
                <a:lnTo>
                  <a:pt x="0" y="71094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1" name="Freeform 41"/>
          <p:cNvSpPr/>
          <p:nvPr/>
        </p:nvSpPr>
        <p:spPr>
          <a:xfrm>
            <a:off x="10348525" y="7694616"/>
            <a:ext cx="472039" cy="882317"/>
          </a:xfrm>
          <a:custGeom>
            <a:avLst/>
            <a:gdLst/>
            <a:ahLst/>
            <a:cxnLst/>
            <a:rect l="l" t="t" r="r" b="b"/>
            <a:pathLst>
              <a:path w="472039" h="882317">
                <a:moveTo>
                  <a:pt x="0" y="0"/>
                </a:moveTo>
                <a:lnTo>
                  <a:pt x="472039" y="0"/>
                </a:lnTo>
                <a:lnTo>
                  <a:pt x="472039" y="882317"/>
                </a:lnTo>
                <a:lnTo>
                  <a:pt x="0" y="88231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2" name="Freeform 42"/>
          <p:cNvSpPr/>
          <p:nvPr/>
        </p:nvSpPr>
        <p:spPr>
          <a:xfrm>
            <a:off x="10164838" y="4746933"/>
            <a:ext cx="839414" cy="762818"/>
          </a:xfrm>
          <a:custGeom>
            <a:avLst/>
            <a:gdLst/>
            <a:ahLst/>
            <a:cxnLst/>
            <a:rect l="l" t="t" r="r" b="b"/>
            <a:pathLst>
              <a:path w="839414" h="762818">
                <a:moveTo>
                  <a:pt x="0" y="0"/>
                </a:moveTo>
                <a:lnTo>
                  <a:pt x="839414" y="0"/>
                </a:lnTo>
                <a:lnTo>
                  <a:pt x="839414" y="762818"/>
                </a:lnTo>
                <a:lnTo>
                  <a:pt x="0" y="76281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3" name="Freeform 43"/>
          <p:cNvSpPr/>
          <p:nvPr/>
        </p:nvSpPr>
        <p:spPr>
          <a:xfrm>
            <a:off x="2193006" y="4662548"/>
            <a:ext cx="931589" cy="931589"/>
          </a:xfrm>
          <a:custGeom>
            <a:avLst/>
            <a:gdLst/>
            <a:ahLst/>
            <a:cxnLst/>
            <a:rect l="l" t="t" r="r" b="b"/>
            <a:pathLst>
              <a:path w="931589" h="931589">
                <a:moveTo>
                  <a:pt x="0" y="0"/>
                </a:moveTo>
                <a:lnTo>
                  <a:pt x="931589" y="0"/>
                </a:lnTo>
                <a:lnTo>
                  <a:pt x="931589" y="931589"/>
                </a:lnTo>
                <a:lnTo>
                  <a:pt x="0" y="93158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44" name="Freeform 44"/>
          <p:cNvSpPr/>
          <p:nvPr/>
        </p:nvSpPr>
        <p:spPr>
          <a:xfrm>
            <a:off x="-865757" y="-496474"/>
            <a:ext cx="1731513" cy="1525174"/>
          </a:xfrm>
          <a:custGeom>
            <a:avLst/>
            <a:gdLst/>
            <a:ahLst/>
            <a:cxnLst/>
            <a:rect l="l" t="t" r="r" b="b"/>
            <a:pathLst>
              <a:path w="1731513" h="1525174">
                <a:moveTo>
                  <a:pt x="0" y="0"/>
                </a:moveTo>
                <a:lnTo>
                  <a:pt x="1731514" y="0"/>
                </a:lnTo>
                <a:lnTo>
                  <a:pt x="1731514" y="1525174"/>
                </a:lnTo>
                <a:lnTo>
                  <a:pt x="0" y="152517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45" name="Freeform 45"/>
          <p:cNvSpPr/>
          <p:nvPr/>
        </p:nvSpPr>
        <p:spPr>
          <a:xfrm rot="-3807752" flipV="1">
            <a:off x="17013101" y="9453376"/>
            <a:ext cx="1837188" cy="1667248"/>
          </a:xfrm>
          <a:custGeom>
            <a:avLst/>
            <a:gdLst/>
            <a:ahLst/>
            <a:cxnLst/>
            <a:rect l="l" t="t" r="r" b="b"/>
            <a:pathLst>
              <a:path w="1837188" h="1667248">
                <a:moveTo>
                  <a:pt x="0" y="1667248"/>
                </a:moveTo>
                <a:lnTo>
                  <a:pt x="1837188" y="1667248"/>
                </a:lnTo>
                <a:lnTo>
                  <a:pt x="1837188" y="0"/>
                </a:lnTo>
                <a:lnTo>
                  <a:pt x="0" y="0"/>
                </a:lnTo>
                <a:lnTo>
                  <a:pt x="0" y="1667248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6"/>
          <p:cNvSpPr txBox="1"/>
          <p:nvPr/>
        </p:nvSpPr>
        <p:spPr>
          <a:xfrm>
            <a:off x="3939656" y="4350518"/>
            <a:ext cx="4144490" cy="4387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639"/>
              </a:lnSpc>
              <a:spcBef>
                <a:spcPct val="0"/>
              </a:spcBef>
            </a:pPr>
            <a:r>
              <a:rPr lang="en-US" altLang="zh-CN" sz="2599" b="1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Hands-on</a:t>
            </a:r>
            <a:endParaRPr lang="en-US" sz="2599" b="1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3939655" y="4945894"/>
            <a:ext cx="4144491" cy="2814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altLang="zh-CN" sz="1599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Deep technical foundation, capable of solving complex problems directly.</a:t>
            </a:r>
            <a:endParaRPr lang="en-US" sz="1599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49" name="TextBox 49"/>
          <p:cNvSpPr txBox="1"/>
          <p:nvPr/>
        </p:nvSpPr>
        <p:spPr>
          <a:xfrm>
            <a:off x="3541977" y="1028700"/>
            <a:ext cx="11204046" cy="796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6480"/>
              </a:lnSpc>
            </a:pPr>
            <a:r>
              <a:rPr lang="en-US" altLang="zh-CN" sz="5400" b="1" u="none" strike="noStrike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Tech Lead Hire</a:t>
            </a:r>
            <a:endParaRPr lang="en-US" sz="5400" b="1" u="none" strike="noStrike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51" name="TextBox 51"/>
          <p:cNvSpPr txBox="1"/>
          <p:nvPr/>
        </p:nvSpPr>
        <p:spPr>
          <a:xfrm>
            <a:off x="11865400" y="4350518"/>
            <a:ext cx="4144490" cy="4387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639"/>
              </a:lnSpc>
              <a:spcBef>
                <a:spcPct val="0"/>
              </a:spcBef>
            </a:pPr>
            <a:r>
              <a:rPr lang="en-US" altLang="zh-CN" sz="2599" b="1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Leadership</a:t>
            </a:r>
            <a:endParaRPr lang="en-US" sz="2599" b="1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52" name="TextBox 52"/>
          <p:cNvSpPr txBox="1"/>
          <p:nvPr/>
        </p:nvSpPr>
        <p:spPr>
          <a:xfrm>
            <a:off x="11865399" y="4945894"/>
            <a:ext cx="4144491" cy="2814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altLang="zh-CN" sz="1599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Excellent leadership and ability to integrate cross-departmental resources efficiently.</a:t>
            </a:r>
            <a:endParaRPr lang="en-US" sz="1599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53" name="TextBox 53"/>
          <p:cNvSpPr txBox="1"/>
          <p:nvPr/>
        </p:nvSpPr>
        <p:spPr>
          <a:xfrm>
            <a:off x="3939656" y="7352197"/>
            <a:ext cx="4144490" cy="4387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639"/>
              </a:lnSpc>
              <a:spcBef>
                <a:spcPct val="0"/>
              </a:spcBef>
            </a:pPr>
            <a:r>
              <a:rPr lang="en-US" altLang="zh-CN" sz="2599" b="1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Forward</a:t>
            </a:r>
            <a:endParaRPr lang="en-US" sz="2599" b="1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54" name="TextBox 54"/>
          <p:cNvSpPr txBox="1"/>
          <p:nvPr/>
        </p:nvSpPr>
        <p:spPr>
          <a:xfrm>
            <a:off x="3939655" y="7947573"/>
            <a:ext cx="4144491" cy="2814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altLang="zh-CN" sz="1599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Insight into future trends, leading the team to groundbreaking achievements.</a:t>
            </a:r>
            <a:endParaRPr lang="en-US" sz="1599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55" name="TextBox 55"/>
          <p:cNvSpPr txBox="1"/>
          <p:nvPr/>
        </p:nvSpPr>
        <p:spPr>
          <a:xfrm>
            <a:off x="11865400" y="7352197"/>
            <a:ext cx="4144490" cy="4387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639"/>
              </a:lnSpc>
              <a:spcBef>
                <a:spcPct val="0"/>
              </a:spcBef>
            </a:pPr>
            <a:r>
              <a:rPr lang="en-US" altLang="zh-CN" sz="2599" b="1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Reports To</a:t>
            </a:r>
            <a:endParaRPr lang="en-US" sz="2599" b="1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56" name="TextBox 56"/>
          <p:cNvSpPr txBox="1"/>
          <p:nvPr/>
        </p:nvSpPr>
        <p:spPr>
          <a:xfrm>
            <a:off x="11865399" y="7947573"/>
            <a:ext cx="4144491" cy="2814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altLang="zh-CN" sz="1599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Reports directly to Ryan, ensuring accountability to clients and strategic alignment.</a:t>
            </a:r>
            <a:endParaRPr lang="en-US" sz="1599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57" name="Freeform 57"/>
          <p:cNvSpPr/>
          <p:nvPr/>
        </p:nvSpPr>
        <p:spPr>
          <a:xfrm flipH="1">
            <a:off x="-5405648" y="9457960"/>
            <a:ext cx="7315200" cy="3425952"/>
          </a:xfrm>
          <a:custGeom>
            <a:avLst/>
            <a:gdLst/>
            <a:ahLst/>
            <a:cxnLst/>
            <a:rect l="l" t="t" r="r" b="b"/>
            <a:pathLst>
              <a:path w="7315200" h="3425952">
                <a:moveTo>
                  <a:pt x="7315200" y="0"/>
                </a:moveTo>
                <a:lnTo>
                  <a:pt x="0" y="0"/>
                </a:lnTo>
                <a:lnTo>
                  <a:pt x="0" y="3425952"/>
                </a:lnTo>
                <a:lnTo>
                  <a:pt x="7315200" y="3425952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  <p:sp>
        <p:nvSpPr>
          <p:cNvPr id="58" name="Freeform 58"/>
          <p:cNvSpPr/>
          <p:nvPr/>
        </p:nvSpPr>
        <p:spPr>
          <a:xfrm flipV="1">
            <a:off x="16165514" y="-2634240"/>
            <a:ext cx="7315200" cy="3425952"/>
          </a:xfrm>
          <a:custGeom>
            <a:avLst/>
            <a:gdLst/>
            <a:ahLst/>
            <a:cxnLst/>
            <a:rect l="l" t="t" r="r" b="b"/>
            <a:pathLst>
              <a:path w="7315200" h="3425952">
                <a:moveTo>
                  <a:pt x="0" y="3425952"/>
                </a:moveTo>
                <a:lnTo>
                  <a:pt x="7315200" y="3425952"/>
                </a:lnTo>
                <a:lnTo>
                  <a:pt x="7315200" y="0"/>
                </a:lnTo>
                <a:lnTo>
                  <a:pt x="0" y="0"/>
                </a:lnTo>
                <a:lnTo>
                  <a:pt x="0" y="3425952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9778435" y="3174299"/>
            <a:ext cx="6737191" cy="1262390"/>
            <a:chOff x="0" y="0"/>
            <a:chExt cx="2276820" cy="42662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276820" cy="426622"/>
            </a:xfrm>
            <a:custGeom>
              <a:avLst/>
              <a:gdLst/>
              <a:ahLst/>
              <a:cxnLst/>
              <a:rect l="l" t="t" r="r" b="b"/>
              <a:pathLst>
                <a:path w="2276820" h="426622">
                  <a:moveTo>
                    <a:pt x="27579" y="0"/>
                  </a:moveTo>
                  <a:lnTo>
                    <a:pt x="2249241" y="0"/>
                  </a:lnTo>
                  <a:cubicBezTo>
                    <a:pt x="2264472" y="0"/>
                    <a:pt x="2276820" y="12348"/>
                    <a:pt x="2276820" y="27579"/>
                  </a:cubicBezTo>
                  <a:lnTo>
                    <a:pt x="2276820" y="399043"/>
                  </a:lnTo>
                  <a:cubicBezTo>
                    <a:pt x="2276820" y="414274"/>
                    <a:pt x="2264472" y="426622"/>
                    <a:pt x="2249241" y="426622"/>
                  </a:cubicBezTo>
                  <a:lnTo>
                    <a:pt x="27579" y="426622"/>
                  </a:lnTo>
                  <a:cubicBezTo>
                    <a:pt x="12348" y="426622"/>
                    <a:pt x="0" y="414274"/>
                    <a:pt x="0" y="399043"/>
                  </a:cubicBezTo>
                  <a:lnTo>
                    <a:pt x="0" y="27579"/>
                  </a:lnTo>
                  <a:cubicBezTo>
                    <a:pt x="0" y="12348"/>
                    <a:pt x="12348" y="0"/>
                    <a:pt x="2757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276820" cy="4647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8138294" y="3174299"/>
            <a:ext cx="1262390" cy="1262390"/>
            <a:chOff x="0" y="0"/>
            <a:chExt cx="14400530" cy="1440053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400530" cy="14399261"/>
            </a:xfrm>
            <a:custGeom>
              <a:avLst/>
              <a:gdLst/>
              <a:ahLst/>
              <a:cxnLst/>
              <a:rect l="l" t="t" r="r" b="b"/>
              <a:pathLst>
                <a:path w="14400530" h="14399261">
                  <a:moveTo>
                    <a:pt x="7199630" y="0"/>
                  </a:moveTo>
                  <a:cubicBezTo>
                    <a:pt x="3223260" y="0"/>
                    <a:pt x="0" y="3223260"/>
                    <a:pt x="0" y="7199630"/>
                  </a:cubicBezTo>
                  <a:cubicBezTo>
                    <a:pt x="0" y="11176001"/>
                    <a:pt x="3223260" y="14399261"/>
                    <a:pt x="7199630" y="14399261"/>
                  </a:cubicBezTo>
                  <a:lnTo>
                    <a:pt x="14399261" y="14399261"/>
                  </a:lnTo>
                  <a:lnTo>
                    <a:pt x="14399261" y="7199630"/>
                  </a:lnTo>
                  <a:cubicBezTo>
                    <a:pt x="14400530" y="3223260"/>
                    <a:pt x="11176000" y="0"/>
                    <a:pt x="7199630" y="0"/>
                  </a:cubicBezTo>
                  <a:close/>
                </a:path>
              </a:pathLst>
            </a:custGeom>
            <a:solidFill>
              <a:srgbClr val="3A7377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9778435" y="4878074"/>
            <a:ext cx="6737191" cy="1262390"/>
            <a:chOff x="0" y="0"/>
            <a:chExt cx="2276820" cy="42662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76820" cy="426622"/>
            </a:xfrm>
            <a:custGeom>
              <a:avLst/>
              <a:gdLst/>
              <a:ahLst/>
              <a:cxnLst/>
              <a:rect l="l" t="t" r="r" b="b"/>
              <a:pathLst>
                <a:path w="2276820" h="426622">
                  <a:moveTo>
                    <a:pt x="27579" y="0"/>
                  </a:moveTo>
                  <a:lnTo>
                    <a:pt x="2249241" y="0"/>
                  </a:lnTo>
                  <a:cubicBezTo>
                    <a:pt x="2264472" y="0"/>
                    <a:pt x="2276820" y="12348"/>
                    <a:pt x="2276820" y="27579"/>
                  </a:cubicBezTo>
                  <a:lnTo>
                    <a:pt x="2276820" y="399043"/>
                  </a:lnTo>
                  <a:cubicBezTo>
                    <a:pt x="2276820" y="414274"/>
                    <a:pt x="2264472" y="426622"/>
                    <a:pt x="2249241" y="426622"/>
                  </a:cubicBezTo>
                  <a:lnTo>
                    <a:pt x="27579" y="426622"/>
                  </a:lnTo>
                  <a:cubicBezTo>
                    <a:pt x="12348" y="426622"/>
                    <a:pt x="0" y="414274"/>
                    <a:pt x="0" y="399043"/>
                  </a:cubicBezTo>
                  <a:lnTo>
                    <a:pt x="0" y="27579"/>
                  </a:lnTo>
                  <a:cubicBezTo>
                    <a:pt x="0" y="12348"/>
                    <a:pt x="12348" y="0"/>
                    <a:pt x="2757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276820" cy="4647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11" name="Group 11"/>
          <p:cNvGrpSpPr>
            <a:grpSpLocks noChangeAspect="1"/>
          </p:cNvGrpSpPr>
          <p:nvPr/>
        </p:nvGrpSpPr>
        <p:grpSpPr>
          <a:xfrm>
            <a:off x="8138294" y="4873803"/>
            <a:ext cx="1262390" cy="1262390"/>
            <a:chOff x="0" y="0"/>
            <a:chExt cx="14400530" cy="1440053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4400530" cy="14399261"/>
            </a:xfrm>
            <a:custGeom>
              <a:avLst/>
              <a:gdLst/>
              <a:ahLst/>
              <a:cxnLst/>
              <a:rect l="l" t="t" r="r" b="b"/>
              <a:pathLst>
                <a:path w="14400530" h="14399261">
                  <a:moveTo>
                    <a:pt x="7199630" y="0"/>
                  </a:moveTo>
                  <a:cubicBezTo>
                    <a:pt x="3223260" y="0"/>
                    <a:pt x="0" y="3223260"/>
                    <a:pt x="0" y="7199630"/>
                  </a:cubicBezTo>
                  <a:cubicBezTo>
                    <a:pt x="0" y="11176001"/>
                    <a:pt x="3223260" y="14399261"/>
                    <a:pt x="7199630" y="14399261"/>
                  </a:cubicBezTo>
                  <a:lnTo>
                    <a:pt x="14399261" y="14399261"/>
                  </a:lnTo>
                  <a:lnTo>
                    <a:pt x="14399261" y="7199630"/>
                  </a:lnTo>
                  <a:cubicBezTo>
                    <a:pt x="14400530" y="3223260"/>
                    <a:pt x="11176000" y="0"/>
                    <a:pt x="7199630" y="0"/>
                  </a:cubicBezTo>
                  <a:close/>
                </a:path>
              </a:pathLst>
            </a:custGeom>
            <a:solidFill>
              <a:srgbClr val="B9DB5F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9778435" y="6583566"/>
            <a:ext cx="6737191" cy="1262390"/>
            <a:chOff x="0" y="0"/>
            <a:chExt cx="2276820" cy="42662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76820" cy="426622"/>
            </a:xfrm>
            <a:custGeom>
              <a:avLst/>
              <a:gdLst/>
              <a:ahLst/>
              <a:cxnLst/>
              <a:rect l="l" t="t" r="r" b="b"/>
              <a:pathLst>
                <a:path w="2276820" h="426622">
                  <a:moveTo>
                    <a:pt x="27579" y="0"/>
                  </a:moveTo>
                  <a:lnTo>
                    <a:pt x="2249241" y="0"/>
                  </a:lnTo>
                  <a:cubicBezTo>
                    <a:pt x="2264472" y="0"/>
                    <a:pt x="2276820" y="12348"/>
                    <a:pt x="2276820" y="27579"/>
                  </a:cubicBezTo>
                  <a:lnTo>
                    <a:pt x="2276820" y="399043"/>
                  </a:lnTo>
                  <a:cubicBezTo>
                    <a:pt x="2276820" y="414274"/>
                    <a:pt x="2264472" y="426622"/>
                    <a:pt x="2249241" y="426622"/>
                  </a:cubicBezTo>
                  <a:lnTo>
                    <a:pt x="27579" y="426622"/>
                  </a:lnTo>
                  <a:cubicBezTo>
                    <a:pt x="12348" y="426622"/>
                    <a:pt x="0" y="414274"/>
                    <a:pt x="0" y="399043"/>
                  </a:cubicBezTo>
                  <a:lnTo>
                    <a:pt x="0" y="27579"/>
                  </a:lnTo>
                  <a:cubicBezTo>
                    <a:pt x="0" y="12348"/>
                    <a:pt x="12348" y="0"/>
                    <a:pt x="2757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2276820" cy="4647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16" name="Group 16"/>
          <p:cNvGrpSpPr>
            <a:grpSpLocks noChangeAspect="1"/>
          </p:cNvGrpSpPr>
          <p:nvPr/>
        </p:nvGrpSpPr>
        <p:grpSpPr>
          <a:xfrm>
            <a:off x="8138294" y="6577577"/>
            <a:ext cx="1262390" cy="1262390"/>
            <a:chOff x="0" y="0"/>
            <a:chExt cx="14400530" cy="1440053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4400530" cy="14399261"/>
            </a:xfrm>
            <a:custGeom>
              <a:avLst/>
              <a:gdLst/>
              <a:ahLst/>
              <a:cxnLst/>
              <a:rect l="l" t="t" r="r" b="b"/>
              <a:pathLst>
                <a:path w="14400530" h="14399261">
                  <a:moveTo>
                    <a:pt x="7199630" y="0"/>
                  </a:moveTo>
                  <a:cubicBezTo>
                    <a:pt x="3223260" y="0"/>
                    <a:pt x="0" y="3223260"/>
                    <a:pt x="0" y="7199630"/>
                  </a:cubicBezTo>
                  <a:cubicBezTo>
                    <a:pt x="0" y="11176001"/>
                    <a:pt x="3223260" y="14399261"/>
                    <a:pt x="7199630" y="14399261"/>
                  </a:cubicBezTo>
                  <a:lnTo>
                    <a:pt x="14399261" y="14399261"/>
                  </a:lnTo>
                  <a:lnTo>
                    <a:pt x="14399261" y="7199630"/>
                  </a:lnTo>
                  <a:cubicBezTo>
                    <a:pt x="14400530" y="3223260"/>
                    <a:pt x="11176000" y="0"/>
                    <a:pt x="7199630" y="0"/>
                  </a:cubicBezTo>
                  <a:close/>
                </a:path>
              </a:pathLst>
            </a:custGeom>
            <a:solidFill>
              <a:srgbClr val="10AD5D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9778435" y="8283070"/>
            <a:ext cx="6737191" cy="1262390"/>
            <a:chOff x="0" y="0"/>
            <a:chExt cx="2276820" cy="42662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276820" cy="426622"/>
            </a:xfrm>
            <a:custGeom>
              <a:avLst/>
              <a:gdLst/>
              <a:ahLst/>
              <a:cxnLst/>
              <a:rect l="l" t="t" r="r" b="b"/>
              <a:pathLst>
                <a:path w="2276820" h="426622">
                  <a:moveTo>
                    <a:pt x="27579" y="0"/>
                  </a:moveTo>
                  <a:lnTo>
                    <a:pt x="2249241" y="0"/>
                  </a:lnTo>
                  <a:cubicBezTo>
                    <a:pt x="2264472" y="0"/>
                    <a:pt x="2276820" y="12348"/>
                    <a:pt x="2276820" y="27579"/>
                  </a:cubicBezTo>
                  <a:lnTo>
                    <a:pt x="2276820" y="399043"/>
                  </a:lnTo>
                  <a:cubicBezTo>
                    <a:pt x="2276820" y="414274"/>
                    <a:pt x="2264472" y="426622"/>
                    <a:pt x="2249241" y="426622"/>
                  </a:cubicBezTo>
                  <a:lnTo>
                    <a:pt x="27579" y="426622"/>
                  </a:lnTo>
                  <a:cubicBezTo>
                    <a:pt x="12348" y="426622"/>
                    <a:pt x="0" y="414274"/>
                    <a:pt x="0" y="399043"/>
                  </a:cubicBezTo>
                  <a:lnTo>
                    <a:pt x="0" y="27579"/>
                  </a:lnTo>
                  <a:cubicBezTo>
                    <a:pt x="0" y="12348"/>
                    <a:pt x="12348" y="0"/>
                    <a:pt x="2757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2276820" cy="4647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21" name="Group 21"/>
          <p:cNvGrpSpPr>
            <a:grpSpLocks noChangeAspect="1"/>
          </p:cNvGrpSpPr>
          <p:nvPr/>
        </p:nvGrpSpPr>
        <p:grpSpPr>
          <a:xfrm>
            <a:off x="8138294" y="8283070"/>
            <a:ext cx="1262390" cy="1262390"/>
            <a:chOff x="0" y="0"/>
            <a:chExt cx="14400530" cy="1440053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4400530" cy="14399261"/>
            </a:xfrm>
            <a:custGeom>
              <a:avLst/>
              <a:gdLst/>
              <a:ahLst/>
              <a:cxnLst/>
              <a:rect l="l" t="t" r="r" b="b"/>
              <a:pathLst>
                <a:path w="14400530" h="14399261">
                  <a:moveTo>
                    <a:pt x="7199630" y="0"/>
                  </a:moveTo>
                  <a:cubicBezTo>
                    <a:pt x="3223260" y="0"/>
                    <a:pt x="0" y="3223260"/>
                    <a:pt x="0" y="7199630"/>
                  </a:cubicBezTo>
                  <a:cubicBezTo>
                    <a:pt x="0" y="11176001"/>
                    <a:pt x="3223260" y="14399261"/>
                    <a:pt x="7199630" y="14399261"/>
                  </a:cubicBezTo>
                  <a:lnTo>
                    <a:pt x="14399261" y="14399261"/>
                  </a:lnTo>
                  <a:lnTo>
                    <a:pt x="14399261" y="7199630"/>
                  </a:lnTo>
                  <a:cubicBezTo>
                    <a:pt x="14400530" y="3223260"/>
                    <a:pt x="11176000" y="0"/>
                    <a:pt x="7199630" y="0"/>
                  </a:cubicBezTo>
                  <a:close/>
                </a:path>
              </a:pathLst>
            </a:custGeom>
            <a:solidFill>
              <a:srgbClr val="5EA6B2"/>
            </a:solidFill>
          </p:spPr>
        </p:sp>
      </p:grpSp>
      <p:sp>
        <p:nvSpPr>
          <p:cNvPr id="23" name="Freeform 23"/>
          <p:cNvSpPr/>
          <p:nvPr/>
        </p:nvSpPr>
        <p:spPr>
          <a:xfrm>
            <a:off x="15318027" y="3482007"/>
            <a:ext cx="646974" cy="646974"/>
          </a:xfrm>
          <a:custGeom>
            <a:avLst/>
            <a:gdLst/>
            <a:ahLst/>
            <a:cxnLst/>
            <a:rect l="l" t="t" r="r" b="b"/>
            <a:pathLst>
              <a:path w="646974" h="646974">
                <a:moveTo>
                  <a:pt x="0" y="0"/>
                </a:moveTo>
                <a:lnTo>
                  <a:pt x="646974" y="0"/>
                </a:lnTo>
                <a:lnTo>
                  <a:pt x="646974" y="646974"/>
                </a:lnTo>
                <a:lnTo>
                  <a:pt x="0" y="6469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15316969" y="5191813"/>
            <a:ext cx="649089" cy="626371"/>
          </a:xfrm>
          <a:custGeom>
            <a:avLst/>
            <a:gdLst/>
            <a:ahLst/>
            <a:cxnLst/>
            <a:rect l="l" t="t" r="r" b="b"/>
            <a:pathLst>
              <a:path w="649089" h="626371">
                <a:moveTo>
                  <a:pt x="0" y="0"/>
                </a:moveTo>
                <a:lnTo>
                  <a:pt x="649089" y="0"/>
                </a:lnTo>
                <a:lnTo>
                  <a:pt x="649089" y="626371"/>
                </a:lnTo>
                <a:lnTo>
                  <a:pt x="0" y="62637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15357957" y="6925215"/>
            <a:ext cx="567114" cy="567114"/>
          </a:xfrm>
          <a:custGeom>
            <a:avLst/>
            <a:gdLst/>
            <a:ahLst/>
            <a:cxnLst/>
            <a:rect l="l" t="t" r="r" b="b"/>
            <a:pathLst>
              <a:path w="567114" h="567114">
                <a:moveTo>
                  <a:pt x="0" y="0"/>
                </a:moveTo>
                <a:lnTo>
                  <a:pt x="567114" y="0"/>
                </a:lnTo>
                <a:lnTo>
                  <a:pt x="567114" y="567115"/>
                </a:lnTo>
                <a:lnTo>
                  <a:pt x="0" y="56711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15397886" y="8535078"/>
            <a:ext cx="487255" cy="758373"/>
          </a:xfrm>
          <a:custGeom>
            <a:avLst/>
            <a:gdLst/>
            <a:ahLst/>
            <a:cxnLst/>
            <a:rect l="l" t="t" r="r" b="b"/>
            <a:pathLst>
              <a:path w="487255" h="758373">
                <a:moveTo>
                  <a:pt x="0" y="0"/>
                </a:moveTo>
                <a:lnTo>
                  <a:pt x="487255" y="0"/>
                </a:lnTo>
                <a:lnTo>
                  <a:pt x="487255" y="758373"/>
                </a:lnTo>
                <a:lnTo>
                  <a:pt x="0" y="75837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-354131" y="7319555"/>
            <a:ext cx="1177832" cy="1786344"/>
          </a:xfrm>
          <a:custGeom>
            <a:avLst/>
            <a:gdLst/>
            <a:ahLst/>
            <a:cxnLst/>
            <a:rect l="l" t="t" r="r" b="b"/>
            <a:pathLst>
              <a:path w="1177832" h="1786344">
                <a:moveTo>
                  <a:pt x="0" y="0"/>
                </a:moveTo>
                <a:lnTo>
                  <a:pt x="1177832" y="0"/>
                </a:lnTo>
                <a:lnTo>
                  <a:pt x="1177832" y="1786344"/>
                </a:lnTo>
                <a:lnTo>
                  <a:pt x="0" y="178634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1028700" y="3567855"/>
            <a:ext cx="5538045" cy="5538045"/>
          </a:xfrm>
          <a:custGeom>
            <a:avLst/>
            <a:gdLst/>
            <a:ahLst/>
            <a:cxnLst/>
            <a:rect l="l" t="t" r="r" b="b"/>
            <a:pathLst>
              <a:path w="5538045" h="5538045">
                <a:moveTo>
                  <a:pt x="0" y="0"/>
                </a:moveTo>
                <a:lnTo>
                  <a:pt x="5538045" y="0"/>
                </a:lnTo>
                <a:lnTo>
                  <a:pt x="5538045" y="5538044"/>
                </a:lnTo>
                <a:lnTo>
                  <a:pt x="0" y="553804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9" name="Freeform 29"/>
          <p:cNvSpPr/>
          <p:nvPr/>
        </p:nvSpPr>
        <p:spPr>
          <a:xfrm rot="1597443">
            <a:off x="16780615" y="733213"/>
            <a:ext cx="2213559" cy="769212"/>
          </a:xfrm>
          <a:custGeom>
            <a:avLst/>
            <a:gdLst/>
            <a:ahLst/>
            <a:cxnLst/>
            <a:rect l="l" t="t" r="r" b="b"/>
            <a:pathLst>
              <a:path w="2213559" h="769212">
                <a:moveTo>
                  <a:pt x="0" y="0"/>
                </a:moveTo>
                <a:lnTo>
                  <a:pt x="2213559" y="0"/>
                </a:lnTo>
                <a:lnTo>
                  <a:pt x="2213559" y="769211"/>
                </a:lnTo>
                <a:lnTo>
                  <a:pt x="0" y="76921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0" name="Freeform 30"/>
          <p:cNvSpPr/>
          <p:nvPr/>
        </p:nvSpPr>
        <p:spPr>
          <a:xfrm>
            <a:off x="6140234" y="9764575"/>
            <a:ext cx="1321347" cy="1503666"/>
          </a:xfrm>
          <a:custGeom>
            <a:avLst/>
            <a:gdLst/>
            <a:ahLst/>
            <a:cxnLst/>
            <a:rect l="l" t="t" r="r" b="b"/>
            <a:pathLst>
              <a:path w="1321347" h="1503666">
                <a:moveTo>
                  <a:pt x="0" y="0"/>
                </a:moveTo>
                <a:lnTo>
                  <a:pt x="1321347" y="0"/>
                </a:lnTo>
                <a:lnTo>
                  <a:pt x="1321347" y="1503666"/>
                </a:lnTo>
                <a:lnTo>
                  <a:pt x="0" y="150366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3756906" y="1028700"/>
            <a:ext cx="10774187" cy="7938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6480"/>
              </a:lnSpc>
              <a:spcBef>
                <a:spcPct val="0"/>
              </a:spcBef>
            </a:pPr>
            <a:r>
              <a:rPr lang="en-US" altLang="zh-CN" sz="5400" b="1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Our Products</a:t>
            </a:r>
            <a:endParaRPr lang="en-US" sz="5400" b="1" u="none" strike="noStrike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8212204" y="3548319"/>
            <a:ext cx="1114570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4080"/>
              </a:lnSpc>
              <a:spcBef>
                <a:spcPct val="0"/>
              </a:spcBef>
            </a:pPr>
            <a:r>
              <a:rPr lang="en-US" sz="3400" b="1">
                <a:solidFill>
                  <a:srgbClr val="FFFFFF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01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212204" y="5247823"/>
            <a:ext cx="1114570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4080"/>
              </a:lnSpc>
              <a:spcBef>
                <a:spcPct val="0"/>
              </a:spcBef>
            </a:pPr>
            <a:r>
              <a:rPr lang="en-US" sz="3400" b="1">
                <a:solidFill>
                  <a:srgbClr val="FFFFFF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02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328269" y="3330211"/>
            <a:ext cx="4617956" cy="2733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2303"/>
              </a:lnSpc>
              <a:spcBef>
                <a:spcPct val="0"/>
              </a:spcBef>
            </a:pPr>
            <a:r>
              <a:rPr lang="en-US" altLang="zh-CN" sz="1645" b="1" spc="52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Cust. Portal</a:t>
            </a:r>
            <a:endParaRPr lang="en-US" sz="1645" b="1" spc="52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10328268" y="3712214"/>
            <a:ext cx="4612007" cy="2462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2100"/>
              </a:lnSpc>
            </a:pPr>
            <a:r>
              <a:rPr lang="en-US" altLang="zh-CN" sz="1400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Unified platform integrating cloud services, CDN, and data monitoring.</a:t>
            </a:r>
            <a:endParaRPr lang="en-US" sz="1400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10359150" y="5409579"/>
            <a:ext cx="4574803" cy="2462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2100"/>
              </a:lnSpc>
            </a:pPr>
            <a:r>
              <a:rPr lang="en-US" altLang="zh-CN" sz="1400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Continuous development and essential maintenance throughout 2026.</a:t>
            </a:r>
            <a:endParaRPr lang="en-US" sz="1400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10328269" y="5028476"/>
            <a:ext cx="4617956" cy="2733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2303"/>
              </a:lnSpc>
              <a:spcBef>
                <a:spcPct val="0"/>
              </a:spcBef>
            </a:pPr>
            <a:r>
              <a:rPr lang="en-US" altLang="zh-CN" sz="1645" b="1" spc="52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Portal Maint.</a:t>
            </a:r>
            <a:endParaRPr lang="en-US" sz="1645" b="1" spc="52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10359150" y="7112903"/>
            <a:ext cx="4574803" cy="2462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2100"/>
              </a:lnSpc>
            </a:pPr>
            <a:r>
              <a:rPr lang="en-US" altLang="zh-CN" sz="1400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Enhanced anti-hijacking solution, launched at the end of 2025.</a:t>
            </a:r>
            <a:endParaRPr lang="en-US" sz="1400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10328269" y="6734418"/>
            <a:ext cx="4617956" cy="2733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2303"/>
              </a:lnSpc>
              <a:spcBef>
                <a:spcPct val="0"/>
              </a:spcBef>
            </a:pPr>
            <a:r>
              <a:rPr lang="en-US" altLang="zh-CN" sz="1645" b="1" spc="52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Anti-Hijack</a:t>
            </a:r>
            <a:endParaRPr lang="en-US" sz="1645" b="1" spc="52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10359150" y="8818244"/>
            <a:ext cx="4574803" cy="2462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2100"/>
              </a:lnSpc>
            </a:pPr>
            <a:r>
              <a:rPr lang="en-US" altLang="zh-CN" sz="1400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Ongoing optimization, new feature development, and active revenue generation.</a:t>
            </a:r>
            <a:endParaRPr lang="en-US" sz="1400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10328269" y="8428085"/>
            <a:ext cx="4617956" cy="2733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2303"/>
              </a:lnSpc>
              <a:spcBef>
                <a:spcPct val="0"/>
              </a:spcBef>
            </a:pPr>
            <a:r>
              <a:rPr lang="en-US" altLang="zh-CN" sz="1645" b="1" spc="52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Product Growth</a:t>
            </a:r>
            <a:endParaRPr lang="en-US" sz="1645" b="1" spc="52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8212204" y="6951597"/>
            <a:ext cx="1114570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4080"/>
              </a:lnSpc>
              <a:spcBef>
                <a:spcPct val="0"/>
              </a:spcBef>
            </a:pPr>
            <a:r>
              <a:rPr lang="en-US" sz="3400" b="1">
                <a:solidFill>
                  <a:srgbClr val="FFFFFF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03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212204" y="8657090"/>
            <a:ext cx="1114570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4080"/>
              </a:lnSpc>
              <a:spcBef>
                <a:spcPct val="0"/>
              </a:spcBef>
            </a:pPr>
            <a:r>
              <a:rPr lang="en-US" sz="3400" b="1">
                <a:solidFill>
                  <a:srgbClr val="FFFFFF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04</a:t>
            </a:r>
          </a:p>
        </p:txBody>
      </p:sp>
      <p:sp>
        <p:nvSpPr>
          <p:cNvPr id="44" name="Freeform 44"/>
          <p:cNvSpPr/>
          <p:nvPr/>
        </p:nvSpPr>
        <p:spPr>
          <a:xfrm flipH="1">
            <a:off x="-5367006" y="-1383193"/>
            <a:ext cx="7315200" cy="3425952"/>
          </a:xfrm>
          <a:custGeom>
            <a:avLst/>
            <a:gdLst/>
            <a:ahLst/>
            <a:cxnLst/>
            <a:rect l="l" t="t" r="r" b="b"/>
            <a:pathLst>
              <a:path w="7315200" h="3425952">
                <a:moveTo>
                  <a:pt x="7315200" y="0"/>
                </a:moveTo>
                <a:lnTo>
                  <a:pt x="0" y="0"/>
                </a:lnTo>
                <a:lnTo>
                  <a:pt x="0" y="3425952"/>
                </a:lnTo>
                <a:lnTo>
                  <a:pt x="7315200" y="3425952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</p:sp>
      <p:sp>
        <p:nvSpPr>
          <p:cNvPr id="45" name="Freeform 45"/>
          <p:cNvSpPr/>
          <p:nvPr/>
        </p:nvSpPr>
        <p:spPr>
          <a:xfrm flipH="1">
            <a:off x="-5405648" y="9457960"/>
            <a:ext cx="7315200" cy="3425952"/>
          </a:xfrm>
          <a:custGeom>
            <a:avLst/>
            <a:gdLst/>
            <a:ahLst/>
            <a:cxnLst/>
            <a:rect l="l" t="t" r="r" b="b"/>
            <a:pathLst>
              <a:path w="7315200" h="3425952">
                <a:moveTo>
                  <a:pt x="7315200" y="0"/>
                </a:moveTo>
                <a:lnTo>
                  <a:pt x="0" y="0"/>
                </a:lnTo>
                <a:lnTo>
                  <a:pt x="0" y="3425952"/>
                </a:lnTo>
                <a:lnTo>
                  <a:pt x="7315200" y="3425952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</p:sp>
      <p:sp>
        <p:nvSpPr>
          <p:cNvPr id="46" name="Freeform 46"/>
          <p:cNvSpPr/>
          <p:nvPr/>
        </p:nvSpPr>
        <p:spPr>
          <a:xfrm>
            <a:off x="17411476" y="9457960"/>
            <a:ext cx="1489099" cy="1219200"/>
          </a:xfrm>
          <a:custGeom>
            <a:avLst/>
            <a:gdLst/>
            <a:ahLst/>
            <a:cxnLst/>
            <a:rect l="l" t="t" r="r" b="b"/>
            <a:pathLst>
              <a:path w="1489099" h="1219200">
                <a:moveTo>
                  <a:pt x="0" y="0"/>
                </a:moveTo>
                <a:lnTo>
                  <a:pt x="1489099" y="0"/>
                </a:lnTo>
                <a:lnTo>
                  <a:pt x="1489099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-2700000">
            <a:off x="7658246" y="4856032"/>
            <a:ext cx="2969866" cy="2969866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65171" y="0"/>
                  </a:moveTo>
                  <a:lnTo>
                    <a:pt x="747629" y="0"/>
                  </a:lnTo>
                  <a:cubicBezTo>
                    <a:pt x="783622" y="0"/>
                    <a:pt x="812800" y="29178"/>
                    <a:pt x="812800" y="65171"/>
                  </a:cubicBezTo>
                  <a:lnTo>
                    <a:pt x="812800" y="747629"/>
                  </a:lnTo>
                  <a:cubicBezTo>
                    <a:pt x="812800" y="783622"/>
                    <a:pt x="783622" y="812800"/>
                    <a:pt x="747629" y="812800"/>
                  </a:cubicBezTo>
                  <a:lnTo>
                    <a:pt x="65171" y="812800"/>
                  </a:lnTo>
                  <a:cubicBezTo>
                    <a:pt x="29178" y="812800"/>
                    <a:pt x="0" y="783622"/>
                    <a:pt x="0" y="747629"/>
                  </a:cubicBezTo>
                  <a:lnTo>
                    <a:pt x="0" y="65171"/>
                  </a:lnTo>
                  <a:cubicBezTo>
                    <a:pt x="0" y="29178"/>
                    <a:pt x="29178" y="0"/>
                    <a:pt x="6517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 rot="-2700000">
            <a:off x="6973003" y="4057016"/>
            <a:ext cx="1887729" cy="2280513"/>
            <a:chOff x="0" y="0"/>
            <a:chExt cx="812800" cy="981921"/>
          </a:xfrm>
        </p:grpSpPr>
        <p:sp>
          <p:nvSpPr>
            <p:cNvPr id="7" name="Freeform 7"/>
            <p:cNvSpPr/>
            <p:nvPr/>
          </p:nvSpPr>
          <p:spPr>
            <a:xfrm>
              <a:off x="15882" y="0"/>
              <a:ext cx="781037" cy="972833"/>
            </a:xfrm>
            <a:custGeom>
              <a:avLst/>
              <a:gdLst/>
              <a:ahLst/>
              <a:cxnLst/>
              <a:rect l="l" t="t" r="r" b="b"/>
              <a:pathLst>
                <a:path w="781037" h="972833">
                  <a:moveTo>
                    <a:pt x="370218" y="961622"/>
                  </a:moveTo>
                  <a:lnTo>
                    <a:pt x="4418" y="595821"/>
                  </a:lnTo>
                  <a:cubicBezTo>
                    <a:pt x="1017" y="592420"/>
                    <a:pt x="0" y="587306"/>
                    <a:pt x="1840" y="582862"/>
                  </a:cubicBezTo>
                  <a:cubicBezTo>
                    <a:pt x="3681" y="578419"/>
                    <a:pt x="8017" y="575521"/>
                    <a:pt x="12826" y="575521"/>
                  </a:cubicBezTo>
                  <a:lnTo>
                    <a:pt x="158610" y="575521"/>
                  </a:lnTo>
                  <a:cubicBezTo>
                    <a:pt x="166224" y="575521"/>
                    <a:pt x="173526" y="572497"/>
                    <a:pt x="178910" y="567113"/>
                  </a:cubicBezTo>
                  <a:cubicBezTo>
                    <a:pt x="184293" y="561729"/>
                    <a:pt x="187318" y="554427"/>
                    <a:pt x="187318" y="546813"/>
                  </a:cubicBezTo>
                  <a:lnTo>
                    <a:pt x="187318" y="28708"/>
                  </a:lnTo>
                  <a:cubicBezTo>
                    <a:pt x="187318" y="21094"/>
                    <a:pt x="190343" y="13792"/>
                    <a:pt x="195726" y="8408"/>
                  </a:cubicBezTo>
                  <a:cubicBezTo>
                    <a:pt x="201110" y="3025"/>
                    <a:pt x="208412" y="0"/>
                    <a:pt x="216026" y="0"/>
                  </a:cubicBezTo>
                  <a:lnTo>
                    <a:pt x="565010" y="0"/>
                  </a:lnTo>
                  <a:cubicBezTo>
                    <a:pt x="572624" y="0"/>
                    <a:pt x="579926" y="3025"/>
                    <a:pt x="585310" y="8408"/>
                  </a:cubicBezTo>
                  <a:cubicBezTo>
                    <a:pt x="590693" y="13792"/>
                    <a:pt x="593718" y="21094"/>
                    <a:pt x="593718" y="28708"/>
                  </a:cubicBezTo>
                  <a:lnTo>
                    <a:pt x="593718" y="546813"/>
                  </a:lnTo>
                  <a:cubicBezTo>
                    <a:pt x="593718" y="562668"/>
                    <a:pt x="606571" y="575521"/>
                    <a:pt x="622426" y="575521"/>
                  </a:cubicBezTo>
                  <a:lnTo>
                    <a:pt x="768210" y="575521"/>
                  </a:lnTo>
                  <a:cubicBezTo>
                    <a:pt x="773019" y="575521"/>
                    <a:pt x="777355" y="578419"/>
                    <a:pt x="779196" y="582862"/>
                  </a:cubicBezTo>
                  <a:cubicBezTo>
                    <a:pt x="781036" y="587306"/>
                    <a:pt x="780019" y="592420"/>
                    <a:pt x="776618" y="595821"/>
                  </a:cubicBezTo>
                  <a:lnTo>
                    <a:pt x="410818" y="961622"/>
                  </a:lnTo>
                  <a:cubicBezTo>
                    <a:pt x="399607" y="972833"/>
                    <a:pt x="381429" y="972833"/>
                    <a:pt x="370218" y="961622"/>
                  </a:cubicBezTo>
                  <a:close/>
                </a:path>
              </a:pathLst>
            </a:custGeom>
            <a:solidFill>
              <a:srgbClr val="5EA6B2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03200" y="-38100"/>
              <a:ext cx="406400" cy="9184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399"/>
                </a:lnSpc>
                <a:spcBef>
                  <a:spcPct val="0"/>
                </a:spcBef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 rot="8100000">
            <a:off x="9467484" y="6365498"/>
            <a:ext cx="1887729" cy="2280513"/>
            <a:chOff x="0" y="0"/>
            <a:chExt cx="812800" cy="981921"/>
          </a:xfrm>
        </p:grpSpPr>
        <p:sp>
          <p:nvSpPr>
            <p:cNvPr id="10" name="Freeform 10"/>
            <p:cNvSpPr/>
            <p:nvPr/>
          </p:nvSpPr>
          <p:spPr>
            <a:xfrm>
              <a:off x="15882" y="0"/>
              <a:ext cx="781037" cy="972833"/>
            </a:xfrm>
            <a:custGeom>
              <a:avLst/>
              <a:gdLst/>
              <a:ahLst/>
              <a:cxnLst/>
              <a:rect l="l" t="t" r="r" b="b"/>
              <a:pathLst>
                <a:path w="781037" h="972833">
                  <a:moveTo>
                    <a:pt x="370218" y="961622"/>
                  </a:moveTo>
                  <a:lnTo>
                    <a:pt x="4418" y="595821"/>
                  </a:lnTo>
                  <a:cubicBezTo>
                    <a:pt x="1017" y="592420"/>
                    <a:pt x="0" y="587306"/>
                    <a:pt x="1840" y="582862"/>
                  </a:cubicBezTo>
                  <a:cubicBezTo>
                    <a:pt x="3681" y="578419"/>
                    <a:pt x="8017" y="575521"/>
                    <a:pt x="12826" y="575521"/>
                  </a:cubicBezTo>
                  <a:lnTo>
                    <a:pt x="158610" y="575521"/>
                  </a:lnTo>
                  <a:cubicBezTo>
                    <a:pt x="166224" y="575521"/>
                    <a:pt x="173526" y="572497"/>
                    <a:pt x="178910" y="567113"/>
                  </a:cubicBezTo>
                  <a:cubicBezTo>
                    <a:pt x="184293" y="561729"/>
                    <a:pt x="187318" y="554427"/>
                    <a:pt x="187318" y="546813"/>
                  </a:cubicBezTo>
                  <a:lnTo>
                    <a:pt x="187318" y="28708"/>
                  </a:lnTo>
                  <a:cubicBezTo>
                    <a:pt x="187318" y="21094"/>
                    <a:pt x="190343" y="13792"/>
                    <a:pt x="195726" y="8408"/>
                  </a:cubicBezTo>
                  <a:cubicBezTo>
                    <a:pt x="201110" y="3025"/>
                    <a:pt x="208412" y="0"/>
                    <a:pt x="216026" y="0"/>
                  </a:cubicBezTo>
                  <a:lnTo>
                    <a:pt x="565010" y="0"/>
                  </a:lnTo>
                  <a:cubicBezTo>
                    <a:pt x="572624" y="0"/>
                    <a:pt x="579926" y="3025"/>
                    <a:pt x="585310" y="8408"/>
                  </a:cubicBezTo>
                  <a:cubicBezTo>
                    <a:pt x="590693" y="13792"/>
                    <a:pt x="593718" y="21094"/>
                    <a:pt x="593718" y="28708"/>
                  </a:cubicBezTo>
                  <a:lnTo>
                    <a:pt x="593718" y="546813"/>
                  </a:lnTo>
                  <a:cubicBezTo>
                    <a:pt x="593718" y="562668"/>
                    <a:pt x="606571" y="575521"/>
                    <a:pt x="622426" y="575521"/>
                  </a:cubicBezTo>
                  <a:lnTo>
                    <a:pt x="768210" y="575521"/>
                  </a:lnTo>
                  <a:cubicBezTo>
                    <a:pt x="773019" y="575521"/>
                    <a:pt x="777355" y="578419"/>
                    <a:pt x="779196" y="582862"/>
                  </a:cubicBezTo>
                  <a:cubicBezTo>
                    <a:pt x="781036" y="587306"/>
                    <a:pt x="780019" y="592420"/>
                    <a:pt x="776618" y="595821"/>
                  </a:cubicBezTo>
                  <a:lnTo>
                    <a:pt x="410818" y="961622"/>
                  </a:lnTo>
                  <a:cubicBezTo>
                    <a:pt x="399607" y="972833"/>
                    <a:pt x="381429" y="972833"/>
                    <a:pt x="370218" y="961622"/>
                  </a:cubicBezTo>
                  <a:close/>
                </a:path>
              </a:pathLst>
            </a:custGeom>
            <a:solidFill>
              <a:srgbClr val="3A7377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03200" y="-38100"/>
              <a:ext cx="406400" cy="9184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399"/>
                </a:lnSpc>
                <a:spcBef>
                  <a:spcPct val="0"/>
                </a:spcBef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 rot="2700000">
            <a:off x="9467484" y="4116323"/>
            <a:ext cx="1887729" cy="2280513"/>
            <a:chOff x="0" y="0"/>
            <a:chExt cx="812800" cy="981921"/>
          </a:xfrm>
        </p:grpSpPr>
        <p:sp>
          <p:nvSpPr>
            <p:cNvPr id="13" name="Freeform 13"/>
            <p:cNvSpPr/>
            <p:nvPr/>
          </p:nvSpPr>
          <p:spPr>
            <a:xfrm>
              <a:off x="15882" y="0"/>
              <a:ext cx="781037" cy="972833"/>
            </a:xfrm>
            <a:custGeom>
              <a:avLst/>
              <a:gdLst/>
              <a:ahLst/>
              <a:cxnLst/>
              <a:rect l="l" t="t" r="r" b="b"/>
              <a:pathLst>
                <a:path w="781037" h="972833">
                  <a:moveTo>
                    <a:pt x="370218" y="961622"/>
                  </a:moveTo>
                  <a:lnTo>
                    <a:pt x="4418" y="595821"/>
                  </a:lnTo>
                  <a:cubicBezTo>
                    <a:pt x="1017" y="592420"/>
                    <a:pt x="0" y="587306"/>
                    <a:pt x="1840" y="582862"/>
                  </a:cubicBezTo>
                  <a:cubicBezTo>
                    <a:pt x="3681" y="578419"/>
                    <a:pt x="8017" y="575521"/>
                    <a:pt x="12826" y="575521"/>
                  </a:cubicBezTo>
                  <a:lnTo>
                    <a:pt x="158610" y="575521"/>
                  </a:lnTo>
                  <a:cubicBezTo>
                    <a:pt x="166224" y="575521"/>
                    <a:pt x="173526" y="572497"/>
                    <a:pt x="178910" y="567113"/>
                  </a:cubicBezTo>
                  <a:cubicBezTo>
                    <a:pt x="184293" y="561729"/>
                    <a:pt x="187318" y="554427"/>
                    <a:pt x="187318" y="546813"/>
                  </a:cubicBezTo>
                  <a:lnTo>
                    <a:pt x="187318" y="28708"/>
                  </a:lnTo>
                  <a:cubicBezTo>
                    <a:pt x="187318" y="21094"/>
                    <a:pt x="190343" y="13792"/>
                    <a:pt x="195726" y="8408"/>
                  </a:cubicBezTo>
                  <a:cubicBezTo>
                    <a:pt x="201110" y="3025"/>
                    <a:pt x="208412" y="0"/>
                    <a:pt x="216026" y="0"/>
                  </a:cubicBezTo>
                  <a:lnTo>
                    <a:pt x="565010" y="0"/>
                  </a:lnTo>
                  <a:cubicBezTo>
                    <a:pt x="572624" y="0"/>
                    <a:pt x="579926" y="3025"/>
                    <a:pt x="585310" y="8408"/>
                  </a:cubicBezTo>
                  <a:cubicBezTo>
                    <a:pt x="590693" y="13792"/>
                    <a:pt x="593718" y="21094"/>
                    <a:pt x="593718" y="28708"/>
                  </a:cubicBezTo>
                  <a:lnTo>
                    <a:pt x="593718" y="546813"/>
                  </a:lnTo>
                  <a:cubicBezTo>
                    <a:pt x="593718" y="562668"/>
                    <a:pt x="606571" y="575521"/>
                    <a:pt x="622426" y="575521"/>
                  </a:cubicBezTo>
                  <a:lnTo>
                    <a:pt x="768210" y="575521"/>
                  </a:lnTo>
                  <a:cubicBezTo>
                    <a:pt x="773019" y="575521"/>
                    <a:pt x="777355" y="578419"/>
                    <a:pt x="779196" y="582862"/>
                  </a:cubicBezTo>
                  <a:cubicBezTo>
                    <a:pt x="781036" y="587306"/>
                    <a:pt x="780019" y="592420"/>
                    <a:pt x="776618" y="595821"/>
                  </a:cubicBezTo>
                  <a:lnTo>
                    <a:pt x="410818" y="961622"/>
                  </a:lnTo>
                  <a:cubicBezTo>
                    <a:pt x="399607" y="972833"/>
                    <a:pt x="381429" y="972833"/>
                    <a:pt x="370218" y="961622"/>
                  </a:cubicBezTo>
                  <a:close/>
                </a:path>
              </a:pathLst>
            </a:custGeom>
            <a:solidFill>
              <a:srgbClr val="10AD5D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03200" y="-38100"/>
              <a:ext cx="406400" cy="9184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399"/>
                </a:lnSpc>
                <a:spcBef>
                  <a:spcPct val="0"/>
                </a:spcBef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 rot="-8100000">
            <a:off x="6973003" y="6306190"/>
            <a:ext cx="1887729" cy="2280513"/>
            <a:chOff x="0" y="0"/>
            <a:chExt cx="812800" cy="981921"/>
          </a:xfrm>
        </p:grpSpPr>
        <p:sp>
          <p:nvSpPr>
            <p:cNvPr id="16" name="Freeform 16"/>
            <p:cNvSpPr/>
            <p:nvPr/>
          </p:nvSpPr>
          <p:spPr>
            <a:xfrm>
              <a:off x="15882" y="0"/>
              <a:ext cx="781037" cy="972833"/>
            </a:xfrm>
            <a:custGeom>
              <a:avLst/>
              <a:gdLst/>
              <a:ahLst/>
              <a:cxnLst/>
              <a:rect l="l" t="t" r="r" b="b"/>
              <a:pathLst>
                <a:path w="781037" h="972833">
                  <a:moveTo>
                    <a:pt x="370218" y="961622"/>
                  </a:moveTo>
                  <a:lnTo>
                    <a:pt x="4418" y="595821"/>
                  </a:lnTo>
                  <a:cubicBezTo>
                    <a:pt x="1017" y="592420"/>
                    <a:pt x="0" y="587306"/>
                    <a:pt x="1840" y="582862"/>
                  </a:cubicBezTo>
                  <a:cubicBezTo>
                    <a:pt x="3681" y="578419"/>
                    <a:pt x="8017" y="575521"/>
                    <a:pt x="12826" y="575521"/>
                  </a:cubicBezTo>
                  <a:lnTo>
                    <a:pt x="158610" y="575521"/>
                  </a:lnTo>
                  <a:cubicBezTo>
                    <a:pt x="166224" y="575521"/>
                    <a:pt x="173526" y="572497"/>
                    <a:pt x="178910" y="567113"/>
                  </a:cubicBezTo>
                  <a:cubicBezTo>
                    <a:pt x="184293" y="561729"/>
                    <a:pt x="187318" y="554427"/>
                    <a:pt x="187318" y="546813"/>
                  </a:cubicBezTo>
                  <a:lnTo>
                    <a:pt x="187318" y="28708"/>
                  </a:lnTo>
                  <a:cubicBezTo>
                    <a:pt x="187318" y="21094"/>
                    <a:pt x="190343" y="13792"/>
                    <a:pt x="195726" y="8408"/>
                  </a:cubicBezTo>
                  <a:cubicBezTo>
                    <a:pt x="201110" y="3025"/>
                    <a:pt x="208412" y="0"/>
                    <a:pt x="216026" y="0"/>
                  </a:cubicBezTo>
                  <a:lnTo>
                    <a:pt x="565010" y="0"/>
                  </a:lnTo>
                  <a:cubicBezTo>
                    <a:pt x="572624" y="0"/>
                    <a:pt x="579926" y="3025"/>
                    <a:pt x="585310" y="8408"/>
                  </a:cubicBezTo>
                  <a:cubicBezTo>
                    <a:pt x="590693" y="13792"/>
                    <a:pt x="593718" y="21094"/>
                    <a:pt x="593718" y="28708"/>
                  </a:cubicBezTo>
                  <a:lnTo>
                    <a:pt x="593718" y="546813"/>
                  </a:lnTo>
                  <a:cubicBezTo>
                    <a:pt x="593718" y="562668"/>
                    <a:pt x="606571" y="575521"/>
                    <a:pt x="622426" y="575521"/>
                  </a:cubicBezTo>
                  <a:lnTo>
                    <a:pt x="768210" y="575521"/>
                  </a:lnTo>
                  <a:cubicBezTo>
                    <a:pt x="773019" y="575521"/>
                    <a:pt x="777355" y="578419"/>
                    <a:pt x="779196" y="582862"/>
                  </a:cubicBezTo>
                  <a:cubicBezTo>
                    <a:pt x="781036" y="587306"/>
                    <a:pt x="780019" y="592420"/>
                    <a:pt x="776618" y="595821"/>
                  </a:cubicBezTo>
                  <a:lnTo>
                    <a:pt x="410818" y="961622"/>
                  </a:lnTo>
                  <a:cubicBezTo>
                    <a:pt x="399607" y="972833"/>
                    <a:pt x="381429" y="972833"/>
                    <a:pt x="370218" y="961622"/>
                  </a:cubicBezTo>
                  <a:close/>
                </a:path>
              </a:pathLst>
            </a:custGeom>
            <a:solidFill>
              <a:srgbClr val="B9DB5F"/>
            </a:solidFill>
            <a:ln cap="sq">
              <a:noFill/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03200" y="-38100"/>
              <a:ext cx="406400" cy="9184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399"/>
                </a:lnSpc>
                <a:spcBef>
                  <a:spcPct val="0"/>
                </a:spcBef>
              </a:pPr>
              <a:endParaRPr>
                <a:latin typeface="Montserrat" pitchFamily="2" charset="77"/>
              </a:endParaRPr>
            </a:p>
          </p:txBody>
        </p:sp>
      </p:grpSp>
      <p:sp>
        <p:nvSpPr>
          <p:cNvPr id="18" name="Freeform 18"/>
          <p:cNvSpPr/>
          <p:nvPr/>
        </p:nvSpPr>
        <p:spPr>
          <a:xfrm>
            <a:off x="7971743" y="5197272"/>
            <a:ext cx="576429" cy="576429"/>
          </a:xfrm>
          <a:custGeom>
            <a:avLst/>
            <a:gdLst/>
            <a:ahLst/>
            <a:cxnLst/>
            <a:rect l="l" t="t" r="r" b="b"/>
            <a:pathLst>
              <a:path w="576429" h="576429">
                <a:moveTo>
                  <a:pt x="0" y="0"/>
                </a:moveTo>
                <a:lnTo>
                  <a:pt x="576430" y="0"/>
                </a:lnTo>
                <a:lnTo>
                  <a:pt x="576430" y="576429"/>
                </a:lnTo>
                <a:lnTo>
                  <a:pt x="0" y="5764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7967817" y="6845662"/>
            <a:ext cx="562408" cy="542723"/>
          </a:xfrm>
          <a:custGeom>
            <a:avLst/>
            <a:gdLst/>
            <a:ahLst/>
            <a:cxnLst/>
            <a:rect l="l" t="t" r="r" b="b"/>
            <a:pathLst>
              <a:path w="562408" h="542723">
                <a:moveTo>
                  <a:pt x="0" y="0"/>
                </a:moveTo>
                <a:lnTo>
                  <a:pt x="562408" y="0"/>
                </a:lnTo>
                <a:lnTo>
                  <a:pt x="562408" y="542724"/>
                </a:lnTo>
                <a:lnTo>
                  <a:pt x="0" y="5427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9838632" y="5281098"/>
            <a:ext cx="516124" cy="516124"/>
          </a:xfrm>
          <a:custGeom>
            <a:avLst/>
            <a:gdLst/>
            <a:ahLst/>
            <a:cxnLst/>
            <a:rect l="l" t="t" r="r" b="b"/>
            <a:pathLst>
              <a:path w="516124" h="516124">
                <a:moveTo>
                  <a:pt x="0" y="0"/>
                </a:moveTo>
                <a:lnTo>
                  <a:pt x="516124" y="0"/>
                </a:lnTo>
                <a:lnTo>
                  <a:pt x="516124" y="516124"/>
                </a:lnTo>
                <a:lnTo>
                  <a:pt x="0" y="51612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9863733" y="6803862"/>
            <a:ext cx="465921" cy="725170"/>
          </a:xfrm>
          <a:custGeom>
            <a:avLst/>
            <a:gdLst/>
            <a:ahLst/>
            <a:cxnLst/>
            <a:rect l="l" t="t" r="r" b="b"/>
            <a:pathLst>
              <a:path w="465921" h="725170">
                <a:moveTo>
                  <a:pt x="0" y="0"/>
                </a:moveTo>
                <a:lnTo>
                  <a:pt x="465922" y="0"/>
                </a:lnTo>
                <a:lnTo>
                  <a:pt x="465922" y="725170"/>
                </a:lnTo>
                <a:lnTo>
                  <a:pt x="0" y="72517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3541977" y="1028700"/>
            <a:ext cx="11204046" cy="796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6480"/>
              </a:lnSpc>
              <a:spcBef>
                <a:spcPct val="0"/>
              </a:spcBef>
            </a:pPr>
            <a:r>
              <a:rPr lang="en-US" altLang="zh-CN" sz="5400" b="1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New Projects</a:t>
            </a:r>
            <a:endParaRPr lang="en-US" sz="5400" b="1" u="none" strike="noStrike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23" name="Freeform 23"/>
          <p:cNvSpPr/>
          <p:nvPr/>
        </p:nvSpPr>
        <p:spPr>
          <a:xfrm rot="163894">
            <a:off x="8857905" y="1608076"/>
            <a:ext cx="3746027" cy="1376665"/>
          </a:xfrm>
          <a:custGeom>
            <a:avLst/>
            <a:gdLst/>
            <a:ahLst/>
            <a:cxnLst/>
            <a:rect l="l" t="t" r="r" b="b"/>
            <a:pathLst>
              <a:path w="3746027" h="1376665">
                <a:moveTo>
                  <a:pt x="0" y="0"/>
                </a:moveTo>
                <a:lnTo>
                  <a:pt x="3746027" y="0"/>
                </a:lnTo>
                <a:lnTo>
                  <a:pt x="3746027" y="1376665"/>
                </a:lnTo>
                <a:lnTo>
                  <a:pt x="0" y="137666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-1818304" y="-321971"/>
            <a:ext cx="3043825" cy="1137630"/>
          </a:xfrm>
          <a:custGeom>
            <a:avLst/>
            <a:gdLst/>
            <a:ahLst/>
            <a:cxnLst/>
            <a:rect l="l" t="t" r="r" b="b"/>
            <a:pathLst>
              <a:path w="3043825" h="1137630">
                <a:moveTo>
                  <a:pt x="0" y="0"/>
                </a:moveTo>
                <a:lnTo>
                  <a:pt x="3043825" y="0"/>
                </a:lnTo>
                <a:lnTo>
                  <a:pt x="3043825" y="1137629"/>
                </a:lnTo>
                <a:lnTo>
                  <a:pt x="0" y="113762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2287215" y="4008545"/>
            <a:ext cx="3374697" cy="422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599"/>
              </a:lnSpc>
            </a:pPr>
            <a:r>
              <a:rPr lang="en-US" altLang="zh-CN" sz="2399" b="1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TOMO AI HR</a:t>
            </a:r>
            <a:endParaRPr lang="en-US" sz="2399" b="1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2287215" y="4676195"/>
            <a:ext cx="3374697" cy="28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altLang="zh-CN" sz="1599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Partnership with TOMO for AI HR project, starting Q2, sales by Q3, target $6,000 USD.</a:t>
            </a:r>
            <a:endParaRPr lang="en-US" sz="1599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2287215" y="7205182"/>
            <a:ext cx="3374697" cy="422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599"/>
              </a:lnSpc>
            </a:pPr>
            <a:r>
              <a:rPr lang="en-US" altLang="zh-CN" sz="2399" b="1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Sky-Net GC</a:t>
            </a:r>
            <a:endParaRPr lang="en-US" sz="2399" b="1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2287215" y="7872832"/>
            <a:ext cx="3374697" cy="28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altLang="zh-CN" sz="1599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Collaboration with Sky-Net on a Game Center project in Q3, projecting $50,000+ USD.</a:t>
            </a:r>
            <a:endParaRPr lang="en-US" sz="1599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3884603" y="4008545"/>
            <a:ext cx="3374697" cy="422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599"/>
              </a:lnSpc>
            </a:pPr>
            <a:r>
              <a:rPr lang="en-US" altLang="zh-CN" sz="2399" b="1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Team R&amp;D</a:t>
            </a:r>
            <a:endParaRPr lang="en-US" sz="2399" b="1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3884603" y="4676195"/>
            <a:ext cx="3374697" cy="28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altLang="zh-CN" sz="1599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Internal Jarvis R&amp;D project, focusing on a self-developed product for the Vietnam market in Q3.</a:t>
            </a:r>
            <a:endParaRPr lang="en-US" sz="1599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3882960" y="7205182"/>
            <a:ext cx="3374697" cy="422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599"/>
              </a:lnSpc>
            </a:pPr>
            <a:r>
              <a:rPr lang="en-US" altLang="zh-CN" sz="2399" b="1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X-Border</a:t>
            </a:r>
            <a:endParaRPr lang="en-US" sz="2399" b="1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13882960" y="7872832"/>
            <a:ext cx="3374697" cy="28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altLang="zh-CN" sz="1599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These three cross-border projects aim to diversify revenue and expand our global reach.</a:t>
            </a:r>
            <a:endParaRPr lang="en-US" sz="1599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1447800" y="4075220"/>
            <a:ext cx="600015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4080"/>
              </a:lnSpc>
              <a:spcBef>
                <a:spcPct val="0"/>
              </a:spcBef>
            </a:pPr>
            <a:r>
              <a:rPr lang="en-US" sz="3400" b="1" u="none" strike="noStrike">
                <a:solidFill>
                  <a:srgbClr val="5EA6B2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01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3012666" y="4075220"/>
            <a:ext cx="632169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4080"/>
              </a:lnSpc>
              <a:spcBef>
                <a:spcPct val="0"/>
              </a:spcBef>
            </a:pPr>
            <a:r>
              <a:rPr lang="en-US" sz="3400" b="1" u="none" strike="noStrike">
                <a:solidFill>
                  <a:srgbClr val="10AD5D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03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447800" y="7271857"/>
            <a:ext cx="600015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4080"/>
              </a:lnSpc>
              <a:spcBef>
                <a:spcPct val="0"/>
              </a:spcBef>
            </a:pPr>
            <a:r>
              <a:rPr lang="en-US" sz="3400" b="1" u="none" strike="noStrike">
                <a:solidFill>
                  <a:srgbClr val="B9DB5F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02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3012666" y="7271857"/>
            <a:ext cx="632169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4080"/>
              </a:lnSpc>
              <a:spcBef>
                <a:spcPct val="0"/>
              </a:spcBef>
            </a:pPr>
            <a:r>
              <a:rPr lang="en-US" sz="3400" b="1" u="none" strike="noStrike">
                <a:solidFill>
                  <a:srgbClr val="3B748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04</a:t>
            </a:r>
          </a:p>
        </p:txBody>
      </p:sp>
      <p:sp>
        <p:nvSpPr>
          <p:cNvPr id="37" name="Freeform 37"/>
          <p:cNvSpPr/>
          <p:nvPr/>
        </p:nvSpPr>
        <p:spPr>
          <a:xfrm flipH="1">
            <a:off x="-5405648" y="9457960"/>
            <a:ext cx="7315200" cy="3425952"/>
          </a:xfrm>
          <a:custGeom>
            <a:avLst/>
            <a:gdLst/>
            <a:ahLst/>
            <a:cxnLst/>
            <a:rect l="l" t="t" r="r" b="b"/>
            <a:pathLst>
              <a:path w="7315200" h="3425952">
                <a:moveTo>
                  <a:pt x="7315200" y="0"/>
                </a:moveTo>
                <a:lnTo>
                  <a:pt x="0" y="0"/>
                </a:lnTo>
                <a:lnTo>
                  <a:pt x="0" y="3425952"/>
                </a:lnTo>
                <a:lnTo>
                  <a:pt x="7315200" y="3425952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38" name="Freeform 38"/>
          <p:cNvSpPr/>
          <p:nvPr/>
        </p:nvSpPr>
        <p:spPr>
          <a:xfrm>
            <a:off x="17411476" y="9457960"/>
            <a:ext cx="1489099" cy="1219200"/>
          </a:xfrm>
          <a:custGeom>
            <a:avLst/>
            <a:gdLst/>
            <a:ahLst/>
            <a:cxnLst/>
            <a:rect l="l" t="t" r="r" b="b"/>
            <a:pathLst>
              <a:path w="1489099" h="1219200">
                <a:moveTo>
                  <a:pt x="0" y="0"/>
                </a:moveTo>
                <a:lnTo>
                  <a:pt x="1489099" y="0"/>
                </a:lnTo>
                <a:lnTo>
                  <a:pt x="1489099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  <p:sp>
        <p:nvSpPr>
          <p:cNvPr id="39" name="Freeform 39"/>
          <p:cNvSpPr/>
          <p:nvPr/>
        </p:nvSpPr>
        <p:spPr>
          <a:xfrm flipV="1">
            <a:off x="16165514" y="-2634240"/>
            <a:ext cx="7315200" cy="3425952"/>
          </a:xfrm>
          <a:custGeom>
            <a:avLst/>
            <a:gdLst/>
            <a:ahLst/>
            <a:cxnLst/>
            <a:rect l="l" t="t" r="r" b="b"/>
            <a:pathLst>
              <a:path w="7315200" h="3425952">
                <a:moveTo>
                  <a:pt x="0" y="3425952"/>
                </a:moveTo>
                <a:lnTo>
                  <a:pt x="7315200" y="3425952"/>
                </a:lnTo>
                <a:lnTo>
                  <a:pt x="7315200" y="0"/>
                </a:lnTo>
                <a:lnTo>
                  <a:pt x="0" y="0"/>
                </a:lnTo>
                <a:lnTo>
                  <a:pt x="0" y="3425952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400000">
            <a:off x="8163570" y="5343804"/>
            <a:ext cx="1971220" cy="101287"/>
          </a:xfrm>
          <a:custGeom>
            <a:avLst/>
            <a:gdLst/>
            <a:ahLst/>
            <a:cxnLst/>
            <a:rect l="l" t="t" r="r" b="b"/>
            <a:pathLst>
              <a:path w="1971220" h="101287">
                <a:moveTo>
                  <a:pt x="0" y="0"/>
                </a:moveTo>
                <a:lnTo>
                  <a:pt x="1971221" y="0"/>
                </a:lnTo>
                <a:lnTo>
                  <a:pt x="1971221" y="101287"/>
                </a:lnTo>
                <a:lnTo>
                  <a:pt x="0" y="1012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24564"/>
            </a:stretch>
          </a:blipFill>
        </p:spPr>
      </p:sp>
      <p:sp>
        <p:nvSpPr>
          <p:cNvPr id="4" name="Freeform 4"/>
          <p:cNvSpPr/>
          <p:nvPr/>
        </p:nvSpPr>
        <p:spPr>
          <a:xfrm rot="-5400000">
            <a:off x="8163570" y="7331639"/>
            <a:ext cx="1971220" cy="101287"/>
          </a:xfrm>
          <a:custGeom>
            <a:avLst/>
            <a:gdLst/>
            <a:ahLst/>
            <a:cxnLst/>
            <a:rect l="l" t="t" r="r" b="b"/>
            <a:pathLst>
              <a:path w="1971220" h="101287">
                <a:moveTo>
                  <a:pt x="0" y="0"/>
                </a:moveTo>
                <a:lnTo>
                  <a:pt x="1971221" y="0"/>
                </a:lnTo>
                <a:lnTo>
                  <a:pt x="1971221" y="101287"/>
                </a:lnTo>
                <a:lnTo>
                  <a:pt x="0" y="1012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24564"/>
            </a:stretch>
          </a:blipFill>
        </p:spPr>
      </p:sp>
      <p:sp>
        <p:nvSpPr>
          <p:cNvPr id="5" name="Freeform 5"/>
          <p:cNvSpPr/>
          <p:nvPr/>
        </p:nvSpPr>
        <p:spPr>
          <a:xfrm rot="-10800000">
            <a:off x="8198799" y="5654585"/>
            <a:ext cx="1069706" cy="103209"/>
          </a:xfrm>
          <a:custGeom>
            <a:avLst/>
            <a:gdLst/>
            <a:ahLst/>
            <a:cxnLst/>
            <a:rect l="l" t="t" r="r" b="b"/>
            <a:pathLst>
              <a:path w="1069706" h="103209">
                <a:moveTo>
                  <a:pt x="0" y="0"/>
                </a:moveTo>
                <a:lnTo>
                  <a:pt x="1069706" y="0"/>
                </a:lnTo>
                <a:lnTo>
                  <a:pt x="1069706" y="103209"/>
                </a:lnTo>
                <a:lnTo>
                  <a:pt x="0" y="1032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7774" r="-46125"/>
            </a:stretch>
          </a:blipFill>
        </p:spPr>
      </p:sp>
      <p:sp>
        <p:nvSpPr>
          <p:cNvPr id="6" name="Freeform 6"/>
          <p:cNvSpPr/>
          <p:nvPr/>
        </p:nvSpPr>
        <p:spPr>
          <a:xfrm rot="-10800000">
            <a:off x="9136390" y="4411052"/>
            <a:ext cx="1069706" cy="103209"/>
          </a:xfrm>
          <a:custGeom>
            <a:avLst/>
            <a:gdLst/>
            <a:ahLst/>
            <a:cxnLst/>
            <a:rect l="l" t="t" r="r" b="b"/>
            <a:pathLst>
              <a:path w="1069706" h="103209">
                <a:moveTo>
                  <a:pt x="0" y="0"/>
                </a:moveTo>
                <a:lnTo>
                  <a:pt x="1069706" y="0"/>
                </a:lnTo>
                <a:lnTo>
                  <a:pt x="1069706" y="103209"/>
                </a:lnTo>
                <a:lnTo>
                  <a:pt x="0" y="1032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7774" r="-46125"/>
            </a:stretch>
          </a:blipFill>
        </p:spPr>
      </p:sp>
      <p:sp>
        <p:nvSpPr>
          <p:cNvPr id="7" name="Freeform 7"/>
          <p:cNvSpPr/>
          <p:nvPr/>
        </p:nvSpPr>
        <p:spPr>
          <a:xfrm rot="-5400000">
            <a:off x="8163570" y="9319474"/>
            <a:ext cx="1971220" cy="101287"/>
          </a:xfrm>
          <a:custGeom>
            <a:avLst/>
            <a:gdLst/>
            <a:ahLst/>
            <a:cxnLst/>
            <a:rect l="l" t="t" r="r" b="b"/>
            <a:pathLst>
              <a:path w="1971220" h="101287">
                <a:moveTo>
                  <a:pt x="0" y="0"/>
                </a:moveTo>
                <a:lnTo>
                  <a:pt x="1971221" y="0"/>
                </a:lnTo>
                <a:lnTo>
                  <a:pt x="1971221" y="101287"/>
                </a:lnTo>
                <a:lnTo>
                  <a:pt x="0" y="1012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24564"/>
            </a:stretch>
          </a:blipFill>
        </p:spPr>
      </p:sp>
      <p:sp>
        <p:nvSpPr>
          <p:cNvPr id="8" name="Freeform 8"/>
          <p:cNvSpPr/>
          <p:nvPr/>
        </p:nvSpPr>
        <p:spPr>
          <a:xfrm rot="-10800000">
            <a:off x="8198799" y="8362643"/>
            <a:ext cx="1069706" cy="103209"/>
          </a:xfrm>
          <a:custGeom>
            <a:avLst/>
            <a:gdLst/>
            <a:ahLst/>
            <a:cxnLst/>
            <a:rect l="l" t="t" r="r" b="b"/>
            <a:pathLst>
              <a:path w="1069706" h="103209">
                <a:moveTo>
                  <a:pt x="0" y="0"/>
                </a:moveTo>
                <a:lnTo>
                  <a:pt x="1069706" y="0"/>
                </a:lnTo>
                <a:lnTo>
                  <a:pt x="1069706" y="103209"/>
                </a:lnTo>
                <a:lnTo>
                  <a:pt x="0" y="1032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7774" r="-46125"/>
            </a:stretch>
          </a:blipFill>
        </p:spPr>
      </p:sp>
      <p:sp>
        <p:nvSpPr>
          <p:cNvPr id="9" name="Freeform 9"/>
          <p:cNvSpPr/>
          <p:nvPr/>
        </p:nvSpPr>
        <p:spPr>
          <a:xfrm rot="-10800000">
            <a:off x="9136390" y="7119111"/>
            <a:ext cx="1069706" cy="103209"/>
          </a:xfrm>
          <a:custGeom>
            <a:avLst/>
            <a:gdLst/>
            <a:ahLst/>
            <a:cxnLst/>
            <a:rect l="l" t="t" r="r" b="b"/>
            <a:pathLst>
              <a:path w="1069706" h="103209">
                <a:moveTo>
                  <a:pt x="0" y="0"/>
                </a:moveTo>
                <a:lnTo>
                  <a:pt x="1069706" y="0"/>
                </a:lnTo>
                <a:lnTo>
                  <a:pt x="1069706" y="103209"/>
                </a:lnTo>
                <a:lnTo>
                  <a:pt x="0" y="1032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7774" r="-46125"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8942625" y="6994752"/>
            <a:ext cx="387530" cy="387530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A7377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 rot="-10800000">
            <a:off x="8955415" y="8220483"/>
            <a:ext cx="387530" cy="387530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9DB5F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942625" y="4258860"/>
            <a:ext cx="387530" cy="387530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AD5D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 rot="-10800000">
            <a:off x="8955415" y="5475065"/>
            <a:ext cx="387530" cy="387530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EA6B2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sp>
        <p:nvSpPr>
          <p:cNvPr id="22" name="Freeform 22"/>
          <p:cNvSpPr/>
          <p:nvPr/>
        </p:nvSpPr>
        <p:spPr>
          <a:xfrm>
            <a:off x="6568651" y="4859025"/>
            <a:ext cx="1593290" cy="1619609"/>
          </a:xfrm>
          <a:custGeom>
            <a:avLst/>
            <a:gdLst/>
            <a:ahLst/>
            <a:cxnLst/>
            <a:rect l="l" t="t" r="r" b="b"/>
            <a:pathLst>
              <a:path w="1593290" h="1619609">
                <a:moveTo>
                  <a:pt x="0" y="0"/>
                </a:moveTo>
                <a:lnTo>
                  <a:pt x="1593291" y="0"/>
                </a:lnTo>
                <a:lnTo>
                  <a:pt x="1593291" y="1619610"/>
                </a:lnTo>
                <a:lnTo>
                  <a:pt x="0" y="16196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 flipH="1">
            <a:off x="10141233" y="3642820"/>
            <a:ext cx="1593290" cy="1619609"/>
          </a:xfrm>
          <a:custGeom>
            <a:avLst/>
            <a:gdLst/>
            <a:ahLst/>
            <a:cxnLst/>
            <a:rect l="l" t="t" r="r" b="b"/>
            <a:pathLst>
              <a:path w="1593290" h="1619609">
                <a:moveTo>
                  <a:pt x="1593291" y="0"/>
                </a:moveTo>
                <a:lnTo>
                  <a:pt x="0" y="0"/>
                </a:lnTo>
                <a:lnTo>
                  <a:pt x="0" y="1619609"/>
                </a:lnTo>
                <a:lnTo>
                  <a:pt x="1593291" y="1619609"/>
                </a:lnTo>
                <a:lnTo>
                  <a:pt x="1593291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4" name="Freeform 24"/>
          <p:cNvSpPr/>
          <p:nvPr/>
        </p:nvSpPr>
        <p:spPr>
          <a:xfrm>
            <a:off x="6568651" y="7552839"/>
            <a:ext cx="1593290" cy="1619609"/>
          </a:xfrm>
          <a:custGeom>
            <a:avLst/>
            <a:gdLst/>
            <a:ahLst/>
            <a:cxnLst/>
            <a:rect l="l" t="t" r="r" b="b"/>
            <a:pathLst>
              <a:path w="1593290" h="1619609">
                <a:moveTo>
                  <a:pt x="0" y="0"/>
                </a:moveTo>
                <a:lnTo>
                  <a:pt x="1593291" y="0"/>
                </a:lnTo>
                <a:lnTo>
                  <a:pt x="1593291" y="1619609"/>
                </a:lnTo>
                <a:lnTo>
                  <a:pt x="0" y="161960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5" name="Freeform 25"/>
          <p:cNvSpPr/>
          <p:nvPr/>
        </p:nvSpPr>
        <p:spPr>
          <a:xfrm flipH="1">
            <a:off x="10141233" y="6360911"/>
            <a:ext cx="1593290" cy="1619609"/>
          </a:xfrm>
          <a:custGeom>
            <a:avLst/>
            <a:gdLst/>
            <a:ahLst/>
            <a:cxnLst/>
            <a:rect l="l" t="t" r="r" b="b"/>
            <a:pathLst>
              <a:path w="1593290" h="1619609">
                <a:moveTo>
                  <a:pt x="1593291" y="0"/>
                </a:moveTo>
                <a:lnTo>
                  <a:pt x="0" y="0"/>
                </a:lnTo>
                <a:lnTo>
                  <a:pt x="0" y="1619609"/>
                </a:lnTo>
                <a:lnTo>
                  <a:pt x="1593291" y="1619609"/>
                </a:lnTo>
                <a:lnTo>
                  <a:pt x="1593291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6" name="Freeform 26"/>
          <p:cNvSpPr/>
          <p:nvPr/>
        </p:nvSpPr>
        <p:spPr>
          <a:xfrm>
            <a:off x="7041810" y="5290555"/>
            <a:ext cx="646974" cy="646974"/>
          </a:xfrm>
          <a:custGeom>
            <a:avLst/>
            <a:gdLst/>
            <a:ahLst/>
            <a:cxnLst/>
            <a:rect l="l" t="t" r="r" b="b"/>
            <a:pathLst>
              <a:path w="646974" h="646974">
                <a:moveTo>
                  <a:pt x="0" y="0"/>
                </a:moveTo>
                <a:lnTo>
                  <a:pt x="646974" y="0"/>
                </a:lnTo>
                <a:lnTo>
                  <a:pt x="646974" y="646974"/>
                </a:lnTo>
                <a:lnTo>
                  <a:pt x="0" y="64697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7086268" y="8028996"/>
            <a:ext cx="649089" cy="626371"/>
          </a:xfrm>
          <a:custGeom>
            <a:avLst/>
            <a:gdLst/>
            <a:ahLst/>
            <a:cxnLst/>
            <a:rect l="l" t="t" r="r" b="b"/>
            <a:pathLst>
              <a:path w="649089" h="626371">
                <a:moveTo>
                  <a:pt x="0" y="0"/>
                </a:moveTo>
                <a:lnTo>
                  <a:pt x="649089" y="0"/>
                </a:lnTo>
                <a:lnTo>
                  <a:pt x="649089" y="626371"/>
                </a:lnTo>
                <a:lnTo>
                  <a:pt x="0" y="62637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10654321" y="4179100"/>
            <a:ext cx="567114" cy="567114"/>
          </a:xfrm>
          <a:custGeom>
            <a:avLst/>
            <a:gdLst/>
            <a:ahLst/>
            <a:cxnLst/>
            <a:rect l="l" t="t" r="r" b="b"/>
            <a:pathLst>
              <a:path w="567114" h="567114">
                <a:moveTo>
                  <a:pt x="0" y="0"/>
                </a:moveTo>
                <a:lnTo>
                  <a:pt x="567115" y="0"/>
                </a:lnTo>
                <a:lnTo>
                  <a:pt x="567115" y="567114"/>
                </a:lnTo>
                <a:lnTo>
                  <a:pt x="0" y="567114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10694251" y="6809331"/>
            <a:ext cx="487255" cy="758373"/>
          </a:xfrm>
          <a:custGeom>
            <a:avLst/>
            <a:gdLst/>
            <a:ahLst/>
            <a:cxnLst/>
            <a:rect l="l" t="t" r="r" b="b"/>
            <a:pathLst>
              <a:path w="487255" h="758373">
                <a:moveTo>
                  <a:pt x="0" y="0"/>
                </a:moveTo>
                <a:lnTo>
                  <a:pt x="487255" y="0"/>
                </a:lnTo>
                <a:lnTo>
                  <a:pt x="487255" y="758373"/>
                </a:lnTo>
                <a:lnTo>
                  <a:pt x="0" y="758373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1323844" y="4911317"/>
            <a:ext cx="513741" cy="483130"/>
          </a:xfrm>
          <a:custGeom>
            <a:avLst/>
            <a:gdLst/>
            <a:ahLst/>
            <a:cxnLst/>
            <a:rect l="l" t="t" r="r" b="b"/>
            <a:pathLst>
              <a:path w="513741" h="483130">
                <a:moveTo>
                  <a:pt x="0" y="0"/>
                </a:moveTo>
                <a:lnTo>
                  <a:pt x="513741" y="0"/>
                </a:lnTo>
                <a:lnTo>
                  <a:pt x="513741" y="483130"/>
                </a:lnTo>
                <a:lnTo>
                  <a:pt x="0" y="483130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1" name="Freeform 31"/>
          <p:cNvSpPr/>
          <p:nvPr/>
        </p:nvSpPr>
        <p:spPr>
          <a:xfrm>
            <a:off x="12695899" y="4911317"/>
            <a:ext cx="513741" cy="483130"/>
          </a:xfrm>
          <a:custGeom>
            <a:avLst/>
            <a:gdLst/>
            <a:ahLst/>
            <a:cxnLst/>
            <a:rect l="l" t="t" r="r" b="b"/>
            <a:pathLst>
              <a:path w="513741" h="483130">
                <a:moveTo>
                  <a:pt x="0" y="0"/>
                </a:moveTo>
                <a:lnTo>
                  <a:pt x="513741" y="0"/>
                </a:lnTo>
                <a:lnTo>
                  <a:pt x="513741" y="483130"/>
                </a:lnTo>
                <a:lnTo>
                  <a:pt x="0" y="483130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2" name="Freeform 32"/>
          <p:cNvSpPr/>
          <p:nvPr/>
        </p:nvSpPr>
        <p:spPr>
          <a:xfrm>
            <a:off x="1323844" y="7654517"/>
            <a:ext cx="513741" cy="483130"/>
          </a:xfrm>
          <a:custGeom>
            <a:avLst/>
            <a:gdLst/>
            <a:ahLst/>
            <a:cxnLst/>
            <a:rect l="l" t="t" r="r" b="b"/>
            <a:pathLst>
              <a:path w="513741" h="483130">
                <a:moveTo>
                  <a:pt x="0" y="0"/>
                </a:moveTo>
                <a:lnTo>
                  <a:pt x="513741" y="0"/>
                </a:lnTo>
                <a:lnTo>
                  <a:pt x="513741" y="483130"/>
                </a:lnTo>
                <a:lnTo>
                  <a:pt x="0" y="483130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3" name="Freeform 33"/>
          <p:cNvSpPr/>
          <p:nvPr/>
        </p:nvSpPr>
        <p:spPr>
          <a:xfrm>
            <a:off x="12695899" y="7654517"/>
            <a:ext cx="513741" cy="483130"/>
          </a:xfrm>
          <a:custGeom>
            <a:avLst/>
            <a:gdLst/>
            <a:ahLst/>
            <a:cxnLst/>
            <a:rect l="l" t="t" r="r" b="b"/>
            <a:pathLst>
              <a:path w="513741" h="483130">
                <a:moveTo>
                  <a:pt x="0" y="0"/>
                </a:moveTo>
                <a:lnTo>
                  <a:pt x="513741" y="0"/>
                </a:lnTo>
                <a:lnTo>
                  <a:pt x="513741" y="483130"/>
                </a:lnTo>
                <a:lnTo>
                  <a:pt x="0" y="483130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4" name="Freeform 34"/>
          <p:cNvSpPr/>
          <p:nvPr/>
        </p:nvSpPr>
        <p:spPr>
          <a:xfrm>
            <a:off x="-156074" y="-374783"/>
            <a:ext cx="1184774" cy="1403483"/>
          </a:xfrm>
          <a:custGeom>
            <a:avLst/>
            <a:gdLst/>
            <a:ahLst/>
            <a:cxnLst/>
            <a:rect l="l" t="t" r="r" b="b"/>
            <a:pathLst>
              <a:path w="1184774" h="1403483">
                <a:moveTo>
                  <a:pt x="0" y="0"/>
                </a:moveTo>
                <a:lnTo>
                  <a:pt x="1184774" y="0"/>
                </a:lnTo>
                <a:lnTo>
                  <a:pt x="1184774" y="1403483"/>
                </a:lnTo>
                <a:lnTo>
                  <a:pt x="0" y="1403483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a:blipFill>
        </p:spPr>
      </p:sp>
      <p:sp>
        <p:nvSpPr>
          <p:cNvPr id="35" name="Freeform 35"/>
          <p:cNvSpPr/>
          <p:nvPr/>
        </p:nvSpPr>
        <p:spPr>
          <a:xfrm>
            <a:off x="17411476" y="9457960"/>
            <a:ext cx="1489099" cy="1219200"/>
          </a:xfrm>
          <a:custGeom>
            <a:avLst/>
            <a:gdLst/>
            <a:ahLst/>
            <a:cxnLst/>
            <a:rect l="l" t="t" r="r" b="b"/>
            <a:pathLst>
              <a:path w="1489099" h="1219200">
                <a:moveTo>
                  <a:pt x="0" y="0"/>
                </a:moveTo>
                <a:lnTo>
                  <a:pt x="1489099" y="0"/>
                </a:lnTo>
                <a:lnTo>
                  <a:pt x="1489099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a:blipFill>
        </p:spPr>
      </p:sp>
      <p:sp>
        <p:nvSpPr>
          <p:cNvPr id="36" name="TextBox 36"/>
          <p:cNvSpPr txBox="1"/>
          <p:nvPr/>
        </p:nvSpPr>
        <p:spPr>
          <a:xfrm>
            <a:off x="2077665" y="7578317"/>
            <a:ext cx="4231615" cy="4222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599"/>
              </a:lnSpc>
            </a:pPr>
            <a:r>
              <a:rPr lang="en-US" altLang="zh-CN" sz="2399" b="1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Proj Mgt</a:t>
            </a:r>
            <a:endParaRPr lang="en-US" sz="2399" b="1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2077665" y="8171540"/>
            <a:ext cx="3374697" cy="28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altLang="zh-CN" sz="1599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Implement a robust project management system for Sprint Planning, Time tracking, Issue Tracking in Q1.</a:t>
            </a:r>
            <a:endParaRPr lang="en-US" sz="1599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13446785" y="7640187"/>
            <a:ext cx="4231615" cy="4222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599"/>
              </a:lnSpc>
            </a:pPr>
            <a:r>
              <a:rPr lang="en-US" altLang="zh-CN" sz="2399" b="1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AutoTest</a:t>
            </a:r>
            <a:endParaRPr lang="en-US" sz="2399" b="1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13446785" y="8204835"/>
            <a:ext cx="3374697" cy="28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altLang="zh-CN" sz="1599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Achieve comprehensive unit test coverage and pre-launch checklist automation by Q2.</a:t>
            </a:r>
            <a:endParaRPr lang="en-US" sz="1599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2077665" y="4835117"/>
            <a:ext cx="4231615" cy="4222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599"/>
              </a:lnSpc>
            </a:pPr>
            <a:r>
              <a:rPr lang="en-US" altLang="zh-CN" sz="2399" b="1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Dev Proc</a:t>
            </a:r>
            <a:endParaRPr lang="en-US" sz="2399" b="1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2077665" y="5428340"/>
            <a:ext cx="3374697" cy="28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altLang="zh-CN" sz="1599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Establish Git Flow, CI/CD, Code Review, and Documentation standards by Q1.</a:t>
            </a:r>
            <a:endParaRPr lang="en-US" sz="1599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13446785" y="4896987"/>
            <a:ext cx="4231615" cy="4222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599"/>
              </a:lnSpc>
            </a:pPr>
            <a:r>
              <a:rPr lang="en-US" altLang="zh-CN" sz="2399" b="1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AI Tools</a:t>
            </a:r>
            <a:endParaRPr lang="en-US" sz="2399" b="1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13446785" y="5461635"/>
            <a:ext cx="3374697" cy="28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altLang="zh-CN" sz="1599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Vibe Coding Training (Cursor/Copilot, Prompt Engineering, AI Code Review) Q1-Q2 to reduce repetitive coding.</a:t>
            </a:r>
            <a:endParaRPr lang="en-US" sz="1599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3541977" y="1028700"/>
            <a:ext cx="11204046" cy="796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6480"/>
              </a:lnSpc>
              <a:spcBef>
                <a:spcPct val="0"/>
              </a:spcBef>
            </a:pPr>
            <a:r>
              <a:rPr lang="en-US" altLang="zh-CN" sz="5400" b="1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Technical Goals</a:t>
            </a:r>
            <a:endParaRPr lang="en-US" sz="5400" b="1" u="none" strike="noStrike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45" name="Freeform 45"/>
          <p:cNvSpPr/>
          <p:nvPr/>
        </p:nvSpPr>
        <p:spPr>
          <a:xfrm flipH="1">
            <a:off x="-5405648" y="9457960"/>
            <a:ext cx="7315200" cy="3425952"/>
          </a:xfrm>
          <a:custGeom>
            <a:avLst/>
            <a:gdLst/>
            <a:ahLst/>
            <a:cxnLst/>
            <a:rect l="l" t="t" r="r" b="b"/>
            <a:pathLst>
              <a:path w="7315200" h="3425952">
                <a:moveTo>
                  <a:pt x="7315200" y="0"/>
                </a:moveTo>
                <a:lnTo>
                  <a:pt x="0" y="0"/>
                </a:lnTo>
                <a:lnTo>
                  <a:pt x="0" y="3425952"/>
                </a:lnTo>
                <a:lnTo>
                  <a:pt x="7315200" y="3425952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a:blipFill>
        </p:spPr>
      </p:sp>
      <p:sp>
        <p:nvSpPr>
          <p:cNvPr id="46" name="Freeform 46"/>
          <p:cNvSpPr/>
          <p:nvPr/>
        </p:nvSpPr>
        <p:spPr>
          <a:xfrm flipV="1">
            <a:off x="16165514" y="-2634240"/>
            <a:ext cx="7315200" cy="3425952"/>
          </a:xfrm>
          <a:custGeom>
            <a:avLst/>
            <a:gdLst/>
            <a:ahLst/>
            <a:cxnLst/>
            <a:rect l="l" t="t" r="r" b="b"/>
            <a:pathLst>
              <a:path w="7315200" h="3425952">
                <a:moveTo>
                  <a:pt x="0" y="3425952"/>
                </a:moveTo>
                <a:lnTo>
                  <a:pt x="7315200" y="3425952"/>
                </a:lnTo>
                <a:lnTo>
                  <a:pt x="7315200" y="0"/>
                </a:lnTo>
                <a:lnTo>
                  <a:pt x="0" y="0"/>
                </a:lnTo>
                <a:lnTo>
                  <a:pt x="0" y="3425952"/>
                </a:lnTo>
                <a:close/>
              </a:path>
            </a:pathLst>
          </a:custGeom>
          <a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984885" y="7999591"/>
            <a:ext cx="4101465" cy="1158281"/>
            <a:chOff x="0" y="0"/>
            <a:chExt cx="1439059" cy="4064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39059" cy="406400"/>
            </a:xfrm>
            <a:custGeom>
              <a:avLst/>
              <a:gdLst/>
              <a:ahLst/>
              <a:cxnLst/>
              <a:rect l="l" t="t" r="r" b="b"/>
              <a:pathLst>
                <a:path w="1439059" h="406400">
                  <a:moveTo>
                    <a:pt x="1235859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1235859" y="406400"/>
                  </a:lnTo>
                  <a:lnTo>
                    <a:pt x="1439059" y="203200"/>
                  </a:lnTo>
                  <a:lnTo>
                    <a:pt x="1235859" y="0"/>
                  </a:lnTo>
                  <a:close/>
                </a:path>
              </a:pathLst>
            </a:custGeom>
            <a:solidFill>
              <a:srgbClr val="3A7377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324759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399"/>
                </a:lnSpc>
                <a:spcBef>
                  <a:spcPct val="0"/>
                </a:spcBef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086350" y="6666509"/>
            <a:ext cx="4101465" cy="1158281"/>
            <a:chOff x="0" y="0"/>
            <a:chExt cx="1439059" cy="4064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39059" cy="406400"/>
            </a:xfrm>
            <a:custGeom>
              <a:avLst/>
              <a:gdLst/>
              <a:ahLst/>
              <a:cxnLst/>
              <a:rect l="l" t="t" r="r" b="b"/>
              <a:pathLst>
                <a:path w="1439059" h="406400">
                  <a:moveTo>
                    <a:pt x="1235859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1235859" y="406400"/>
                  </a:lnTo>
                  <a:lnTo>
                    <a:pt x="1439059" y="203200"/>
                  </a:lnTo>
                  <a:lnTo>
                    <a:pt x="1235859" y="0"/>
                  </a:lnTo>
                  <a:close/>
                </a:path>
              </a:pathLst>
            </a:custGeom>
            <a:solidFill>
              <a:srgbClr val="B9DB5F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324759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399"/>
                </a:lnSpc>
                <a:spcBef>
                  <a:spcPct val="0"/>
                </a:spcBef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144000" y="5333426"/>
            <a:ext cx="4101465" cy="1158281"/>
            <a:chOff x="0" y="0"/>
            <a:chExt cx="1439059" cy="4064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439059" cy="406400"/>
            </a:xfrm>
            <a:custGeom>
              <a:avLst/>
              <a:gdLst/>
              <a:ahLst/>
              <a:cxnLst/>
              <a:rect l="l" t="t" r="r" b="b"/>
              <a:pathLst>
                <a:path w="1439059" h="406400">
                  <a:moveTo>
                    <a:pt x="1235859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1235859" y="406400"/>
                  </a:lnTo>
                  <a:lnTo>
                    <a:pt x="1439059" y="203200"/>
                  </a:lnTo>
                  <a:lnTo>
                    <a:pt x="1235859" y="0"/>
                  </a:lnTo>
                  <a:close/>
                </a:path>
              </a:pathLst>
            </a:custGeom>
            <a:solidFill>
              <a:srgbClr val="10AD5D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324759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399"/>
                </a:lnSpc>
                <a:spcBef>
                  <a:spcPct val="0"/>
                </a:spcBef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245465" y="4028918"/>
            <a:ext cx="4101465" cy="1158281"/>
            <a:chOff x="0" y="0"/>
            <a:chExt cx="1439059" cy="4064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439059" cy="406400"/>
            </a:xfrm>
            <a:custGeom>
              <a:avLst/>
              <a:gdLst/>
              <a:ahLst/>
              <a:cxnLst/>
              <a:rect l="l" t="t" r="r" b="b"/>
              <a:pathLst>
                <a:path w="1439059" h="406400">
                  <a:moveTo>
                    <a:pt x="1235859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1235859" y="406400"/>
                  </a:lnTo>
                  <a:lnTo>
                    <a:pt x="1439059" y="203200"/>
                  </a:lnTo>
                  <a:lnTo>
                    <a:pt x="1235859" y="0"/>
                  </a:lnTo>
                  <a:close/>
                </a:path>
              </a:pathLst>
            </a:custGeom>
            <a:solidFill>
              <a:srgbClr val="5EA6B2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324759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399"/>
                </a:lnSpc>
                <a:spcBef>
                  <a:spcPct val="0"/>
                </a:spcBef>
              </a:pPr>
              <a:endParaRPr>
                <a:latin typeface="Montserrat" pitchFamily="2" charset="77"/>
              </a:endParaRPr>
            </a:p>
          </p:txBody>
        </p:sp>
      </p:grpSp>
      <p:sp>
        <p:nvSpPr>
          <p:cNvPr id="15" name="Freeform 15"/>
          <p:cNvSpPr/>
          <p:nvPr/>
        </p:nvSpPr>
        <p:spPr>
          <a:xfrm>
            <a:off x="2527935" y="6604825"/>
            <a:ext cx="1059180" cy="1059180"/>
          </a:xfrm>
          <a:custGeom>
            <a:avLst/>
            <a:gdLst/>
            <a:ahLst/>
            <a:cxnLst/>
            <a:rect l="l" t="t" r="r" b="b"/>
            <a:pathLst>
              <a:path w="1059180" h="1059180">
                <a:moveTo>
                  <a:pt x="0" y="0"/>
                </a:moveTo>
                <a:lnTo>
                  <a:pt x="1059180" y="0"/>
                </a:lnTo>
                <a:lnTo>
                  <a:pt x="1059180" y="1059181"/>
                </a:lnTo>
                <a:lnTo>
                  <a:pt x="0" y="10591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0776604" y="4211838"/>
            <a:ext cx="792442" cy="792442"/>
          </a:xfrm>
          <a:custGeom>
            <a:avLst/>
            <a:gdLst/>
            <a:ahLst/>
            <a:cxnLst/>
            <a:rect l="l" t="t" r="r" b="b"/>
            <a:pathLst>
              <a:path w="792442" h="792442">
                <a:moveTo>
                  <a:pt x="0" y="0"/>
                </a:moveTo>
                <a:lnTo>
                  <a:pt x="792442" y="0"/>
                </a:lnTo>
                <a:lnTo>
                  <a:pt x="792442" y="792442"/>
                </a:lnTo>
                <a:lnTo>
                  <a:pt x="0" y="79244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6595503" y="5333426"/>
            <a:ext cx="1039345" cy="1002967"/>
          </a:xfrm>
          <a:custGeom>
            <a:avLst/>
            <a:gdLst/>
            <a:ahLst/>
            <a:cxnLst/>
            <a:rect l="l" t="t" r="r" b="b"/>
            <a:pathLst>
              <a:path w="1039345" h="1002967">
                <a:moveTo>
                  <a:pt x="0" y="0"/>
                </a:moveTo>
                <a:lnTo>
                  <a:pt x="1039344" y="0"/>
                </a:lnTo>
                <a:lnTo>
                  <a:pt x="1039344" y="1002967"/>
                </a:lnTo>
                <a:lnTo>
                  <a:pt x="0" y="100296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4890213" y="2609850"/>
            <a:ext cx="680523" cy="1059180"/>
          </a:xfrm>
          <a:custGeom>
            <a:avLst/>
            <a:gdLst/>
            <a:ahLst/>
            <a:cxnLst/>
            <a:rect l="l" t="t" r="r" b="b"/>
            <a:pathLst>
              <a:path w="680523" h="1059180">
                <a:moveTo>
                  <a:pt x="0" y="0"/>
                </a:moveTo>
                <a:lnTo>
                  <a:pt x="680524" y="0"/>
                </a:lnTo>
                <a:lnTo>
                  <a:pt x="680524" y="1059180"/>
                </a:lnTo>
                <a:lnTo>
                  <a:pt x="0" y="105918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 rot="2089008">
            <a:off x="-372046" y="95002"/>
            <a:ext cx="1338814" cy="933823"/>
          </a:xfrm>
          <a:custGeom>
            <a:avLst/>
            <a:gdLst/>
            <a:ahLst/>
            <a:cxnLst/>
            <a:rect l="l" t="t" r="r" b="b"/>
            <a:pathLst>
              <a:path w="1338814" h="933823">
                <a:moveTo>
                  <a:pt x="0" y="0"/>
                </a:moveTo>
                <a:lnTo>
                  <a:pt x="1338814" y="0"/>
                </a:lnTo>
                <a:lnTo>
                  <a:pt x="1338814" y="933823"/>
                </a:lnTo>
                <a:lnTo>
                  <a:pt x="0" y="93382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6260645" y="-1123663"/>
            <a:ext cx="1997311" cy="2247326"/>
          </a:xfrm>
          <a:custGeom>
            <a:avLst/>
            <a:gdLst/>
            <a:ahLst/>
            <a:cxnLst/>
            <a:rect l="l" t="t" r="r" b="b"/>
            <a:pathLst>
              <a:path w="1997311" h="2247326">
                <a:moveTo>
                  <a:pt x="0" y="0"/>
                </a:moveTo>
                <a:lnTo>
                  <a:pt x="1997310" y="0"/>
                </a:lnTo>
                <a:lnTo>
                  <a:pt x="1997310" y="2247326"/>
                </a:lnTo>
                <a:lnTo>
                  <a:pt x="0" y="224732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1028700" y="1019175"/>
            <a:ext cx="8115300" cy="777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>
              <a:lnSpc>
                <a:spcPts val="6480"/>
              </a:lnSpc>
              <a:spcBef>
                <a:spcPct val="0"/>
              </a:spcBef>
            </a:pPr>
            <a:r>
              <a:rPr lang="en-US" altLang="zh-CN" sz="4800" b="1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Intl. Projects</a:t>
            </a:r>
            <a:endParaRPr lang="en-US" sz="4800" b="1" u="none" strike="noStrike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467117" y="8352037"/>
            <a:ext cx="2895160" cy="405765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marL="0" lvl="1" indent="0" algn="ctr">
              <a:lnSpc>
                <a:spcPts val="3359"/>
              </a:lnSpc>
              <a:spcBef>
                <a:spcPct val="0"/>
              </a:spcBef>
            </a:pPr>
            <a:r>
              <a:rPr lang="en-US" altLang="zh-CN" sz="2399" b="1" spc="76" dirty="0">
                <a:solidFill>
                  <a:srgbClr val="FFFFFF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TOMO AI</a:t>
            </a:r>
            <a:endParaRPr lang="en-US" sz="2399" b="1" spc="76" dirty="0">
              <a:solidFill>
                <a:srgbClr val="FFFFFF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5334000" y="7020339"/>
            <a:ext cx="3124199" cy="402995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marL="0" lvl="1" indent="0" algn="ctr">
              <a:lnSpc>
                <a:spcPts val="3359"/>
              </a:lnSpc>
              <a:spcBef>
                <a:spcPct val="0"/>
              </a:spcBef>
            </a:pPr>
            <a:r>
              <a:rPr lang="en-US" altLang="zh-CN" sz="2399" b="1" spc="76" dirty="0">
                <a:solidFill>
                  <a:srgbClr val="FFFFFF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Sky-Net</a:t>
            </a:r>
            <a:endParaRPr lang="en-US" sz="2399" b="1" spc="76" dirty="0">
              <a:solidFill>
                <a:srgbClr val="FFFFFF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9418702" y="5687256"/>
            <a:ext cx="3076752" cy="402995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marL="0" lvl="1" indent="0" algn="ctr">
              <a:lnSpc>
                <a:spcPts val="3359"/>
              </a:lnSpc>
              <a:spcBef>
                <a:spcPct val="0"/>
              </a:spcBef>
            </a:pPr>
            <a:r>
              <a:rPr lang="en-US" altLang="zh-CN" sz="2399" b="1" spc="76" dirty="0">
                <a:solidFill>
                  <a:srgbClr val="FFFFFF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Team R&amp;D</a:t>
            </a:r>
            <a:endParaRPr lang="en-US" sz="2399" b="1" spc="76" dirty="0">
              <a:solidFill>
                <a:srgbClr val="FFFFFF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3563600" y="4352789"/>
            <a:ext cx="3034360" cy="405765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marL="0" lvl="1" indent="0" algn="ctr">
              <a:lnSpc>
                <a:spcPts val="3359"/>
              </a:lnSpc>
              <a:spcBef>
                <a:spcPct val="0"/>
              </a:spcBef>
            </a:pPr>
            <a:r>
              <a:rPr lang="en-US" altLang="zh-CN" sz="2399" b="1" spc="76" dirty="0">
                <a:solidFill>
                  <a:srgbClr val="FFFFFF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Global</a:t>
            </a:r>
            <a:endParaRPr lang="en-US" sz="2399" b="1" spc="76" dirty="0">
              <a:solidFill>
                <a:srgbClr val="FFFFFF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504950" y="4615836"/>
            <a:ext cx="3374697" cy="28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altLang="zh-CN" sz="1599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AI HR project: customization, distribution, and integration for global markets.</a:t>
            </a:r>
            <a:endParaRPr lang="en-US" sz="1599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9507383" y="7023735"/>
            <a:ext cx="3374697" cy="28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altLang="zh-CN" sz="1599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Developing a self-sustained product specifically for the dynamic Vietnam market.</a:t>
            </a:r>
            <a:endParaRPr lang="en-US" sz="1599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5562600" y="3390900"/>
            <a:ext cx="3374697" cy="28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altLang="zh-CN" sz="1599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GC project: integrating over 100 third-party games to expand our gaming portfolio.</a:t>
            </a:r>
            <a:endParaRPr lang="en-US" sz="1599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3729333" y="5709839"/>
            <a:ext cx="3374697" cy="28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altLang="zh-CN" sz="1599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Our goal is to integrate group resources and establish Jarvis as a truly international entity.</a:t>
            </a:r>
            <a:endParaRPr lang="en-US" sz="1599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30" name="Freeform 30"/>
          <p:cNvSpPr/>
          <p:nvPr/>
        </p:nvSpPr>
        <p:spPr>
          <a:xfrm flipH="1">
            <a:off x="-5405648" y="9457960"/>
            <a:ext cx="7315200" cy="3425952"/>
          </a:xfrm>
          <a:custGeom>
            <a:avLst/>
            <a:gdLst/>
            <a:ahLst/>
            <a:cxnLst/>
            <a:rect l="l" t="t" r="r" b="b"/>
            <a:pathLst>
              <a:path w="7315200" h="3425952">
                <a:moveTo>
                  <a:pt x="7315200" y="0"/>
                </a:moveTo>
                <a:lnTo>
                  <a:pt x="0" y="0"/>
                </a:lnTo>
                <a:lnTo>
                  <a:pt x="0" y="3425952"/>
                </a:lnTo>
                <a:lnTo>
                  <a:pt x="7315200" y="3425952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17411476" y="9457960"/>
            <a:ext cx="1489099" cy="1219200"/>
          </a:xfrm>
          <a:custGeom>
            <a:avLst/>
            <a:gdLst/>
            <a:ahLst/>
            <a:cxnLst/>
            <a:rect l="l" t="t" r="r" b="b"/>
            <a:pathLst>
              <a:path w="1489099" h="1219200">
                <a:moveTo>
                  <a:pt x="0" y="0"/>
                </a:moveTo>
                <a:lnTo>
                  <a:pt x="1489099" y="0"/>
                </a:lnTo>
                <a:lnTo>
                  <a:pt x="1489099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175178" y="6942188"/>
            <a:ext cx="3984613" cy="2316112"/>
            <a:chOff x="0" y="0"/>
            <a:chExt cx="1049445" cy="61000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49445" cy="610005"/>
            </a:xfrm>
            <a:custGeom>
              <a:avLst/>
              <a:gdLst/>
              <a:ahLst/>
              <a:cxnLst/>
              <a:rect l="l" t="t" r="r" b="b"/>
              <a:pathLst>
                <a:path w="1049445" h="610005">
                  <a:moveTo>
                    <a:pt x="29144" y="0"/>
                  </a:moveTo>
                  <a:lnTo>
                    <a:pt x="1020301" y="0"/>
                  </a:lnTo>
                  <a:cubicBezTo>
                    <a:pt x="1028031" y="0"/>
                    <a:pt x="1035444" y="3071"/>
                    <a:pt x="1040909" y="8536"/>
                  </a:cubicBezTo>
                  <a:cubicBezTo>
                    <a:pt x="1046375" y="14002"/>
                    <a:pt x="1049445" y="21415"/>
                    <a:pt x="1049445" y="29144"/>
                  </a:cubicBezTo>
                  <a:lnTo>
                    <a:pt x="1049445" y="580861"/>
                  </a:lnTo>
                  <a:cubicBezTo>
                    <a:pt x="1049445" y="588590"/>
                    <a:pt x="1046375" y="596003"/>
                    <a:pt x="1040909" y="601469"/>
                  </a:cubicBezTo>
                  <a:cubicBezTo>
                    <a:pt x="1035444" y="606934"/>
                    <a:pt x="1028031" y="610005"/>
                    <a:pt x="1020301" y="610005"/>
                  </a:cubicBezTo>
                  <a:lnTo>
                    <a:pt x="29144" y="610005"/>
                  </a:lnTo>
                  <a:cubicBezTo>
                    <a:pt x="21415" y="610005"/>
                    <a:pt x="14002" y="606934"/>
                    <a:pt x="8536" y="601469"/>
                  </a:cubicBezTo>
                  <a:cubicBezTo>
                    <a:pt x="3071" y="596003"/>
                    <a:pt x="0" y="588590"/>
                    <a:pt x="0" y="580861"/>
                  </a:cubicBezTo>
                  <a:lnTo>
                    <a:pt x="0" y="29144"/>
                  </a:lnTo>
                  <a:cubicBezTo>
                    <a:pt x="0" y="21415"/>
                    <a:pt x="3071" y="14002"/>
                    <a:pt x="8536" y="8536"/>
                  </a:cubicBezTo>
                  <a:cubicBezTo>
                    <a:pt x="14002" y="3071"/>
                    <a:pt x="21415" y="0"/>
                    <a:pt x="29144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049445" cy="6481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399"/>
                </a:lnSpc>
                <a:spcBef>
                  <a:spcPct val="0"/>
                </a:spcBef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3716982" y="4122035"/>
            <a:ext cx="3984613" cy="2316112"/>
            <a:chOff x="0" y="0"/>
            <a:chExt cx="1049445" cy="61000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49445" cy="610005"/>
            </a:xfrm>
            <a:custGeom>
              <a:avLst/>
              <a:gdLst/>
              <a:ahLst/>
              <a:cxnLst/>
              <a:rect l="l" t="t" r="r" b="b"/>
              <a:pathLst>
                <a:path w="1049445" h="610005">
                  <a:moveTo>
                    <a:pt x="29144" y="0"/>
                  </a:moveTo>
                  <a:lnTo>
                    <a:pt x="1020301" y="0"/>
                  </a:lnTo>
                  <a:cubicBezTo>
                    <a:pt x="1028031" y="0"/>
                    <a:pt x="1035444" y="3071"/>
                    <a:pt x="1040909" y="8536"/>
                  </a:cubicBezTo>
                  <a:cubicBezTo>
                    <a:pt x="1046375" y="14002"/>
                    <a:pt x="1049445" y="21415"/>
                    <a:pt x="1049445" y="29144"/>
                  </a:cubicBezTo>
                  <a:lnTo>
                    <a:pt x="1049445" y="580861"/>
                  </a:lnTo>
                  <a:cubicBezTo>
                    <a:pt x="1049445" y="588590"/>
                    <a:pt x="1046375" y="596003"/>
                    <a:pt x="1040909" y="601469"/>
                  </a:cubicBezTo>
                  <a:cubicBezTo>
                    <a:pt x="1035444" y="606934"/>
                    <a:pt x="1028031" y="610005"/>
                    <a:pt x="1020301" y="610005"/>
                  </a:cubicBezTo>
                  <a:lnTo>
                    <a:pt x="29144" y="610005"/>
                  </a:lnTo>
                  <a:cubicBezTo>
                    <a:pt x="21415" y="610005"/>
                    <a:pt x="14002" y="606934"/>
                    <a:pt x="8536" y="601469"/>
                  </a:cubicBezTo>
                  <a:cubicBezTo>
                    <a:pt x="3071" y="596003"/>
                    <a:pt x="0" y="588590"/>
                    <a:pt x="0" y="580861"/>
                  </a:cubicBezTo>
                  <a:lnTo>
                    <a:pt x="0" y="29144"/>
                  </a:lnTo>
                  <a:cubicBezTo>
                    <a:pt x="0" y="21415"/>
                    <a:pt x="3071" y="14002"/>
                    <a:pt x="8536" y="8536"/>
                  </a:cubicBezTo>
                  <a:cubicBezTo>
                    <a:pt x="14002" y="3071"/>
                    <a:pt x="21415" y="0"/>
                    <a:pt x="29144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049445" cy="6481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399"/>
                </a:lnSpc>
                <a:spcBef>
                  <a:spcPct val="0"/>
                </a:spcBef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175178" y="1079521"/>
            <a:ext cx="3984613" cy="2316112"/>
            <a:chOff x="0" y="0"/>
            <a:chExt cx="1049445" cy="61000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49445" cy="610005"/>
            </a:xfrm>
            <a:custGeom>
              <a:avLst/>
              <a:gdLst/>
              <a:ahLst/>
              <a:cxnLst/>
              <a:rect l="l" t="t" r="r" b="b"/>
              <a:pathLst>
                <a:path w="1049445" h="610005">
                  <a:moveTo>
                    <a:pt x="29144" y="0"/>
                  </a:moveTo>
                  <a:lnTo>
                    <a:pt x="1020301" y="0"/>
                  </a:lnTo>
                  <a:cubicBezTo>
                    <a:pt x="1028031" y="0"/>
                    <a:pt x="1035444" y="3071"/>
                    <a:pt x="1040909" y="8536"/>
                  </a:cubicBezTo>
                  <a:cubicBezTo>
                    <a:pt x="1046375" y="14002"/>
                    <a:pt x="1049445" y="21415"/>
                    <a:pt x="1049445" y="29144"/>
                  </a:cubicBezTo>
                  <a:lnTo>
                    <a:pt x="1049445" y="580861"/>
                  </a:lnTo>
                  <a:cubicBezTo>
                    <a:pt x="1049445" y="588590"/>
                    <a:pt x="1046375" y="596003"/>
                    <a:pt x="1040909" y="601469"/>
                  </a:cubicBezTo>
                  <a:cubicBezTo>
                    <a:pt x="1035444" y="606934"/>
                    <a:pt x="1028031" y="610005"/>
                    <a:pt x="1020301" y="610005"/>
                  </a:cubicBezTo>
                  <a:lnTo>
                    <a:pt x="29144" y="610005"/>
                  </a:lnTo>
                  <a:cubicBezTo>
                    <a:pt x="21415" y="610005"/>
                    <a:pt x="14002" y="606934"/>
                    <a:pt x="8536" y="601469"/>
                  </a:cubicBezTo>
                  <a:cubicBezTo>
                    <a:pt x="3071" y="596003"/>
                    <a:pt x="0" y="588590"/>
                    <a:pt x="0" y="580861"/>
                  </a:cubicBezTo>
                  <a:lnTo>
                    <a:pt x="0" y="29144"/>
                  </a:lnTo>
                  <a:cubicBezTo>
                    <a:pt x="0" y="21415"/>
                    <a:pt x="3071" y="14002"/>
                    <a:pt x="8536" y="8536"/>
                  </a:cubicBezTo>
                  <a:cubicBezTo>
                    <a:pt x="14002" y="3071"/>
                    <a:pt x="21415" y="0"/>
                    <a:pt x="2914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049445" cy="6481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sp>
        <p:nvSpPr>
          <p:cNvPr id="12" name="Freeform 12"/>
          <p:cNvSpPr/>
          <p:nvPr/>
        </p:nvSpPr>
        <p:spPr>
          <a:xfrm>
            <a:off x="11590277" y="502313"/>
            <a:ext cx="1389698" cy="1389698"/>
          </a:xfrm>
          <a:custGeom>
            <a:avLst/>
            <a:gdLst/>
            <a:ahLst/>
            <a:cxnLst/>
            <a:rect l="l" t="t" r="r" b="b"/>
            <a:pathLst>
              <a:path w="1389698" h="1389698">
                <a:moveTo>
                  <a:pt x="0" y="0"/>
                </a:moveTo>
                <a:lnTo>
                  <a:pt x="1389698" y="0"/>
                </a:lnTo>
                <a:lnTo>
                  <a:pt x="1389698" y="1389698"/>
                </a:lnTo>
                <a:lnTo>
                  <a:pt x="0" y="13896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3" name="Freeform 13"/>
          <p:cNvSpPr/>
          <p:nvPr/>
        </p:nvSpPr>
        <p:spPr>
          <a:xfrm>
            <a:off x="15112291" y="3544828"/>
            <a:ext cx="1389697" cy="1389698"/>
          </a:xfrm>
          <a:custGeom>
            <a:avLst/>
            <a:gdLst/>
            <a:ahLst/>
            <a:cxnLst/>
            <a:rect l="l" t="t" r="r" b="b"/>
            <a:pathLst>
              <a:path w="1389697" h="1389698">
                <a:moveTo>
                  <a:pt x="0" y="0"/>
                </a:moveTo>
                <a:lnTo>
                  <a:pt x="1389697" y="0"/>
                </a:lnTo>
                <a:lnTo>
                  <a:pt x="1389697" y="1389697"/>
                </a:lnTo>
                <a:lnTo>
                  <a:pt x="0" y="13896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4" name="Freeform 14"/>
          <p:cNvSpPr/>
          <p:nvPr/>
        </p:nvSpPr>
        <p:spPr>
          <a:xfrm flipH="1">
            <a:off x="6652367" y="4934338"/>
            <a:ext cx="4098480" cy="2202933"/>
          </a:xfrm>
          <a:custGeom>
            <a:avLst/>
            <a:gdLst/>
            <a:ahLst/>
            <a:cxnLst/>
            <a:rect l="l" t="t" r="r" b="b"/>
            <a:pathLst>
              <a:path w="4098480" h="2202933">
                <a:moveTo>
                  <a:pt x="4098479" y="0"/>
                </a:moveTo>
                <a:lnTo>
                  <a:pt x="0" y="0"/>
                </a:lnTo>
                <a:lnTo>
                  <a:pt x="0" y="2202933"/>
                </a:lnTo>
                <a:lnTo>
                  <a:pt x="4098479" y="2202933"/>
                </a:lnTo>
                <a:lnTo>
                  <a:pt x="4098479" y="0"/>
                </a:lnTo>
                <a:close/>
              </a:path>
            </a:pathLst>
          </a:custGeom>
          <a:blipFill>
            <a:blip r:embed="rId6">
              <a:alphaModFix amt="5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5" name="Group 15"/>
          <p:cNvGrpSpPr/>
          <p:nvPr/>
        </p:nvGrpSpPr>
        <p:grpSpPr>
          <a:xfrm>
            <a:off x="6633374" y="4122035"/>
            <a:ext cx="3984613" cy="2316112"/>
            <a:chOff x="0" y="0"/>
            <a:chExt cx="1049445" cy="61000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49445" cy="610005"/>
            </a:xfrm>
            <a:custGeom>
              <a:avLst/>
              <a:gdLst/>
              <a:ahLst/>
              <a:cxnLst/>
              <a:rect l="l" t="t" r="r" b="b"/>
              <a:pathLst>
                <a:path w="1049445" h="610005">
                  <a:moveTo>
                    <a:pt x="29144" y="0"/>
                  </a:moveTo>
                  <a:lnTo>
                    <a:pt x="1020301" y="0"/>
                  </a:lnTo>
                  <a:cubicBezTo>
                    <a:pt x="1028031" y="0"/>
                    <a:pt x="1035444" y="3071"/>
                    <a:pt x="1040909" y="8536"/>
                  </a:cubicBezTo>
                  <a:cubicBezTo>
                    <a:pt x="1046375" y="14002"/>
                    <a:pt x="1049445" y="21415"/>
                    <a:pt x="1049445" y="29144"/>
                  </a:cubicBezTo>
                  <a:lnTo>
                    <a:pt x="1049445" y="580861"/>
                  </a:lnTo>
                  <a:cubicBezTo>
                    <a:pt x="1049445" y="588590"/>
                    <a:pt x="1046375" y="596003"/>
                    <a:pt x="1040909" y="601469"/>
                  </a:cubicBezTo>
                  <a:cubicBezTo>
                    <a:pt x="1035444" y="606934"/>
                    <a:pt x="1028031" y="610005"/>
                    <a:pt x="1020301" y="610005"/>
                  </a:cubicBezTo>
                  <a:lnTo>
                    <a:pt x="29144" y="610005"/>
                  </a:lnTo>
                  <a:cubicBezTo>
                    <a:pt x="21415" y="610005"/>
                    <a:pt x="14002" y="606934"/>
                    <a:pt x="8536" y="601469"/>
                  </a:cubicBezTo>
                  <a:cubicBezTo>
                    <a:pt x="3071" y="596003"/>
                    <a:pt x="0" y="588590"/>
                    <a:pt x="0" y="580861"/>
                  </a:cubicBezTo>
                  <a:lnTo>
                    <a:pt x="0" y="29144"/>
                  </a:lnTo>
                  <a:cubicBezTo>
                    <a:pt x="0" y="21415"/>
                    <a:pt x="3071" y="14002"/>
                    <a:pt x="8536" y="8536"/>
                  </a:cubicBezTo>
                  <a:cubicBezTo>
                    <a:pt x="14002" y="3071"/>
                    <a:pt x="21415" y="0"/>
                    <a:pt x="29144" y="0"/>
                  </a:cubicBezTo>
                  <a:close/>
                </a:path>
              </a:pathLst>
            </a:custGeom>
            <a:solidFill>
              <a:srgbClr val="10AD5D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049445" cy="6481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sp>
        <p:nvSpPr>
          <p:cNvPr id="18" name="Freeform 18"/>
          <p:cNvSpPr/>
          <p:nvPr/>
        </p:nvSpPr>
        <p:spPr>
          <a:xfrm>
            <a:off x="8036917" y="3544828"/>
            <a:ext cx="1389511" cy="1389511"/>
          </a:xfrm>
          <a:custGeom>
            <a:avLst/>
            <a:gdLst/>
            <a:ahLst/>
            <a:cxnLst/>
            <a:rect l="l" t="t" r="r" b="b"/>
            <a:pathLst>
              <a:path w="1389511" h="1389511">
                <a:moveTo>
                  <a:pt x="0" y="0"/>
                </a:moveTo>
                <a:lnTo>
                  <a:pt x="1389511" y="0"/>
                </a:lnTo>
                <a:lnTo>
                  <a:pt x="1389511" y="1389510"/>
                </a:lnTo>
                <a:lnTo>
                  <a:pt x="0" y="13895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9" name="Freeform 19"/>
          <p:cNvSpPr/>
          <p:nvPr/>
        </p:nvSpPr>
        <p:spPr>
          <a:xfrm>
            <a:off x="11590277" y="6364980"/>
            <a:ext cx="1389511" cy="1389511"/>
          </a:xfrm>
          <a:custGeom>
            <a:avLst/>
            <a:gdLst/>
            <a:ahLst/>
            <a:cxnLst/>
            <a:rect l="l" t="t" r="r" b="b"/>
            <a:pathLst>
              <a:path w="1389511" h="1389511">
                <a:moveTo>
                  <a:pt x="0" y="0"/>
                </a:moveTo>
                <a:lnTo>
                  <a:pt x="1389511" y="0"/>
                </a:lnTo>
                <a:lnTo>
                  <a:pt x="1389511" y="1389511"/>
                </a:lnTo>
                <a:lnTo>
                  <a:pt x="0" y="13895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20" name="Group 20"/>
          <p:cNvGrpSpPr/>
          <p:nvPr/>
        </p:nvGrpSpPr>
        <p:grpSpPr>
          <a:xfrm>
            <a:off x="8048473" y="3544828"/>
            <a:ext cx="1154415" cy="1154415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952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5132081" y="3544828"/>
            <a:ext cx="1154415" cy="1154415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AD5D"/>
            </a:solidFill>
            <a:ln w="95250" cap="sq">
              <a:solidFill>
                <a:srgbClr val="10AD5D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399"/>
                </a:lnSpc>
                <a:spcBef>
                  <a:spcPct val="0"/>
                </a:spcBef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1590277" y="502313"/>
            <a:ext cx="1154415" cy="1154415"/>
            <a:chOff x="0" y="0"/>
            <a:chExt cx="812800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9DB5F"/>
            </a:solidFill>
            <a:ln w="95250" cap="sq">
              <a:solidFill>
                <a:srgbClr val="B9DB5F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1590277" y="6364980"/>
            <a:ext cx="1154415" cy="1154415"/>
            <a:chOff x="0" y="0"/>
            <a:chExt cx="812800" cy="8128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9DB5F"/>
            </a:solidFill>
            <a:ln w="95250" cap="sq">
              <a:solidFill>
                <a:srgbClr val="B9DB5F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399"/>
                </a:lnSpc>
                <a:spcBef>
                  <a:spcPct val="0"/>
                </a:spcBef>
              </a:pPr>
              <a:endParaRPr>
                <a:latin typeface="Montserrat" pitchFamily="2" charset="77"/>
              </a:endParaRPr>
            </a:p>
          </p:txBody>
        </p:sp>
      </p:grpSp>
      <p:sp>
        <p:nvSpPr>
          <p:cNvPr id="32" name="Freeform 32"/>
          <p:cNvSpPr/>
          <p:nvPr/>
        </p:nvSpPr>
        <p:spPr>
          <a:xfrm>
            <a:off x="15475906" y="3868137"/>
            <a:ext cx="476259" cy="459590"/>
          </a:xfrm>
          <a:custGeom>
            <a:avLst/>
            <a:gdLst/>
            <a:ahLst/>
            <a:cxnLst/>
            <a:rect l="l" t="t" r="r" b="b"/>
            <a:pathLst>
              <a:path w="476259" h="459590">
                <a:moveTo>
                  <a:pt x="0" y="0"/>
                </a:moveTo>
                <a:lnTo>
                  <a:pt x="476259" y="0"/>
                </a:lnTo>
                <a:lnTo>
                  <a:pt x="476259" y="459591"/>
                </a:lnTo>
                <a:lnTo>
                  <a:pt x="0" y="45959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3" name="Freeform 33"/>
          <p:cNvSpPr/>
          <p:nvPr/>
        </p:nvSpPr>
        <p:spPr>
          <a:xfrm>
            <a:off x="11934102" y="846138"/>
            <a:ext cx="466765" cy="466765"/>
          </a:xfrm>
          <a:custGeom>
            <a:avLst/>
            <a:gdLst/>
            <a:ahLst/>
            <a:cxnLst/>
            <a:rect l="l" t="t" r="r" b="b"/>
            <a:pathLst>
              <a:path w="466765" h="466765">
                <a:moveTo>
                  <a:pt x="0" y="0"/>
                </a:moveTo>
                <a:lnTo>
                  <a:pt x="466765" y="0"/>
                </a:lnTo>
                <a:lnTo>
                  <a:pt x="466765" y="466765"/>
                </a:lnTo>
                <a:lnTo>
                  <a:pt x="0" y="46676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34" name="Freeform 34"/>
          <p:cNvSpPr/>
          <p:nvPr/>
        </p:nvSpPr>
        <p:spPr>
          <a:xfrm>
            <a:off x="930536" y="1312903"/>
            <a:ext cx="4705191" cy="4722902"/>
          </a:xfrm>
          <a:custGeom>
            <a:avLst/>
            <a:gdLst/>
            <a:ahLst/>
            <a:cxnLst/>
            <a:rect l="l" t="t" r="r" b="b"/>
            <a:pathLst>
              <a:path w="4705191" h="4722902">
                <a:moveTo>
                  <a:pt x="0" y="0"/>
                </a:moveTo>
                <a:lnTo>
                  <a:pt x="4705191" y="0"/>
                </a:lnTo>
                <a:lnTo>
                  <a:pt x="4705191" y="4722902"/>
                </a:lnTo>
                <a:lnTo>
                  <a:pt x="0" y="472290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5" name="Freeform 35"/>
          <p:cNvSpPr/>
          <p:nvPr/>
        </p:nvSpPr>
        <p:spPr>
          <a:xfrm>
            <a:off x="14800996" y="2164411"/>
            <a:ext cx="849030" cy="967555"/>
          </a:xfrm>
          <a:custGeom>
            <a:avLst/>
            <a:gdLst/>
            <a:ahLst/>
            <a:cxnLst/>
            <a:rect l="l" t="t" r="r" b="b"/>
            <a:pathLst>
              <a:path w="849030" h="967555">
                <a:moveTo>
                  <a:pt x="0" y="0"/>
                </a:moveTo>
                <a:lnTo>
                  <a:pt x="849030" y="0"/>
                </a:lnTo>
                <a:lnTo>
                  <a:pt x="849030" y="967555"/>
                </a:lnTo>
                <a:lnTo>
                  <a:pt x="0" y="967555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6" name="Freeform 36"/>
          <p:cNvSpPr/>
          <p:nvPr/>
        </p:nvSpPr>
        <p:spPr>
          <a:xfrm rot="5400000">
            <a:off x="14800996" y="7130868"/>
            <a:ext cx="849030" cy="967555"/>
          </a:xfrm>
          <a:custGeom>
            <a:avLst/>
            <a:gdLst/>
            <a:ahLst/>
            <a:cxnLst/>
            <a:rect l="l" t="t" r="r" b="b"/>
            <a:pathLst>
              <a:path w="849030" h="967555">
                <a:moveTo>
                  <a:pt x="0" y="0"/>
                </a:moveTo>
                <a:lnTo>
                  <a:pt x="849030" y="0"/>
                </a:lnTo>
                <a:lnTo>
                  <a:pt x="849030" y="967555"/>
                </a:lnTo>
                <a:lnTo>
                  <a:pt x="0" y="967555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7" name="Freeform 37"/>
          <p:cNvSpPr/>
          <p:nvPr/>
        </p:nvSpPr>
        <p:spPr>
          <a:xfrm rot="-10800000">
            <a:off x="8676592" y="7130868"/>
            <a:ext cx="849030" cy="967555"/>
          </a:xfrm>
          <a:custGeom>
            <a:avLst/>
            <a:gdLst/>
            <a:ahLst/>
            <a:cxnLst/>
            <a:rect l="l" t="t" r="r" b="b"/>
            <a:pathLst>
              <a:path w="849030" h="967555">
                <a:moveTo>
                  <a:pt x="0" y="0"/>
                </a:moveTo>
                <a:lnTo>
                  <a:pt x="849030" y="0"/>
                </a:lnTo>
                <a:lnTo>
                  <a:pt x="849030" y="967555"/>
                </a:lnTo>
                <a:lnTo>
                  <a:pt x="0" y="967555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8" name="Freeform 38"/>
          <p:cNvSpPr/>
          <p:nvPr/>
        </p:nvSpPr>
        <p:spPr>
          <a:xfrm rot="-5400000">
            <a:off x="8676592" y="1934858"/>
            <a:ext cx="849030" cy="967555"/>
          </a:xfrm>
          <a:custGeom>
            <a:avLst/>
            <a:gdLst/>
            <a:ahLst/>
            <a:cxnLst/>
            <a:rect l="l" t="t" r="r" b="b"/>
            <a:pathLst>
              <a:path w="849030" h="967555">
                <a:moveTo>
                  <a:pt x="0" y="0"/>
                </a:moveTo>
                <a:lnTo>
                  <a:pt x="849030" y="0"/>
                </a:lnTo>
                <a:lnTo>
                  <a:pt x="849030" y="967556"/>
                </a:lnTo>
                <a:lnTo>
                  <a:pt x="0" y="967556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39" name="Freeform 39"/>
          <p:cNvSpPr/>
          <p:nvPr/>
        </p:nvSpPr>
        <p:spPr>
          <a:xfrm>
            <a:off x="11943900" y="6713704"/>
            <a:ext cx="456967" cy="456967"/>
          </a:xfrm>
          <a:custGeom>
            <a:avLst/>
            <a:gdLst/>
            <a:ahLst/>
            <a:cxnLst/>
            <a:rect l="l" t="t" r="r" b="b"/>
            <a:pathLst>
              <a:path w="456967" h="456967">
                <a:moveTo>
                  <a:pt x="0" y="0"/>
                </a:moveTo>
                <a:lnTo>
                  <a:pt x="456967" y="0"/>
                </a:lnTo>
                <a:lnTo>
                  <a:pt x="456967" y="456967"/>
                </a:lnTo>
                <a:lnTo>
                  <a:pt x="0" y="456967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0" name="Freeform 40"/>
          <p:cNvSpPr/>
          <p:nvPr/>
        </p:nvSpPr>
        <p:spPr>
          <a:xfrm>
            <a:off x="8435805" y="3826509"/>
            <a:ext cx="379751" cy="591052"/>
          </a:xfrm>
          <a:custGeom>
            <a:avLst/>
            <a:gdLst/>
            <a:ahLst/>
            <a:cxnLst/>
            <a:rect l="l" t="t" r="r" b="b"/>
            <a:pathLst>
              <a:path w="379751" h="591052">
                <a:moveTo>
                  <a:pt x="0" y="0"/>
                </a:moveTo>
                <a:lnTo>
                  <a:pt x="379751" y="0"/>
                </a:lnTo>
                <a:lnTo>
                  <a:pt x="379751" y="591052"/>
                </a:lnTo>
                <a:lnTo>
                  <a:pt x="0" y="591052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1" name="Freeform 41"/>
          <p:cNvSpPr/>
          <p:nvPr/>
        </p:nvSpPr>
        <p:spPr>
          <a:xfrm rot="734040">
            <a:off x="17293010" y="8973915"/>
            <a:ext cx="1750367" cy="1972245"/>
          </a:xfrm>
          <a:custGeom>
            <a:avLst/>
            <a:gdLst/>
            <a:ahLst/>
            <a:cxnLst/>
            <a:rect l="l" t="t" r="r" b="b"/>
            <a:pathLst>
              <a:path w="1750367" h="1972245">
                <a:moveTo>
                  <a:pt x="0" y="0"/>
                </a:moveTo>
                <a:lnTo>
                  <a:pt x="1750368" y="0"/>
                </a:lnTo>
                <a:lnTo>
                  <a:pt x="1750368" y="1972244"/>
                </a:lnTo>
                <a:lnTo>
                  <a:pt x="0" y="1972244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</p:spPr>
      </p:sp>
      <p:sp>
        <p:nvSpPr>
          <p:cNvPr id="42" name="Freeform 42"/>
          <p:cNvSpPr/>
          <p:nvPr/>
        </p:nvSpPr>
        <p:spPr>
          <a:xfrm flipH="1">
            <a:off x="-5367006" y="-1383193"/>
            <a:ext cx="7315200" cy="3425952"/>
          </a:xfrm>
          <a:custGeom>
            <a:avLst/>
            <a:gdLst/>
            <a:ahLst/>
            <a:cxnLst/>
            <a:rect l="l" t="t" r="r" b="b"/>
            <a:pathLst>
              <a:path w="7315200" h="3425952">
                <a:moveTo>
                  <a:pt x="7315200" y="0"/>
                </a:moveTo>
                <a:lnTo>
                  <a:pt x="0" y="0"/>
                </a:lnTo>
                <a:lnTo>
                  <a:pt x="0" y="3425952"/>
                </a:lnTo>
                <a:lnTo>
                  <a:pt x="7315200" y="3425952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a:blipFill>
        </p:spPr>
      </p:sp>
      <p:sp>
        <p:nvSpPr>
          <p:cNvPr id="43" name="Freeform 43"/>
          <p:cNvSpPr/>
          <p:nvPr/>
        </p:nvSpPr>
        <p:spPr>
          <a:xfrm flipH="1">
            <a:off x="-5405648" y="9457960"/>
            <a:ext cx="7315200" cy="3425952"/>
          </a:xfrm>
          <a:custGeom>
            <a:avLst/>
            <a:gdLst/>
            <a:ahLst/>
            <a:cxnLst/>
            <a:rect l="l" t="t" r="r" b="b"/>
            <a:pathLst>
              <a:path w="7315200" h="3425952">
                <a:moveTo>
                  <a:pt x="7315200" y="0"/>
                </a:moveTo>
                <a:lnTo>
                  <a:pt x="0" y="0"/>
                </a:lnTo>
                <a:lnTo>
                  <a:pt x="0" y="3425952"/>
                </a:lnTo>
                <a:lnTo>
                  <a:pt x="7315200" y="3425952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a:blipFill>
        </p:spPr>
      </p:sp>
      <p:sp>
        <p:nvSpPr>
          <p:cNvPr id="44" name="Freeform 44"/>
          <p:cNvSpPr/>
          <p:nvPr/>
        </p:nvSpPr>
        <p:spPr>
          <a:xfrm flipV="1">
            <a:off x="16165514" y="-2634240"/>
            <a:ext cx="7315200" cy="3425952"/>
          </a:xfrm>
          <a:custGeom>
            <a:avLst/>
            <a:gdLst/>
            <a:ahLst/>
            <a:cxnLst/>
            <a:rect l="l" t="t" r="r" b="b"/>
            <a:pathLst>
              <a:path w="7315200" h="3425952">
                <a:moveTo>
                  <a:pt x="0" y="3425952"/>
                </a:moveTo>
                <a:lnTo>
                  <a:pt x="7315200" y="3425952"/>
                </a:lnTo>
                <a:lnTo>
                  <a:pt x="7315200" y="0"/>
                </a:lnTo>
                <a:lnTo>
                  <a:pt x="0" y="0"/>
                </a:lnTo>
                <a:lnTo>
                  <a:pt x="0" y="3425952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a:blipFill>
        </p:spPr>
      </p:sp>
      <p:sp>
        <p:nvSpPr>
          <p:cNvPr id="45" name="TextBox 45"/>
          <p:cNvSpPr txBox="1"/>
          <p:nvPr/>
        </p:nvSpPr>
        <p:spPr>
          <a:xfrm>
            <a:off x="1028700" y="6467475"/>
            <a:ext cx="5442952" cy="764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>
              <a:lnSpc>
                <a:spcPts val="6480"/>
              </a:lnSpc>
              <a:spcBef>
                <a:spcPct val="0"/>
              </a:spcBef>
            </a:pPr>
            <a:r>
              <a:rPr lang="en-US" altLang="zh-CN" sz="4400" b="1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Intl. Exchanges</a:t>
            </a:r>
            <a:endParaRPr lang="en-US" sz="4400" b="1" u="none" strike="noStrike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6938332" y="4718292"/>
            <a:ext cx="3374697" cy="422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600"/>
              </a:lnSpc>
              <a:spcBef>
                <a:spcPct val="0"/>
              </a:spcBef>
            </a:pPr>
            <a:r>
              <a:rPr lang="en-US" altLang="zh-CN" sz="2400" b="1" dirty="0">
                <a:solidFill>
                  <a:srgbClr val="FFFFFF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Q1 Exch</a:t>
            </a:r>
            <a:endParaRPr lang="en-US" sz="2400" b="1" dirty="0">
              <a:solidFill>
                <a:srgbClr val="FFFFFF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14021940" y="4718292"/>
            <a:ext cx="3374697" cy="422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600"/>
              </a:lnSpc>
              <a:spcBef>
                <a:spcPct val="0"/>
              </a:spcBef>
            </a:pPr>
            <a:r>
              <a:rPr lang="en-US" altLang="zh-CN" sz="2400" b="1" u="none" strike="noStrike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Q4 Party</a:t>
            </a:r>
            <a:endParaRPr lang="en-US" sz="2400" b="1" u="none" strike="noStrike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10480136" y="1675778"/>
            <a:ext cx="3374697" cy="422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600"/>
              </a:lnSpc>
              <a:spcBef>
                <a:spcPct val="0"/>
              </a:spcBef>
            </a:pPr>
            <a:r>
              <a:rPr lang="en-US" altLang="zh-CN" sz="2400" b="1" u="none" strike="noStrike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Q3 Exch</a:t>
            </a:r>
            <a:endParaRPr lang="en-US" sz="2400" b="1" u="none" strike="noStrike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49" name="TextBox 49"/>
          <p:cNvSpPr txBox="1"/>
          <p:nvPr/>
        </p:nvSpPr>
        <p:spPr>
          <a:xfrm>
            <a:off x="10480136" y="7538445"/>
            <a:ext cx="3374697" cy="422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600"/>
              </a:lnSpc>
              <a:spcBef>
                <a:spcPct val="0"/>
              </a:spcBef>
            </a:pPr>
            <a:r>
              <a:rPr lang="en-US" altLang="zh-CN" sz="2400" b="1" u="none" strike="noStrike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Partners</a:t>
            </a:r>
            <a:endParaRPr lang="en-US" sz="2400" b="1" u="none" strike="noStrike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50" name="TextBox 50"/>
          <p:cNvSpPr txBox="1"/>
          <p:nvPr/>
        </p:nvSpPr>
        <p:spPr>
          <a:xfrm>
            <a:off x="6938332" y="5311515"/>
            <a:ext cx="3374697" cy="28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altLang="zh-CN" sz="1599" u="none" strike="noStrike" dirty="0">
                <a:solidFill>
                  <a:srgbClr val="FFFFFF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First exchange (end of Q1 / March) for kickoff and relationship building.</a:t>
            </a:r>
            <a:endParaRPr lang="en-US" sz="1599" u="none" strike="noStrike" dirty="0">
              <a:solidFill>
                <a:srgbClr val="FFFFFF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51" name="TextBox 51"/>
          <p:cNvSpPr txBox="1"/>
          <p:nvPr/>
        </p:nvSpPr>
        <p:spPr>
          <a:xfrm>
            <a:off x="14021940" y="5311515"/>
            <a:ext cx="3374697" cy="28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altLang="zh-CN" sz="1599" u="none" strike="noStrike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Third exchange (Q4 / November) for year-end celebration.</a:t>
            </a:r>
            <a:endParaRPr lang="en-US" sz="1599" u="none" strike="noStrike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52" name="TextBox 52"/>
          <p:cNvSpPr txBox="1"/>
          <p:nvPr/>
        </p:nvSpPr>
        <p:spPr>
          <a:xfrm>
            <a:off x="10480136" y="2269001"/>
            <a:ext cx="3374697" cy="28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altLang="zh-CN" sz="1599" u="none" strike="noStrike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Second exchange (Q3 / August) focusing on project collaboration.</a:t>
            </a:r>
            <a:endParaRPr lang="en-US" sz="1599" u="none" strike="noStrike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53" name="TextBox 53"/>
          <p:cNvSpPr txBox="1"/>
          <p:nvPr/>
        </p:nvSpPr>
        <p:spPr>
          <a:xfrm>
            <a:off x="10480136" y="8131668"/>
            <a:ext cx="3374697" cy="28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altLang="zh-CN" sz="1599" u="none" strike="noStrike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These exchanges aim to strengthen international partnerships.</a:t>
            </a:r>
            <a:endParaRPr lang="en-US" sz="1599" u="none" strike="noStrike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955864" y="7170313"/>
            <a:ext cx="2087987" cy="2087987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5618" y="0"/>
                  </a:moveTo>
                  <a:lnTo>
                    <a:pt x="757182" y="0"/>
                  </a:lnTo>
                  <a:cubicBezTo>
                    <a:pt x="787899" y="0"/>
                    <a:pt x="812800" y="24901"/>
                    <a:pt x="812800" y="55618"/>
                  </a:cubicBezTo>
                  <a:lnTo>
                    <a:pt x="812800" y="757182"/>
                  </a:lnTo>
                  <a:cubicBezTo>
                    <a:pt x="812800" y="787899"/>
                    <a:pt x="787899" y="812800"/>
                    <a:pt x="757182" y="812800"/>
                  </a:cubicBezTo>
                  <a:lnTo>
                    <a:pt x="55618" y="812800"/>
                  </a:lnTo>
                  <a:cubicBezTo>
                    <a:pt x="24901" y="812800"/>
                    <a:pt x="0" y="787899"/>
                    <a:pt x="0" y="757182"/>
                  </a:cubicBezTo>
                  <a:lnTo>
                    <a:pt x="0" y="55618"/>
                  </a:lnTo>
                  <a:cubicBezTo>
                    <a:pt x="0" y="24901"/>
                    <a:pt x="24901" y="0"/>
                    <a:pt x="55618" y="0"/>
                  </a:cubicBezTo>
                  <a:close/>
                </a:path>
              </a:pathLst>
            </a:custGeom>
            <a:solidFill>
              <a:srgbClr val="B9DB5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9"/>
                </a:lnSpc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043851" y="5570474"/>
            <a:ext cx="1599840" cy="1599840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72588" y="0"/>
                  </a:moveTo>
                  <a:lnTo>
                    <a:pt x="740212" y="0"/>
                  </a:lnTo>
                  <a:cubicBezTo>
                    <a:pt x="780301" y="0"/>
                    <a:pt x="812800" y="32499"/>
                    <a:pt x="812800" y="72588"/>
                  </a:cubicBezTo>
                  <a:lnTo>
                    <a:pt x="812800" y="740212"/>
                  </a:lnTo>
                  <a:cubicBezTo>
                    <a:pt x="812800" y="780301"/>
                    <a:pt x="780301" y="812800"/>
                    <a:pt x="740212" y="812800"/>
                  </a:cubicBezTo>
                  <a:lnTo>
                    <a:pt x="72588" y="812800"/>
                  </a:lnTo>
                  <a:cubicBezTo>
                    <a:pt x="32499" y="812800"/>
                    <a:pt x="0" y="780301"/>
                    <a:pt x="0" y="740212"/>
                  </a:cubicBezTo>
                  <a:lnTo>
                    <a:pt x="0" y="72588"/>
                  </a:lnTo>
                  <a:cubicBezTo>
                    <a:pt x="0" y="32499"/>
                    <a:pt x="32499" y="0"/>
                    <a:pt x="72588" y="0"/>
                  </a:cubicBezTo>
                  <a:close/>
                </a:path>
              </a:pathLst>
            </a:custGeom>
            <a:solidFill>
              <a:srgbClr val="3A7377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9"/>
                </a:lnSpc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643691" y="7170313"/>
            <a:ext cx="1914342" cy="1914342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60663" y="0"/>
                  </a:moveTo>
                  <a:lnTo>
                    <a:pt x="752137" y="0"/>
                  </a:lnTo>
                  <a:cubicBezTo>
                    <a:pt x="785640" y="0"/>
                    <a:pt x="812800" y="27160"/>
                    <a:pt x="812800" y="60663"/>
                  </a:cubicBezTo>
                  <a:lnTo>
                    <a:pt x="812800" y="752137"/>
                  </a:lnTo>
                  <a:cubicBezTo>
                    <a:pt x="812800" y="785640"/>
                    <a:pt x="785640" y="812800"/>
                    <a:pt x="752137" y="812800"/>
                  </a:cubicBezTo>
                  <a:lnTo>
                    <a:pt x="60663" y="812800"/>
                  </a:lnTo>
                  <a:cubicBezTo>
                    <a:pt x="27160" y="812800"/>
                    <a:pt x="0" y="785640"/>
                    <a:pt x="0" y="752137"/>
                  </a:cubicBezTo>
                  <a:lnTo>
                    <a:pt x="0" y="60663"/>
                  </a:lnTo>
                  <a:cubicBezTo>
                    <a:pt x="0" y="27160"/>
                    <a:pt x="27160" y="0"/>
                    <a:pt x="60663" y="0"/>
                  </a:cubicBezTo>
                  <a:close/>
                </a:path>
              </a:pathLst>
            </a:custGeom>
            <a:solidFill>
              <a:srgbClr val="10AD5D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9"/>
                </a:lnSpc>
              </a:pPr>
              <a:endParaRPr>
                <a:latin typeface="Montserrat" pitchFamily="2" charset="77"/>
              </a:endParaRPr>
            </a:p>
          </p:txBody>
        </p:sp>
      </p:grpSp>
      <p:sp>
        <p:nvSpPr>
          <p:cNvPr id="12" name="Freeform 12"/>
          <p:cNvSpPr/>
          <p:nvPr/>
        </p:nvSpPr>
        <p:spPr>
          <a:xfrm>
            <a:off x="10482257" y="4769917"/>
            <a:ext cx="2926573" cy="2926573"/>
          </a:xfrm>
          <a:custGeom>
            <a:avLst/>
            <a:gdLst/>
            <a:ahLst/>
            <a:cxnLst/>
            <a:rect l="l" t="t" r="r" b="b"/>
            <a:pathLst>
              <a:path w="2926573" h="2926573">
                <a:moveTo>
                  <a:pt x="0" y="0"/>
                </a:moveTo>
                <a:lnTo>
                  <a:pt x="2926574" y="0"/>
                </a:lnTo>
                <a:lnTo>
                  <a:pt x="2926574" y="2926573"/>
                </a:lnTo>
                <a:lnTo>
                  <a:pt x="0" y="292657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10558033" y="4395291"/>
            <a:ext cx="2775023" cy="277502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1848" y="0"/>
                  </a:moveTo>
                  <a:lnTo>
                    <a:pt x="770952" y="0"/>
                  </a:lnTo>
                  <a:cubicBezTo>
                    <a:pt x="782051" y="0"/>
                    <a:pt x="792695" y="4409"/>
                    <a:pt x="800543" y="12257"/>
                  </a:cubicBezTo>
                  <a:cubicBezTo>
                    <a:pt x="808391" y="20105"/>
                    <a:pt x="812800" y="30749"/>
                    <a:pt x="812800" y="41848"/>
                  </a:cubicBezTo>
                  <a:lnTo>
                    <a:pt x="812800" y="770952"/>
                  </a:lnTo>
                  <a:cubicBezTo>
                    <a:pt x="812800" y="782051"/>
                    <a:pt x="808391" y="792695"/>
                    <a:pt x="800543" y="800543"/>
                  </a:cubicBezTo>
                  <a:cubicBezTo>
                    <a:pt x="792695" y="808391"/>
                    <a:pt x="782051" y="812800"/>
                    <a:pt x="770952" y="812800"/>
                  </a:cubicBezTo>
                  <a:lnTo>
                    <a:pt x="41848" y="812800"/>
                  </a:lnTo>
                  <a:cubicBezTo>
                    <a:pt x="30749" y="812800"/>
                    <a:pt x="20105" y="808391"/>
                    <a:pt x="12257" y="800543"/>
                  </a:cubicBezTo>
                  <a:cubicBezTo>
                    <a:pt x="4409" y="792695"/>
                    <a:pt x="0" y="782051"/>
                    <a:pt x="0" y="770952"/>
                  </a:cubicBezTo>
                  <a:lnTo>
                    <a:pt x="0" y="41848"/>
                  </a:lnTo>
                  <a:cubicBezTo>
                    <a:pt x="0" y="30749"/>
                    <a:pt x="4409" y="20105"/>
                    <a:pt x="12257" y="12257"/>
                  </a:cubicBezTo>
                  <a:cubicBezTo>
                    <a:pt x="20105" y="4409"/>
                    <a:pt x="30749" y="0"/>
                    <a:pt x="41848" y="0"/>
                  </a:cubicBezTo>
                  <a:close/>
                </a:path>
              </a:pathLst>
            </a:custGeom>
            <a:solidFill>
              <a:srgbClr val="5EA6B2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9"/>
                </a:lnSpc>
              </a:pPr>
              <a:endParaRPr>
                <a:latin typeface="Montserrat" pitchFamily="2" charset="77"/>
              </a:endParaRPr>
            </a:p>
          </p:txBody>
        </p:sp>
      </p:grpSp>
      <p:sp>
        <p:nvSpPr>
          <p:cNvPr id="16" name="Freeform 16"/>
          <p:cNvSpPr/>
          <p:nvPr/>
        </p:nvSpPr>
        <p:spPr>
          <a:xfrm>
            <a:off x="5482042" y="7696490"/>
            <a:ext cx="1035632" cy="1035632"/>
          </a:xfrm>
          <a:custGeom>
            <a:avLst/>
            <a:gdLst/>
            <a:ahLst/>
            <a:cxnLst/>
            <a:rect l="l" t="t" r="r" b="b"/>
            <a:pathLst>
              <a:path w="1035632" h="1035632">
                <a:moveTo>
                  <a:pt x="0" y="0"/>
                </a:moveTo>
                <a:lnTo>
                  <a:pt x="1035632" y="0"/>
                </a:lnTo>
                <a:lnTo>
                  <a:pt x="1035632" y="1035633"/>
                </a:lnTo>
                <a:lnTo>
                  <a:pt x="0" y="103563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7470091" y="6009793"/>
            <a:ext cx="747359" cy="721202"/>
          </a:xfrm>
          <a:custGeom>
            <a:avLst/>
            <a:gdLst/>
            <a:ahLst/>
            <a:cxnLst/>
            <a:rect l="l" t="t" r="r" b="b"/>
            <a:pathLst>
              <a:path w="747359" h="721202">
                <a:moveTo>
                  <a:pt x="0" y="0"/>
                </a:moveTo>
                <a:lnTo>
                  <a:pt x="747359" y="0"/>
                </a:lnTo>
                <a:lnTo>
                  <a:pt x="747359" y="721201"/>
                </a:lnTo>
                <a:lnTo>
                  <a:pt x="0" y="72120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9094093" y="7620715"/>
            <a:ext cx="1013538" cy="1013538"/>
          </a:xfrm>
          <a:custGeom>
            <a:avLst/>
            <a:gdLst/>
            <a:ahLst/>
            <a:cxnLst/>
            <a:rect l="l" t="t" r="r" b="b"/>
            <a:pathLst>
              <a:path w="1013538" h="1013538">
                <a:moveTo>
                  <a:pt x="0" y="0"/>
                </a:moveTo>
                <a:lnTo>
                  <a:pt x="1013538" y="0"/>
                </a:lnTo>
                <a:lnTo>
                  <a:pt x="1013538" y="1013538"/>
                </a:lnTo>
                <a:lnTo>
                  <a:pt x="0" y="101353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1393310" y="4923294"/>
            <a:ext cx="1104468" cy="1719016"/>
          </a:xfrm>
          <a:custGeom>
            <a:avLst/>
            <a:gdLst/>
            <a:ahLst/>
            <a:cxnLst/>
            <a:rect l="l" t="t" r="r" b="b"/>
            <a:pathLst>
              <a:path w="1104468" h="1719016">
                <a:moveTo>
                  <a:pt x="0" y="0"/>
                </a:moveTo>
                <a:lnTo>
                  <a:pt x="1104468" y="0"/>
                </a:lnTo>
                <a:lnTo>
                  <a:pt x="1104468" y="1719016"/>
                </a:lnTo>
                <a:lnTo>
                  <a:pt x="0" y="171901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 rot="-3408427" flipV="1">
            <a:off x="8321459" y="4310007"/>
            <a:ext cx="1110715" cy="1003808"/>
          </a:xfrm>
          <a:custGeom>
            <a:avLst/>
            <a:gdLst/>
            <a:ahLst/>
            <a:cxnLst/>
            <a:rect l="l" t="t" r="r" b="b"/>
            <a:pathLst>
              <a:path w="1110715" h="1003808">
                <a:moveTo>
                  <a:pt x="0" y="1003808"/>
                </a:moveTo>
                <a:lnTo>
                  <a:pt x="1110715" y="1003808"/>
                </a:lnTo>
                <a:lnTo>
                  <a:pt x="1110715" y="0"/>
                </a:lnTo>
                <a:lnTo>
                  <a:pt x="0" y="0"/>
                </a:lnTo>
                <a:lnTo>
                  <a:pt x="0" y="1003808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4190666" y="6642310"/>
            <a:ext cx="1110715" cy="1003808"/>
          </a:xfrm>
          <a:custGeom>
            <a:avLst/>
            <a:gdLst/>
            <a:ahLst/>
            <a:cxnLst/>
            <a:rect l="l" t="t" r="r" b="b"/>
            <a:pathLst>
              <a:path w="1110715" h="1003808">
                <a:moveTo>
                  <a:pt x="0" y="0"/>
                </a:moveTo>
                <a:lnTo>
                  <a:pt x="1110714" y="0"/>
                </a:lnTo>
                <a:lnTo>
                  <a:pt x="1110714" y="1003808"/>
                </a:lnTo>
                <a:lnTo>
                  <a:pt x="0" y="100380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16946426" y="-417565"/>
            <a:ext cx="2683149" cy="835130"/>
          </a:xfrm>
          <a:custGeom>
            <a:avLst/>
            <a:gdLst/>
            <a:ahLst/>
            <a:cxnLst/>
            <a:rect l="l" t="t" r="r" b="b"/>
            <a:pathLst>
              <a:path w="2683149" h="835130">
                <a:moveTo>
                  <a:pt x="0" y="0"/>
                </a:moveTo>
                <a:lnTo>
                  <a:pt x="2683148" y="0"/>
                </a:lnTo>
                <a:lnTo>
                  <a:pt x="2683148" y="835130"/>
                </a:lnTo>
                <a:lnTo>
                  <a:pt x="0" y="83513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 flipH="1">
            <a:off x="-5367006" y="-1383193"/>
            <a:ext cx="7315200" cy="3425952"/>
          </a:xfrm>
          <a:custGeom>
            <a:avLst/>
            <a:gdLst/>
            <a:ahLst/>
            <a:cxnLst/>
            <a:rect l="l" t="t" r="r" b="b"/>
            <a:pathLst>
              <a:path w="7315200" h="3425952">
                <a:moveTo>
                  <a:pt x="7315200" y="0"/>
                </a:moveTo>
                <a:lnTo>
                  <a:pt x="0" y="0"/>
                </a:lnTo>
                <a:lnTo>
                  <a:pt x="0" y="3425952"/>
                </a:lnTo>
                <a:lnTo>
                  <a:pt x="7315200" y="3425952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 flipH="1">
            <a:off x="-5405648" y="9457960"/>
            <a:ext cx="7315200" cy="3425952"/>
          </a:xfrm>
          <a:custGeom>
            <a:avLst/>
            <a:gdLst/>
            <a:ahLst/>
            <a:cxnLst/>
            <a:rect l="l" t="t" r="r" b="b"/>
            <a:pathLst>
              <a:path w="7315200" h="3425952">
                <a:moveTo>
                  <a:pt x="7315200" y="0"/>
                </a:moveTo>
                <a:lnTo>
                  <a:pt x="0" y="0"/>
                </a:lnTo>
                <a:lnTo>
                  <a:pt x="0" y="3425952"/>
                </a:lnTo>
                <a:lnTo>
                  <a:pt x="7315200" y="3425952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17411476" y="9457960"/>
            <a:ext cx="1489099" cy="1219200"/>
          </a:xfrm>
          <a:custGeom>
            <a:avLst/>
            <a:gdLst/>
            <a:ahLst/>
            <a:cxnLst/>
            <a:rect l="l" t="t" r="r" b="b"/>
            <a:pathLst>
              <a:path w="1489099" h="1219200">
                <a:moveTo>
                  <a:pt x="0" y="0"/>
                </a:moveTo>
                <a:lnTo>
                  <a:pt x="1489099" y="0"/>
                </a:lnTo>
                <a:lnTo>
                  <a:pt x="1489099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1189722" y="7122688"/>
            <a:ext cx="3374697" cy="422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r">
              <a:lnSpc>
                <a:spcPts val="3599"/>
              </a:lnSpc>
            </a:pPr>
            <a:r>
              <a:rPr lang="en-US" altLang="zh-CN" sz="2399" b="1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Q1 Build</a:t>
            </a:r>
            <a:endParaRPr lang="en-US" sz="2399" b="1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189722" y="7771288"/>
            <a:ext cx="3374697" cy="28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99"/>
              </a:lnSpc>
              <a:spcBef>
                <a:spcPct val="0"/>
              </a:spcBef>
            </a:pPr>
            <a:r>
              <a:rPr lang="en-US" altLang="zh-CN" sz="1599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Tech Lead hired, team 8→11. Dev process &amp; PM system established. Vibe Coding started, 1st exchange.</a:t>
            </a:r>
            <a:endParaRPr lang="en-US" sz="1599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3278041" y="4039859"/>
            <a:ext cx="3374697" cy="422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r">
              <a:lnSpc>
                <a:spcPts val="3599"/>
              </a:lnSpc>
            </a:pPr>
            <a:r>
              <a:rPr lang="en-US" altLang="zh-CN" sz="2399" b="1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Q2 Adv.</a:t>
            </a:r>
            <a:endParaRPr lang="en-US" sz="2399" b="1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3278041" y="4688459"/>
            <a:ext cx="3374697" cy="28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99"/>
              </a:lnSpc>
              <a:spcBef>
                <a:spcPct val="0"/>
              </a:spcBef>
            </a:pPr>
            <a:r>
              <a:rPr lang="en-US" altLang="zh-CN" sz="1599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Team 11→13. Automated testing implemented. TOMO AI HR project initiated and progressing.</a:t>
            </a:r>
            <a:endParaRPr lang="en-US" sz="1599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0948558" y="7573090"/>
            <a:ext cx="3374697" cy="422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599"/>
              </a:lnSpc>
            </a:pPr>
            <a:r>
              <a:rPr lang="en-US" altLang="zh-CN" sz="2399" b="1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Q3 Prod.</a:t>
            </a:r>
            <a:endParaRPr lang="en-US" sz="2399" b="1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0948558" y="8221690"/>
            <a:ext cx="3374697" cy="28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altLang="zh-CN" sz="1599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Team 13→14. AI HR external sales, Sky-Net GC project started. Team R&amp;D kickoff, 2nd exchange.</a:t>
            </a:r>
            <a:endParaRPr lang="en-US" sz="1599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13723580" y="4347666"/>
            <a:ext cx="3374697" cy="422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599"/>
              </a:lnSpc>
            </a:pPr>
            <a:r>
              <a:rPr lang="en-US" altLang="zh-CN" sz="2399" b="1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Q4 Cycle</a:t>
            </a:r>
            <a:endParaRPr lang="en-US" sz="2399" b="1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13723580" y="4996265"/>
            <a:ext cx="3374697" cy="28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altLang="zh-CN" sz="1599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Team reaches 15 members. Year-end review conducted. 3rd exchange (Party). 2027 planning begins.</a:t>
            </a:r>
            <a:endParaRPr lang="en-US" sz="1599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3541977" y="1028700"/>
            <a:ext cx="11204046" cy="796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6480"/>
              </a:lnSpc>
              <a:spcBef>
                <a:spcPct val="0"/>
              </a:spcBef>
            </a:pPr>
            <a:r>
              <a:rPr lang="en-US" altLang="zh-CN" sz="5400" b="1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Timeline 2026</a:t>
            </a:r>
            <a:endParaRPr lang="en-US" sz="5400" b="1" u="none" strike="noStrike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6197472" y="4107344"/>
            <a:ext cx="2481824" cy="5076706"/>
            <a:chOff x="0" y="0"/>
            <a:chExt cx="660400" cy="135088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60400" cy="1350884"/>
            </a:xfrm>
            <a:custGeom>
              <a:avLst/>
              <a:gdLst/>
              <a:ahLst/>
              <a:cxnLst/>
              <a:rect l="l" t="t" r="r" b="b"/>
              <a:pathLst>
                <a:path w="660400" h="1350884">
                  <a:moveTo>
                    <a:pt x="220252" y="1331815"/>
                  </a:moveTo>
                  <a:cubicBezTo>
                    <a:pt x="254109" y="1343329"/>
                    <a:pt x="292600" y="1350884"/>
                    <a:pt x="330378" y="1350884"/>
                  </a:cubicBezTo>
                  <a:cubicBezTo>
                    <a:pt x="368157" y="1350884"/>
                    <a:pt x="404509" y="1344407"/>
                    <a:pt x="438009" y="1332893"/>
                  </a:cubicBezTo>
                  <a:cubicBezTo>
                    <a:pt x="438723" y="1332534"/>
                    <a:pt x="439435" y="1332534"/>
                    <a:pt x="440148" y="1332174"/>
                  </a:cubicBezTo>
                  <a:cubicBezTo>
                    <a:pt x="565955" y="1286119"/>
                    <a:pt x="658618" y="1164505"/>
                    <a:pt x="660400" y="1010430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1009680"/>
                  </a:lnTo>
                  <a:cubicBezTo>
                    <a:pt x="1782" y="1165224"/>
                    <a:pt x="93019" y="1286839"/>
                    <a:pt x="220252" y="1331815"/>
                  </a:cubicBezTo>
                  <a:close/>
                </a:path>
              </a:pathLst>
            </a:custGeom>
            <a:solidFill>
              <a:srgbClr val="5EA6B2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660400" cy="12619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790431" y="4107344"/>
            <a:ext cx="2481824" cy="5076706"/>
            <a:chOff x="0" y="0"/>
            <a:chExt cx="660400" cy="135088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60400" cy="1350884"/>
            </a:xfrm>
            <a:custGeom>
              <a:avLst/>
              <a:gdLst/>
              <a:ahLst/>
              <a:cxnLst/>
              <a:rect l="l" t="t" r="r" b="b"/>
              <a:pathLst>
                <a:path w="660400" h="1350884">
                  <a:moveTo>
                    <a:pt x="220252" y="1331815"/>
                  </a:moveTo>
                  <a:cubicBezTo>
                    <a:pt x="254109" y="1343329"/>
                    <a:pt x="292600" y="1350884"/>
                    <a:pt x="330378" y="1350884"/>
                  </a:cubicBezTo>
                  <a:cubicBezTo>
                    <a:pt x="368157" y="1350884"/>
                    <a:pt x="404509" y="1344407"/>
                    <a:pt x="438009" y="1332893"/>
                  </a:cubicBezTo>
                  <a:cubicBezTo>
                    <a:pt x="438723" y="1332534"/>
                    <a:pt x="439435" y="1332534"/>
                    <a:pt x="440148" y="1332174"/>
                  </a:cubicBezTo>
                  <a:cubicBezTo>
                    <a:pt x="565955" y="1286119"/>
                    <a:pt x="658618" y="1164505"/>
                    <a:pt x="660400" y="1010430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1009680"/>
                  </a:lnTo>
                  <a:cubicBezTo>
                    <a:pt x="1782" y="1165224"/>
                    <a:pt x="93019" y="1286839"/>
                    <a:pt x="220252" y="1331815"/>
                  </a:cubicBezTo>
                  <a:close/>
                </a:path>
              </a:pathLst>
            </a:custGeom>
            <a:solidFill>
              <a:srgbClr val="B9DB5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660400" cy="12619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sp>
        <p:nvSpPr>
          <p:cNvPr id="9" name="Freeform 9"/>
          <p:cNvSpPr/>
          <p:nvPr/>
        </p:nvSpPr>
        <p:spPr>
          <a:xfrm>
            <a:off x="2527848" y="4048364"/>
            <a:ext cx="3006990" cy="813445"/>
          </a:xfrm>
          <a:custGeom>
            <a:avLst/>
            <a:gdLst/>
            <a:ahLst/>
            <a:cxnLst/>
            <a:rect l="l" t="t" r="r" b="b"/>
            <a:pathLst>
              <a:path w="3006990" h="813445">
                <a:moveTo>
                  <a:pt x="0" y="0"/>
                </a:moveTo>
                <a:lnTo>
                  <a:pt x="3006990" y="0"/>
                </a:lnTo>
                <a:lnTo>
                  <a:pt x="3006990" y="813445"/>
                </a:lnTo>
                <a:lnTo>
                  <a:pt x="0" y="8134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107472"/>
            </a:stretch>
          </a:blipFill>
          <a:ln cap="sq">
            <a:noFill/>
            <a:prstDash val="solid"/>
            <a:miter/>
          </a:ln>
        </p:spPr>
      </p:sp>
      <p:sp>
        <p:nvSpPr>
          <p:cNvPr id="10" name="Freeform 10"/>
          <p:cNvSpPr/>
          <p:nvPr/>
        </p:nvSpPr>
        <p:spPr>
          <a:xfrm>
            <a:off x="5934888" y="4048364"/>
            <a:ext cx="3006990" cy="813445"/>
          </a:xfrm>
          <a:custGeom>
            <a:avLst/>
            <a:gdLst/>
            <a:ahLst/>
            <a:cxnLst/>
            <a:rect l="l" t="t" r="r" b="b"/>
            <a:pathLst>
              <a:path w="3006990" h="813445">
                <a:moveTo>
                  <a:pt x="0" y="0"/>
                </a:moveTo>
                <a:lnTo>
                  <a:pt x="3006991" y="0"/>
                </a:lnTo>
                <a:lnTo>
                  <a:pt x="3006991" y="813445"/>
                </a:lnTo>
                <a:lnTo>
                  <a:pt x="0" y="8134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107472"/>
            </a:stretch>
          </a:blipFill>
          <a:ln cap="sq">
            <a:noFill/>
            <a:prstDash val="solid"/>
            <a:miter/>
          </a:ln>
        </p:spPr>
      </p:sp>
      <p:sp>
        <p:nvSpPr>
          <p:cNvPr id="11" name="Freeform 11"/>
          <p:cNvSpPr/>
          <p:nvPr/>
        </p:nvSpPr>
        <p:spPr>
          <a:xfrm>
            <a:off x="3325680" y="7308626"/>
            <a:ext cx="1629194" cy="1629194"/>
          </a:xfrm>
          <a:custGeom>
            <a:avLst/>
            <a:gdLst/>
            <a:ahLst/>
            <a:cxnLst/>
            <a:rect l="l" t="t" r="r" b="b"/>
            <a:pathLst>
              <a:path w="1629194" h="1629194">
                <a:moveTo>
                  <a:pt x="0" y="0"/>
                </a:moveTo>
                <a:lnTo>
                  <a:pt x="1629194" y="0"/>
                </a:lnTo>
                <a:lnTo>
                  <a:pt x="1629194" y="1629194"/>
                </a:lnTo>
                <a:lnTo>
                  <a:pt x="0" y="162919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9604512" y="4107344"/>
            <a:ext cx="2481824" cy="5076706"/>
            <a:chOff x="0" y="0"/>
            <a:chExt cx="660400" cy="135088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60400" cy="1350884"/>
            </a:xfrm>
            <a:custGeom>
              <a:avLst/>
              <a:gdLst/>
              <a:ahLst/>
              <a:cxnLst/>
              <a:rect l="l" t="t" r="r" b="b"/>
              <a:pathLst>
                <a:path w="660400" h="1350884">
                  <a:moveTo>
                    <a:pt x="220252" y="1331815"/>
                  </a:moveTo>
                  <a:cubicBezTo>
                    <a:pt x="254109" y="1343329"/>
                    <a:pt x="292600" y="1350884"/>
                    <a:pt x="330378" y="1350884"/>
                  </a:cubicBezTo>
                  <a:cubicBezTo>
                    <a:pt x="368157" y="1350884"/>
                    <a:pt x="404509" y="1344407"/>
                    <a:pt x="438009" y="1332893"/>
                  </a:cubicBezTo>
                  <a:cubicBezTo>
                    <a:pt x="438723" y="1332534"/>
                    <a:pt x="439435" y="1332534"/>
                    <a:pt x="440148" y="1332174"/>
                  </a:cubicBezTo>
                  <a:cubicBezTo>
                    <a:pt x="565955" y="1286119"/>
                    <a:pt x="658618" y="1164505"/>
                    <a:pt x="660400" y="1010430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1009680"/>
                  </a:lnTo>
                  <a:cubicBezTo>
                    <a:pt x="1782" y="1165224"/>
                    <a:pt x="93019" y="1286839"/>
                    <a:pt x="220252" y="1331815"/>
                  </a:cubicBezTo>
                  <a:close/>
                </a:path>
              </a:pathLst>
            </a:custGeom>
            <a:solidFill>
              <a:srgbClr val="10AD5D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660400" cy="12619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3011553" y="4107344"/>
            <a:ext cx="2481824" cy="5076706"/>
            <a:chOff x="0" y="0"/>
            <a:chExt cx="660400" cy="135088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60400" cy="1350884"/>
            </a:xfrm>
            <a:custGeom>
              <a:avLst/>
              <a:gdLst/>
              <a:ahLst/>
              <a:cxnLst/>
              <a:rect l="l" t="t" r="r" b="b"/>
              <a:pathLst>
                <a:path w="660400" h="1350884">
                  <a:moveTo>
                    <a:pt x="220252" y="1331815"/>
                  </a:moveTo>
                  <a:cubicBezTo>
                    <a:pt x="254109" y="1343329"/>
                    <a:pt x="292600" y="1350884"/>
                    <a:pt x="330378" y="1350884"/>
                  </a:cubicBezTo>
                  <a:cubicBezTo>
                    <a:pt x="368157" y="1350884"/>
                    <a:pt x="404509" y="1344407"/>
                    <a:pt x="438009" y="1332893"/>
                  </a:cubicBezTo>
                  <a:cubicBezTo>
                    <a:pt x="438723" y="1332534"/>
                    <a:pt x="439435" y="1332534"/>
                    <a:pt x="440148" y="1332174"/>
                  </a:cubicBezTo>
                  <a:cubicBezTo>
                    <a:pt x="565955" y="1286119"/>
                    <a:pt x="658618" y="1164505"/>
                    <a:pt x="660400" y="1010430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1009680"/>
                  </a:lnTo>
                  <a:cubicBezTo>
                    <a:pt x="1782" y="1165224"/>
                    <a:pt x="93019" y="1286839"/>
                    <a:pt x="220252" y="1331815"/>
                  </a:cubicBezTo>
                  <a:close/>
                </a:path>
              </a:pathLst>
            </a:custGeom>
            <a:solidFill>
              <a:srgbClr val="3A7377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660400" cy="12619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sp>
        <p:nvSpPr>
          <p:cNvPr id="18" name="Freeform 18"/>
          <p:cNvSpPr/>
          <p:nvPr/>
        </p:nvSpPr>
        <p:spPr>
          <a:xfrm>
            <a:off x="9341929" y="4048364"/>
            <a:ext cx="3006990" cy="813445"/>
          </a:xfrm>
          <a:custGeom>
            <a:avLst/>
            <a:gdLst/>
            <a:ahLst/>
            <a:cxnLst/>
            <a:rect l="l" t="t" r="r" b="b"/>
            <a:pathLst>
              <a:path w="3006990" h="813445">
                <a:moveTo>
                  <a:pt x="0" y="0"/>
                </a:moveTo>
                <a:lnTo>
                  <a:pt x="3006990" y="0"/>
                </a:lnTo>
                <a:lnTo>
                  <a:pt x="3006990" y="813445"/>
                </a:lnTo>
                <a:lnTo>
                  <a:pt x="0" y="8134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107472"/>
            </a:stretch>
          </a:blipFill>
          <a:ln cap="sq">
            <a:noFill/>
            <a:prstDash val="solid"/>
            <a:miter/>
          </a:ln>
        </p:spPr>
      </p:sp>
      <p:sp>
        <p:nvSpPr>
          <p:cNvPr id="19" name="Freeform 19"/>
          <p:cNvSpPr/>
          <p:nvPr/>
        </p:nvSpPr>
        <p:spPr>
          <a:xfrm>
            <a:off x="12748969" y="4048364"/>
            <a:ext cx="3006990" cy="813445"/>
          </a:xfrm>
          <a:custGeom>
            <a:avLst/>
            <a:gdLst/>
            <a:ahLst/>
            <a:cxnLst/>
            <a:rect l="l" t="t" r="r" b="b"/>
            <a:pathLst>
              <a:path w="3006990" h="813445">
                <a:moveTo>
                  <a:pt x="0" y="0"/>
                </a:moveTo>
                <a:lnTo>
                  <a:pt x="3006991" y="0"/>
                </a:lnTo>
                <a:lnTo>
                  <a:pt x="3006991" y="813445"/>
                </a:lnTo>
                <a:lnTo>
                  <a:pt x="0" y="8134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107472"/>
            </a:stretch>
          </a:blipFill>
          <a:ln cap="sq">
            <a:noFill/>
            <a:prstDash val="solid"/>
            <a:miter/>
          </a:ln>
        </p:spPr>
      </p:sp>
      <p:sp>
        <p:nvSpPr>
          <p:cNvPr id="20" name="Freeform 20"/>
          <p:cNvSpPr/>
          <p:nvPr/>
        </p:nvSpPr>
        <p:spPr>
          <a:xfrm>
            <a:off x="13583857" y="7308626"/>
            <a:ext cx="1629194" cy="1629194"/>
          </a:xfrm>
          <a:custGeom>
            <a:avLst/>
            <a:gdLst/>
            <a:ahLst/>
            <a:cxnLst/>
            <a:rect l="l" t="t" r="r" b="b"/>
            <a:pathLst>
              <a:path w="1629194" h="1629194">
                <a:moveTo>
                  <a:pt x="0" y="0"/>
                </a:moveTo>
                <a:lnTo>
                  <a:pt x="1629194" y="0"/>
                </a:lnTo>
                <a:lnTo>
                  <a:pt x="1629194" y="1629194"/>
                </a:lnTo>
                <a:lnTo>
                  <a:pt x="0" y="162919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50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0176817" y="7308626"/>
            <a:ext cx="1629194" cy="1629194"/>
          </a:xfrm>
          <a:custGeom>
            <a:avLst/>
            <a:gdLst/>
            <a:ahLst/>
            <a:cxnLst/>
            <a:rect l="l" t="t" r="r" b="b"/>
            <a:pathLst>
              <a:path w="1629194" h="1629194">
                <a:moveTo>
                  <a:pt x="0" y="0"/>
                </a:moveTo>
                <a:lnTo>
                  <a:pt x="1629194" y="0"/>
                </a:lnTo>
                <a:lnTo>
                  <a:pt x="1629194" y="1629194"/>
                </a:lnTo>
                <a:lnTo>
                  <a:pt x="0" y="162919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50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6771744" y="7308626"/>
            <a:ext cx="1629194" cy="1629194"/>
          </a:xfrm>
          <a:custGeom>
            <a:avLst/>
            <a:gdLst/>
            <a:ahLst/>
            <a:cxnLst/>
            <a:rect l="l" t="t" r="r" b="b"/>
            <a:pathLst>
              <a:path w="1629194" h="1629194">
                <a:moveTo>
                  <a:pt x="0" y="0"/>
                </a:moveTo>
                <a:lnTo>
                  <a:pt x="1629194" y="0"/>
                </a:lnTo>
                <a:lnTo>
                  <a:pt x="1629194" y="1629194"/>
                </a:lnTo>
                <a:lnTo>
                  <a:pt x="0" y="162919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50000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grpSp>
        <p:nvGrpSpPr>
          <p:cNvPr id="23" name="Group 23"/>
          <p:cNvGrpSpPr/>
          <p:nvPr/>
        </p:nvGrpSpPr>
        <p:grpSpPr>
          <a:xfrm>
            <a:off x="2527848" y="3849807"/>
            <a:ext cx="3011183" cy="448037"/>
            <a:chOff x="0" y="0"/>
            <a:chExt cx="972175" cy="144651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972175" cy="144651"/>
            </a:xfrm>
            <a:custGeom>
              <a:avLst/>
              <a:gdLst/>
              <a:ahLst/>
              <a:cxnLst/>
              <a:rect l="l" t="t" r="r" b="b"/>
              <a:pathLst>
                <a:path w="972175" h="144651">
                  <a:moveTo>
                    <a:pt x="53992" y="0"/>
                  </a:moveTo>
                  <a:lnTo>
                    <a:pt x="918183" y="0"/>
                  </a:lnTo>
                  <a:cubicBezTo>
                    <a:pt x="948002" y="0"/>
                    <a:pt x="972175" y="24173"/>
                    <a:pt x="972175" y="53992"/>
                  </a:cubicBezTo>
                  <a:lnTo>
                    <a:pt x="972175" y="90659"/>
                  </a:lnTo>
                  <a:cubicBezTo>
                    <a:pt x="972175" y="120478"/>
                    <a:pt x="948002" y="144651"/>
                    <a:pt x="918183" y="144651"/>
                  </a:cubicBezTo>
                  <a:lnTo>
                    <a:pt x="53992" y="144651"/>
                  </a:lnTo>
                  <a:cubicBezTo>
                    <a:pt x="24173" y="144651"/>
                    <a:pt x="0" y="120478"/>
                    <a:pt x="0" y="90659"/>
                  </a:cubicBezTo>
                  <a:lnTo>
                    <a:pt x="0" y="53992"/>
                  </a:lnTo>
                  <a:cubicBezTo>
                    <a:pt x="0" y="24173"/>
                    <a:pt x="24173" y="0"/>
                    <a:pt x="5399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972175" cy="1827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771744" y="7308626"/>
            <a:ext cx="1337472" cy="1337472"/>
            <a:chOff x="0" y="0"/>
            <a:chExt cx="812800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934888" y="3849807"/>
            <a:ext cx="3011183" cy="448037"/>
            <a:chOff x="0" y="0"/>
            <a:chExt cx="972175" cy="144651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972175" cy="144651"/>
            </a:xfrm>
            <a:custGeom>
              <a:avLst/>
              <a:gdLst/>
              <a:ahLst/>
              <a:cxnLst/>
              <a:rect l="l" t="t" r="r" b="b"/>
              <a:pathLst>
                <a:path w="972175" h="144651">
                  <a:moveTo>
                    <a:pt x="53992" y="0"/>
                  </a:moveTo>
                  <a:lnTo>
                    <a:pt x="918183" y="0"/>
                  </a:lnTo>
                  <a:cubicBezTo>
                    <a:pt x="948002" y="0"/>
                    <a:pt x="972175" y="24173"/>
                    <a:pt x="972175" y="53992"/>
                  </a:cubicBezTo>
                  <a:lnTo>
                    <a:pt x="972175" y="90659"/>
                  </a:lnTo>
                  <a:cubicBezTo>
                    <a:pt x="972175" y="120478"/>
                    <a:pt x="948002" y="144651"/>
                    <a:pt x="918183" y="144651"/>
                  </a:cubicBezTo>
                  <a:lnTo>
                    <a:pt x="53992" y="144651"/>
                  </a:lnTo>
                  <a:cubicBezTo>
                    <a:pt x="24173" y="144651"/>
                    <a:pt x="0" y="120478"/>
                    <a:pt x="0" y="90659"/>
                  </a:cubicBezTo>
                  <a:lnTo>
                    <a:pt x="0" y="53992"/>
                  </a:lnTo>
                  <a:cubicBezTo>
                    <a:pt x="0" y="24173"/>
                    <a:pt x="24173" y="0"/>
                    <a:pt x="5399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972175" cy="1827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0178784" y="7308626"/>
            <a:ext cx="1337472" cy="1337472"/>
            <a:chOff x="0" y="0"/>
            <a:chExt cx="812800" cy="8128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9341929" y="3849807"/>
            <a:ext cx="3011183" cy="448037"/>
            <a:chOff x="0" y="0"/>
            <a:chExt cx="972175" cy="144651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972175" cy="144651"/>
            </a:xfrm>
            <a:custGeom>
              <a:avLst/>
              <a:gdLst/>
              <a:ahLst/>
              <a:cxnLst/>
              <a:rect l="l" t="t" r="r" b="b"/>
              <a:pathLst>
                <a:path w="972175" h="144651">
                  <a:moveTo>
                    <a:pt x="53992" y="0"/>
                  </a:moveTo>
                  <a:lnTo>
                    <a:pt x="918183" y="0"/>
                  </a:lnTo>
                  <a:cubicBezTo>
                    <a:pt x="948002" y="0"/>
                    <a:pt x="972175" y="24173"/>
                    <a:pt x="972175" y="53992"/>
                  </a:cubicBezTo>
                  <a:lnTo>
                    <a:pt x="972175" y="90659"/>
                  </a:lnTo>
                  <a:cubicBezTo>
                    <a:pt x="972175" y="120478"/>
                    <a:pt x="948002" y="144651"/>
                    <a:pt x="918183" y="144651"/>
                  </a:cubicBezTo>
                  <a:lnTo>
                    <a:pt x="53992" y="144651"/>
                  </a:lnTo>
                  <a:cubicBezTo>
                    <a:pt x="24173" y="144651"/>
                    <a:pt x="0" y="120478"/>
                    <a:pt x="0" y="90659"/>
                  </a:cubicBezTo>
                  <a:lnTo>
                    <a:pt x="0" y="53992"/>
                  </a:lnTo>
                  <a:cubicBezTo>
                    <a:pt x="0" y="24173"/>
                    <a:pt x="24173" y="0"/>
                    <a:pt x="5399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972175" cy="1827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3585825" y="7308626"/>
            <a:ext cx="1337472" cy="1337472"/>
            <a:chOff x="0" y="0"/>
            <a:chExt cx="812800" cy="8128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0" name="TextBox 4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2748969" y="3849807"/>
            <a:ext cx="3011183" cy="448037"/>
            <a:chOff x="0" y="0"/>
            <a:chExt cx="972175" cy="144651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972175" cy="144651"/>
            </a:xfrm>
            <a:custGeom>
              <a:avLst/>
              <a:gdLst/>
              <a:ahLst/>
              <a:cxnLst/>
              <a:rect l="l" t="t" r="r" b="b"/>
              <a:pathLst>
                <a:path w="972175" h="144651">
                  <a:moveTo>
                    <a:pt x="53992" y="0"/>
                  </a:moveTo>
                  <a:lnTo>
                    <a:pt x="918183" y="0"/>
                  </a:lnTo>
                  <a:cubicBezTo>
                    <a:pt x="948002" y="0"/>
                    <a:pt x="972175" y="24173"/>
                    <a:pt x="972175" y="53992"/>
                  </a:cubicBezTo>
                  <a:lnTo>
                    <a:pt x="972175" y="90659"/>
                  </a:lnTo>
                  <a:cubicBezTo>
                    <a:pt x="972175" y="120478"/>
                    <a:pt x="948002" y="144651"/>
                    <a:pt x="918183" y="144651"/>
                  </a:cubicBezTo>
                  <a:lnTo>
                    <a:pt x="53992" y="144651"/>
                  </a:lnTo>
                  <a:cubicBezTo>
                    <a:pt x="24173" y="144651"/>
                    <a:pt x="0" y="120478"/>
                    <a:pt x="0" y="90659"/>
                  </a:cubicBezTo>
                  <a:lnTo>
                    <a:pt x="0" y="53992"/>
                  </a:lnTo>
                  <a:cubicBezTo>
                    <a:pt x="0" y="24173"/>
                    <a:pt x="24173" y="0"/>
                    <a:pt x="5399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3" name="TextBox 43"/>
            <p:cNvSpPr txBox="1"/>
            <p:nvPr/>
          </p:nvSpPr>
          <p:spPr>
            <a:xfrm>
              <a:off x="0" y="-38100"/>
              <a:ext cx="972175" cy="1827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3364703" y="7308626"/>
            <a:ext cx="1337472" cy="1337472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6" name="TextBox 4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sp>
        <p:nvSpPr>
          <p:cNvPr id="47" name="Freeform 47"/>
          <p:cNvSpPr/>
          <p:nvPr/>
        </p:nvSpPr>
        <p:spPr>
          <a:xfrm>
            <a:off x="3679944" y="7623867"/>
            <a:ext cx="706990" cy="706990"/>
          </a:xfrm>
          <a:custGeom>
            <a:avLst/>
            <a:gdLst/>
            <a:ahLst/>
            <a:cxnLst/>
            <a:rect l="l" t="t" r="r" b="b"/>
            <a:pathLst>
              <a:path w="706990" h="706990">
                <a:moveTo>
                  <a:pt x="0" y="0"/>
                </a:moveTo>
                <a:lnTo>
                  <a:pt x="706990" y="0"/>
                </a:lnTo>
                <a:lnTo>
                  <a:pt x="706990" y="706990"/>
                </a:lnTo>
                <a:lnTo>
                  <a:pt x="0" y="70699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48" name="Freeform 48"/>
          <p:cNvSpPr/>
          <p:nvPr/>
        </p:nvSpPr>
        <p:spPr>
          <a:xfrm>
            <a:off x="7080108" y="7629603"/>
            <a:ext cx="720743" cy="695517"/>
          </a:xfrm>
          <a:custGeom>
            <a:avLst/>
            <a:gdLst/>
            <a:ahLst/>
            <a:cxnLst/>
            <a:rect l="l" t="t" r="r" b="b"/>
            <a:pathLst>
              <a:path w="720743" h="695517">
                <a:moveTo>
                  <a:pt x="0" y="0"/>
                </a:moveTo>
                <a:lnTo>
                  <a:pt x="720743" y="0"/>
                </a:lnTo>
                <a:lnTo>
                  <a:pt x="720743" y="695517"/>
                </a:lnTo>
                <a:lnTo>
                  <a:pt x="0" y="695517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49" name="Freeform 49"/>
          <p:cNvSpPr/>
          <p:nvPr/>
        </p:nvSpPr>
        <p:spPr>
          <a:xfrm>
            <a:off x="10517658" y="7647500"/>
            <a:ext cx="659725" cy="659725"/>
          </a:xfrm>
          <a:custGeom>
            <a:avLst/>
            <a:gdLst/>
            <a:ahLst/>
            <a:cxnLst/>
            <a:rect l="l" t="t" r="r" b="b"/>
            <a:pathLst>
              <a:path w="659725" h="659725">
                <a:moveTo>
                  <a:pt x="0" y="0"/>
                </a:moveTo>
                <a:lnTo>
                  <a:pt x="659725" y="0"/>
                </a:lnTo>
                <a:lnTo>
                  <a:pt x="659725" y="659724"/>
                </a:lnTo>
                <a:lnTo>
                  <a:pt x="0" y="659724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  <p:sp>
        <p:nvSpPr>
          <p:cNvPr id="50" name="Freeform 50"/>
          <p:cNvSpPr/>
          <p:nvPr/>
        </p:nvSpPr>
        <p:spPr>
          <a:xfrm>
            <a:off x="13987834" y="7562223"/>
            <a:ext cx="533454" cy="830279"/>
          </a:xfrm>
          <a:custGeom>
            <a:avLst/>
            <a:gdLst/>
            <a:ahLst/>
            <a:cxnLst/>
            <a:rect l="l" t="t" r="r" b="b"/>
            <a:pathLst>
              <a:path w="533454" h="830279">
                <a:moveTo>
                  <a:pt x="0" y="0"/>
                </a:moveTo>
                <a:lnTo>
                  <a:pt x="533454" y="0"/>
                </a:lnTo>
                <a:lnTo>
                  <a:pt x="533454" y="830278"/>
                </a:lnTo>
                <a:lnTo>
                  <a:pt x="0" y="830278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</p:sp>
      <p:sp>
        <p:nvSpPr>
          <p:cNvPr id="51" name="Freeform 51"/>
          <p:cNvSpPr/>
          <p:nvPr/>
        </p:nvSpPr>
        <p:spPr>
          <a:xfrm>
            <a:off x="-386933" y="8937820"/>
            <a:ext cx="1854543" cy="1349180"/>
          </a:xfrm>
          <a:custGeom>
            <a:avLst/>
            <a:gdLst/>
            <a:ahLst/>
            <a:cxnLst/>
            <a:rect l="l" t="t" r="r" b="b"/>
            <a:pathLst>
              <a:path w="1854543" h="1349180">
                <a:moveTo>
                  <a:pt x="0" y="0"/>
                </a:moveTo>
                <a:lnTo>
                  <a:pt x="1854543" y="0"/>
                </a:lnTo>
                <a:lnTo>
                  <a:pt x="1854543" y="1349180"/>
                </a:lnTo>
                <a:lnTo>
                  <a:pt x="0" y="1349180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</p:spPr>
      </p:sp>
      <p:sp>
        <p:nvSpPr>
          <p:cNvPr id="52" name="Freeform 52"/>
          <p:cNvSpPr/>
          <p:nvPr/>
        </p:nvSpPr>
        <p:spPr>
          <a:xfrm flipH="1">
            <a:off x="-5367006" y="-1383193"/>
            <a:ext cx="7315200" cy="3425952"/>
          </a:xfrm>
          <a:custGeom>
            <a:avLst/>
            <a:gdLst/>
            <a:ahLst/>
            <a:cxnLst/>
            <a:rect l="l" t="t" r="r" b="b"/>
            <a:pathLst>
              <a:path w="7315200" h="3425952">
                <a:moveTo>
                  <a:pt x="7315200" y="0"/>
                </a:moveTo>
                <a:lnTo>
                  <a:pt x="0" y="0"/>
                </a:lnTo>
                <a:lnTo>
                  <a:pt x="0" y="3425952"/>
                </a:lnTo>
                <a:lnTo>
                  <a:pt x="7315200" y="3425952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a:blipFill>
        </p:spPr>
      </p:sp>
      <p:sp>
        <p:nvSpPr>
          <p:cNvPr id="53" name="Freeform 53"/>
          <p:cNvSpPr/>
          <p:nvPr/>
        </p:nvSpPr>
        <p:spPr>
          <a:xfrm flipH="1">
            <a:off x="16912072" y="9483066"/>
            <a:ext cx="7315200" cy="3425952"/>
          </a:xfrm>
          <a:custGeom>
            <a:avLst/>
            <a:gdLst/>
            <a:ahLst/>
            <a:cxnLst/>
            <a:rect l="l" t="t" r="r" b="b"/>
            <a:pathLst>
              <a:path w="7315200" h="3425952">
                <a:moveTo>
                  <a:pt x="7315200" y="0"/>
                </a:moveTo>
                <a:lnTo>
                  <a:pt x="0" y="0"/>
                </a:lnTo>
                <a:lnTo>
                  <a:pt x="0" y="3425952"/>
                </a:lnTo>
                <a:lnTo>
                  <a:pt x="7315200" y="3425952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a:blipFill>
        </p:spPr>
      </p:sp>
      <p:sp>
        <p:nvSpPr>
          <p:cNvPr id="54" name="Freeform 54"/>
          <p:cNvSpPr/>
          <p:nvPr/>
        </p:nvSpPr>
        <p:spPr>
          <a:xfrm flipV="1">
            <a:off x="16165514" y="-2634240"/>
            <a:ext cx="7315200" cy="3425952"/>
          </a:xfrm>
          <a:custGeom>
            <a:avLst/>
            <a:gdLst/>
            <a:ahLst/>
            <a:cxnLst/>
            <a:rect l="l" t="t" r="r" b="b"/>
            <a:pathLst>
              <a:path w="7315200" h="3425952">
                <a:moveTo>
                  <a:pt x="0" y="3425952"/>
                </a:moveTo>
                <a:lnTo>
                  <a:pt x="7315200" y="3425952"/>
                </a:lnTo>
                <a:lnTo>
                  <a:pt x="7315200" y="0"/>
                </a:lnTo>
                <a:lnTo>
                  <a:pt x="0" y="0"/>
                </a:lnTo>
                <a:lnTo>
                  <a:pt x="0" y="3425952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a:blipFill>
        </p:spPr>
      </p:sp>
      <p:sp>
        <p:nvSpPr>
          <p:cNvPr id="55" name="TextBox 55"/>
          <p:cNvSpPr txBox="1"/>
          <p:nvPr/>
        </p:nvSpPr>
        <p:spPr>
          <a:xfrm>
            <a:off x="3150598" y="4545877"/>
            <a:ext cx="1765682" cy="839012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marL="0" lvl="1" indent="0" algn="ctr">
              <a:lnSpc>
                <a:spcPts val="3359"/>
              </a:lnSpc>
              <a:spcBef>
                <a:spcPct val="0"/>
              </a:spcBef>
            </a:pPr>
            <a:r>
              <a:rPr lang="en-US" altLang="zh-CN" sz="2399" b="1" spc="76" dirty="0">
                <a:solidFill>
                  <a:srgbClr val="FFFFFF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Unicorn</a:t>
            </a:r>
            <a:endParaRPr lang="en-US" sz="2399" b="1" spc="76" dirty="0">
              <a:solidFill>
                <a:srgbClr val="FFFFFF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56" name="TextBox 56"/>
          <p:cNvSpPr txBox="1"/>
          <p:nvPr/>
        </p:nvSpPr>
        <p:spPr>
          <a:xfrm>
            <a:off x="3150598" y="5477701"/>
            <a:ext cx="1765682" cy="233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57"/>
              </a:lnSpc>
              <a:spcBef>
                <a:spcPct val="0"/>
              </a:spcBef>
            </a:pPr>
            <a:r>
              <a:rPr lang="en-US" altLang="zh-CN" sz="1305" dirty="0">
                <a:solidFill>
                  <a:srgbClr val="FFFFFF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Unicorn International Investment Co., Ltd., parent to 27+ companies.</a:t>
            </a:r>
            <a:endParaRPr lang="en-US" sz="1305" dirty="0">
              <a:solidFill>
                <a:srgbClr val="FFFFFF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57" name="TextBox 57"/>
          <p:cNvSpPr txBox="1"/>
          <p:nvPr/>
        </p:nvSpPr>
        <p:spPr>
          <a:xfrm>
            <a:off x="6557639" y="4545877"/>
            <a:ext cx="1765682" cy="839012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marL="0" lvl="1" indent="0" algn="ctr">
              <a:lnSpc>
                <a:spcPts val="3359"/>
              </a:lnSpc>
              <a:spcBef>
                <a:spcPct val="0"/>
              </a:spcBef>
            </a:pPr>
            <a:r>
              <a:rPr lang="en-US" altLang="zh-CN" sz="2399" b="1" spc="76" dirty="0">
                <a:solidFill>
                  <a:srgbClr val="FFFFFF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Siraya</a:t>
            </a:r>
            <a:endParaRPr lang="en-US" sz="2399" b="1" spc="76" dirty="0">
              <a:solidFill>
                <a:srgbClr val="FFFFFF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58" name="TextBox 58"/>
          <p:cNvSpPr txBox="1"/>
          <p:nvPr/>
        </p:nvSpPr>
        <p:spPr>
          <a:xfrm>
            <a:off x="6557639" y="5477701"/>
            <a:ext cx="1765682" cy="490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57"/>
              </a:lnSpc>
              <a:spcBef>
                <a:spcPct val="0"/>
              </a:spcBef>
            </a:pPr>
            <a:r>
              <a:rPr lang="en-US" altLang="zh-CN" sz="1305" dirty="0">
                <a:solidFill>
                  <a:srgbClr val="FFFFFF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Cloud/CDN/Security Provider based in Singapore, Vietnam, Malaysia.</a:t>
            </a:r>
            <a:endParaRPr lang="en-US" sz="1305" dirty="0">
              <a:solidFill>
                <a:srgbClr val="FFFFFF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59" name="TextBox 59"/>
          <p:cNvSpPr txBox="1"/>
          <p:nvPr/>
        </p:nvSpPr>
        <p:spPr>
          <a:xfrm>
            <a:off x="9964679" y="4545877"/>
            <a:ext cx="1765682" cy="839012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marL="0" lvl="1" indent="0" algn="ctr">
              <a:lnSpc>
                <a:spcPts val="3359"/>
              </a:lnSpc>
              <a:spcBef>
                <a:spcPct val="0"/>
              </a:spcBef>
            </a:pPr>
            <a:r>
              <a:rPr lang="en-US" altLang="zh-CN" sz="2399" b="1" spc="76" dirty="0">
                <a:solidFill>
                  <a:srgbClr val="FFFFFF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Katsumi</a:t>
            </a:r>
            <a:endParaRPr lang="en-US" sz="2399" b="1" spc="76" dirty="0">
              <a:solidFill>
                <a:srgbClr val="FFFFFF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60" name="TextBox 60"/>
          <p:cNvSpPr txBox="1"/>
          <p:nvPr/>
        </p:nvSpPr>
        <p:spPr>
          <a:xfrm>
            <a:off x="9964679" y="5477701"/>
            <a:ext cx="1765682" cy="490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57"/>
              </a:lnSpc>
              <a:spcBef>
                <a:spcPct val="0"/>
              </a:spcBef>
            </a:pPr>
            <a:r>
              <a:rPr lang="en-US" altLang="zh-CN" sz="1305" dirty="0">
                <a:solidFill>
                  <a:srgbClr val="FFFFFF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Katsumitec: iGaming R&amp;D in Taiwan, a key investor in Jarvis.</a:t>
            </a:r>
            <a:endParaRPr lang="en-US" sz="1305" dirty="0">
              <a:solidFill>
                <a:srgbClr val="FFFFFF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61" name="TextBox 61"/>
          <p:cNvSpPr txBox="1"/>
          <p:nvPr/>
        </p:nvSpPr>
        <p:spPr>
          <a:xfrm>
            <a:off x="13371719" y="4545877"/>
            <a:ext cx="1765682" cy="839012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marL="0" lvl="1" indent="0" algn="ctr">
              <a:lnSpc>
                <a:spcPts val="3359"/>
              </a:lnSpc>
              <a:spcBef>
                <a:spcPct val="0"/>
              </a:spcBef>
            </a:pPr>
            <a:r>
              <a:rPr lang="en-US" altLang="zh-CN" sz="2399" b="1" spc="76" dirty="0">
                <a:solidFill>
                  <a:srgbClr val="FFFFFF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AI/IT</a:t>
            </a:r>
            <a:endParaRPr lang="en-US" sz="2399" b="1" spc="76" dirty="0">
              <a:solidFill>
                <a:srgbClr val="FFFFFF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62" name="TextBox 62"/>
          <p:cNvSpPr txBox="1"/>
          <p:nvPr/>
        </p:nvSpPr>
        <p:spPr>
          <a:xfrm>
            <a:off x="13371719" y="5477701"/>
            <a:ext cx="1765682" cy="490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57"/>
              </a:lnSpc>
              <a:spcBef>
                <a:spcPct val="0"/>
              </a:spcBef>
            </a:pPr>
            <a:r>
              <a:rPr lang="en-US" altLang="zh-CN" sz="1305" dirty="0">
                <a:solidFill>
                  <a:srgbClr val="FFFFFF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Tomo (AI Startup) and Sky-Net Digital (IT Solutions), major group entities.</a:t>
            </a:r>
            <a:endParaRPr lang="en-US" sz="1305" dirty="0">
              <a:solidFill>
                <a:srgbClr val="FFFFFF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63" name="TextBox 63"/>
          <p:cNvSpPr txBox="1"/>
          <p:nvPr/>
        </p:nvSpPr>
        <p:spPr>
          <a:xfrm>
            <a:off x="3541977" y="1028700"/>
            <a:ext cx="11204046" cy="796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6480"/>
              </a:lnSpc>
              <a:spcBef>
                <a:spcPct val="0"/>
              </a:spcBef>
            </a:pPr>
            <a:r>
              <a:rPr lang="en-US" altLang="zh-CN" sz="5400" b="1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Group Overview</a:t>
            </a:r>
            <a:endParaRPr lang="en-US" sz="5400" b="1" u="none" strike="noStrike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5652112"/>
            <a:ext cx="18288000" cy="4634888"/>
            <a:chOff x="0" y="0"/>
            <a:chExt cx="4816593" cy="122071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1220711"/>
            </a:xfrm>
            <a:custGeom>
              <a:avLst/>
              <a:gdLst/>
              <a:ahLst/>
              <a:cxnLst/>
              <a:rect l="l" t="t" r="r" b="b"/>
              <a:pathLst>
                <a:path w="4816592" h="1220711">
                  <a:moveTo>
                    <a:pt x="0" y="0"/>
                  </a:moveTo>
                  <a:lnTo>
                    <a:pt x="4816592" y="0"/>
                  </a:lnTo>
                  <a:lnTo>
                    <a:pt x="4816592" y="1220711"/>
                  </a:lnTo>
                  <a:lnTo>
                    <a:pt x="0" y="1220711"/>
                  </a:lnTo>
                  <a:close/>
                </a:path>
              </a:pathLst>
            </a:custGeom>
            <a:solidFill>
              <a:srgbClr val="10AD5D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12588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399"/>
                </a:lnSpc>
                <a:spcBef>
                  <a:spcPct val="0"/>
                </a:spcBef>
              </a:pPr>
              <a:endParaRPr>
                <a:latin typeface="Montserrat" pitchFamily="2" charset="77"/>
              </a:endParaRPr>
            </a:p>
          </p:txBody>
        </p:sp>
      </p:grpSp>
      <p:sp>
        <p:nvSpPr>
          <p:cNvPr id="6" name="Freeform 6"/>
          <p:cNvSpPr/>
          <p:nvPr/>
        </p:nvSpPr>
        <p:spPr>
          <a:xfrm>
            <a:off x="11449568" y="613733"/>
            <a:ext cx="4969101" cy="5038379"/>
          </a:xfrm>
          <a:custGeom>
            <a:avLst/>
            <a:gdLst/>
            <a:ahLst/>
            <a:cxnLst/>
            <a:rect l="l" t="t" r="r" b="b"/>
            <a:pathLst>
              <a:path w="4969101" h="5038379">
                <a:moveTo>
                  <a:pt x="0" y="0"/>
                </a:moveTo>
                <a:lnTo>
                  <a:pt x="4969100" y="0"/>
                </a:lnTo>
                <a:lnTo>
                  <a:pt x="4969100" y="5038379"/>
                </a:lnTo>
                <a:lnTo>
                  <a:pt x="0" y="50383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7" name="Group 7"/>
          <p:cNvGrpSpPr/>
          <p:nvPr/>
        </p:nvGrpSpPr>
        <p:grpSpPr>
          <a:xfrm>
            <a:off x="1908068" y="6286403"/>
            <a:ext cx="1245141" cy="1245141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9952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901929" y="6286403"/>
            <a:ext cx="1245141" cy="1245141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9952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sp>
        <p:nvSpPr>
          <p:cNvPr id="13" name="Freeform 13"/>
          <p:cNvSpPr/>
          <p:nvPr/>
        </p:nvSpPr>
        <p:spPr>
          <a:xfrm>
            <a:off x="2269605" y="6630596"/>
            <a:ext cx="522066" cy="522066"/>
          </a:xfrm>
          <a:custGeom>
            <a:avLst/>
            <a:gdLst/>
            <a:ahLst/>
            <a:cxnLst/>
            <a:rect l="l" t="t" r="r" b="b"/>
            <a:pathLst>
              <a:path w="522066" h="522066">
                <a:moveTo>
                  <a:pt x="0" y="0"/>
                </a:moveTo>
                <a:lnTo>
                  <a:pt x="522066" y="0"/>
                </a:lnTo>
                <a:lnTo>
                  <a:pt x="522066" y="522066"/>
                </a:lnTo>
                <a:lnTo>
                  <a:pt x="0" y="5220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6262613" y="6638909"/>
            <a:ext cx="523773" cy="505441"/>
          </a:xfrm>
          <a:custGeom>
            <a:avLst/>
            <a:gdLst/>
            <a:ahLst/>
            <a:cxnLst/>
            <a:rect l="l" t="t" r="r" b="b"/>
            <a:pathLst>
              <a:path w="523773" h="505441">
                <a:moveTo>
                  <a:pt x="0" y="0"/>
                </a:moveTo>
                <a:lnTo>
                  <a:pt x="523772" y="0"/>
                </a:lnTo>
                <a:lnTo>
                  <a:pt x="523772" y="505440"/>
                </a:lnTo>
                <a:lnTo>
                  <a:pt x="0" y="50544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15" name="Group 15"/>
          <p:cNvGrpSpPr/>
          <p:nvPr/>
        </p:nvGrpSpPr>
        <p:grpSpPr>
          <a:xfrm>
            <a:off x="9895790" y="6286403"/>
            <a:ext cx="1245141" cy="1245141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9952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sp>
        <p:nvSpPr>
          <p:cNvPr id="18" name="Freeform 18"/>
          <p:cNvSpPr/>
          <p:nvPr/>
        </p:nvSpPr>
        <p:spPr>
          <a:xfrm>
            <a:off x="10289548" y="6662817"/>
            <a:ext cx="457624" cy="457624"/>
          </a:xfrm>
          <a:custGeom>
            <a:avLst/>
            <a:gdLst/>
            <a:ahLst/>
            <a:cxnLst/>
            <a:rect l="l" t="t" r="r" b="b"/>
            <a:pathLst>
              <a:path w="457624" h="457624">
                <a:moveTo>
                  <a:pt x="0" y="0"/>
                </a:moveTo>
                <a:lnTo>
                  <a:pt x="457624" y="0"/>
                </a:lnTo>
                <a:lnTo>
                  <a:pt x="457624" y="457624"/>
                </a:lnTo>
                <a:lnTo>
                  <a:pt x="0" y="45762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19"/>
          <p:cNvGrpSpPr/>
          <p:nvPr/>
        </p:nvGrpSpPr>
        <p:grpSpPr>
          <a:xfrm>
            <a:off x="13889651" y="6286403"/>
            <a:ext cx="1245141" cy="1245141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9952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sp>
        <p:nvSpPr>
          <p:cNvPr id="22" name="Freeform 22"/>
          <p:cNvSpPr/>
          <p:nvPr/>
        </p:nvSpPr>
        <p:spPr>
          <a:xfrm>
            <a:off x="14315630" y="6585650"/>
            <a:ext cx="393183" cy="611958"/>
          </a:xfrm>
          <a:custGeom>
            <a:avLst/>
            <a:gdLst/>
            <a:ahLst/>
            <a:cxnLst/>
            <a:rect l="l" t="t" r="r" b="b"/>
            <a:pathLst>
              <a:path w="393183" h="611958">
                <a:moveTo>
                  <a:pt x="0" y="0"/>
                </a:moveTo>
                <a:lnTo>
                  <a:pt x="393183" y="0"/>
                </a:lnTo>
                <a:lnTo>
                  <a:pt x="393183" y="611958"/>
                </a:lnTo>
                <a:lnTo>
                  <a:pt x="0" y="61195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1028700" y="1133475"/>
            <a:ext cx="9029390" cy="796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>
              <a:lnSpc>
                <a:spcPts val="6480"/>
              </a:lnSpc>
              <a:spcBef>
                <a:spcPct val="0"/>
              </a:spcBef>
            </a:pPr>
            <a:r>
              <a:rPr lang="en-US" altLang="zh-CN" sz="5400" b="1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Jarvis Partners</a:t>
            </a:r>
            <a:endParaRPr lang="en-US" sz="5400" b="1" u="none" strike="noStrike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908068" y="7798244"/>
            <a:ext cx="3102949" cy="3903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>
              <a:lnSpc>
                <a:spcPts val="3359"/>
              </a:lnSpc>
              <a:spcBef>
                <a:spcPct val="0"/>
              </a:spcBef>
            </a:pPr>
            <a:r>
              <a:rPr lang="en-US" altLang="zh-CN" sz="2000" b="1" spc="76" dirty="0">
                <a:solidFill>
                  <a:srgbClr val="FFFFFF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Siraya</a:t>
            </a:r>
            <a:endParaRPr lang="en-US" sz="2000" b="1" spc="76" dirty="0">
              <a:solidFill>
                <a:srgbClr val="FFFFFF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908068" y="8437318"/>
            <a:ext cx="3102949" cy="2430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1957"/>
              </a:lnSpc>
              <a:spcBef>
                <a:spcPct val="0"/>
              </a:spcBef>
            </a:pPr>
            <a:r>
              <a:rPr lang="en-US" altLang="zh-CN" sz="1600" dirty="0">
                <a:solidFill>
                  <a:srgbClr val="FFFFFF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Current main business partner, responsible for Customer Portal and Anti-Hijacking services.</a:t>
            </a:r>
            <a:endParaRPr lang="en-US" sz="1600" dirty="0">
              <a:solidFill>
                <a:srgbClr val="FFFFFF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5901929" y="7798244"/>
            <a:ext cx="3102949" cy="3742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>
              <a:lnSpc>
                <a:spcPts val="3079"/>
              </a:lnSpc>
              <a:spcBef>
                <a:spcPct val="0"/>
              </a:spcBef>
            </a:pPr>
            <a:r>
              <a:rPr lang="en-US" altLang="zh-CN" sz="2000" b="1" spc="76" dirty="0">
                <a:solidFill>
                  <a:srgbClr val="FFFFFF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Katsumi</a:t>
            </a:r>
            <a:endParaRPr lang="en-US" sz="2000" b="1" spc="76" dirty="0">
              <a:solidFill>
                <a:srgbClr val="FFFFFF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5901929" y="8437318"/>
            <a:ext cx="3102949" cy="2430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1957"/>
              </a:lnSpc>
              <a:spcBef>
                <a:spcPct val="0"/>
              </a:spcBef>
            </a:pPr>
            <a:r>
              <a:rPr lang="en-US" altLang="zh-CN" sz="1600" dirty="0">
                <a:solidFill>
                  <a:srgbClr val="FFFFFF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Key investor in Jarvis, with past collaborations on Telegram, ClickHouse, and Payment systems.</a:t>
            </a:r>
            <a:endParaRPr lang="en-US" sz="1600" dirty="0">
              <a:solidFill>
                <a:srgbClr val="FFFFFF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9895790" y="7798244"/>
            <a:ext cx="3102949" cy="3675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>
              <a:lnSpc>
                <a:spcPts val="3079"/>
              </a:lnSpc>
              <a:spcBef>
                <a:spcPct val="0"/>
              </a:spcBef>
            </a:pPr>
            <a:r>
              <a:rPr lang="en-US" altLang="zh-CN" sz="2000" b="1" spc="76" dirty="0">
                <a:solidFill>
                  <a:srgbClr val="FFFFFF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Sky-Net</a:t>
            </a:r>
            <a:endParaRPr lang="en-US" sz="2000" b="1" spc="76" dirty="0">
              <a:solidFill>
                <a:srgbClr val="FFFFFF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9895790" y="8437318"/>
            <a:ext cx="3102949" cy="2430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1957"/>
              </a:lnSpc>
              <a:spcBef>
                <a:spcPct val="0"/>
              </a:spcBef>
            </a:pPr>
            <a:r>
              <a:rPr lang="en-US" altLang="zh-CN" sz="1600" dirty="0">
                <a:solidFill>
                  <a:srgbClr val="FFFFFF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Current collaborator, evolving from ClickHouse work to the new Game Center Project.</a:t>
            </a:r>
            <a:endParaRPr lang="en-US" sz="1600" dirty="0">
              <a:solidFill>
                <a:srgbClr val="FFFFFF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3889651" y="7798244"/>
            <a:ext cx="3102949" cy="3615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>
              <a:lnSpc>
                <a:spcPts val="3079"/>
              </a:lnSpc>
              <a:spcBef>
                <a:spcPct val="0"/>
              </a:spcBef>
            </a:pPr>
            <a:r>
              <a:rPr lang="en-US" altLang="zh-CN" sz="2000" b="1" spc="76" dirty="0">
                <a:solidFill>
                  <a:srgbClr val="FFFFFF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Tomo</a:t>
            </a:r>
            <a:endParaRPr lang="en-US" sz="2000" b="1" spc="76" dirty="0">
              <a:solidFill>
                <a:srgbClr val="FFFFFF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3889651" y="8437318"/>
            <a:ext cx="3102949" cy="2430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1957"/>
              </a:lnSpc>
              <a:spcBef>
                <a:spcPct val="0"/>
              </a:spcBef>
            </a:pPr>
            <a:r>
              <a:rPr lang="en-US" altLang="zh-CN" sz="1600" dirty="0">
                <a:solidFill>
                  <a:srgbClr val="FFFFFF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Future plan involves collaboration on AI HR for the Vietnam market, leveraging AI expertise.</a:t>
            </a:r>
            <a:endParaRPr lang="en-US" sz="1600" dirty="0">
              <a:solidFill>
                <a:srgbClr val="FFFFFF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32" name="Freeform 32"/>
          <p:cNvSpPr/>
          <p:nvPr/>
        </p:nvSpPr>
        <p:spPr>
          <a:xfrm>
            <a:off x="17422243" y="-496474"/>
            <a:ext cx="1731513" cy="1525174"/>
          </a:xfrm>
          <a:custGeom>
            <a:avLst/>
            <a:gdLst/>
            <a:ahLst/>
            <a:cxnLst/>
            <a:rect l="l" t="t" r="r" b="b"/>
            <a:pathLst>
              <a:path w="1731513" h="1525174">
                <a:moveTo>
                  <a:pt x="0" y="0"/>
                </a:moveTo>
                <a:lnTo>
                  <a:pt x="1731514" y="0"/>
                </a:lnTo>
                <a:lnTo>
                  <a:pt x="1731514" y="1525174"/>
                </a:lnTo>
                <a:lnTo>
                  <a:pt x="0" y="152517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33" name="Freeform 33"/>
          <p:cNvSpPr/>
          <p:nvPr/>
        </p:nvSpPr>
        <p:spPr>
          <a:xfrm rot="-5400000">
            <a:off x="-603795" y="7769288"/>
            <a:ext cx="1207589" cy="732101"/>
          </a:xfrm>
          <a:custGeom>
            <a:avLst/>
            <a:gdLst/>
            <a:ahLst/>
            <a:cxnLst/>
            <a:rect l="l" t="t" r="r" b="b"/>
            <a:pathLst>
              <a:path w="1207589" h="732101">
                <a:moveTo>
                  <a:pt x="0" y="0"/>
                </a:moveTo>
                <a:lnTo>
                  <a:pt x="1207590" y="0"/>
                </a:lnTo>
                <a:lnTo>
                  <a:pt x="1207590" y="732100"/>
                </a:lnTo>
                <a:lnTo>
                  <a:pt x="0" y="73210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34" name="Freeform 34"/>
          <p:cNvSpPr/>
          <p:nvPr/>
        </p:nvSpPr>
        <p:spPr>
          <a:xfrm flipH="1">
            <a:off x="-5367006" y="-1383193"/>
            <a:ext cx="7315200" cy="3425952"/>
          </a:xfrm>
          <a:custGeom>
            <a:avLst/>
            <a:gdLst/>
            <a:ahLst/>
            <a:cxnLst/>
            <a:rect l="l" t="t" r="r" b="b"/>
            <a:pathLst>
              <a:path w="7315200" h="3425952">
                <a:moveTo>
                  <a:pt x="7315200" y="0"/>
                </a:moveTo>
                <a:lnTo>
                  <a:pt x="0" y="0"/>
                </a:lnTo>
                <a:lnTo>
                  <a:pt x="0" y="3425952"/>
                </a:lnTo>
                <a:lnTo>
                  <a:pt x="7315200" y="3425952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2747441" y="4340875"/>
            <a:ext cx="5718014" cy="3073433"/>
          </a:xfrm>
          <a:custGeom>
            <a:avLst/>
            <a:gdLst/>
            <a:ahLst/>
            <a:cxnLst/>
            <a:rect l="l" t="t" r="r" b="b"/>
            <a:pathLst>
              <a:path w="5718014" h="3073433">
                <a:moveTo>
                  <a:pt x="5718014" y="0"/>
                </a:moveTo>
                <a:lnTo>
                  <a:pt x="0" y="0"/>
                </a:lnTo>
                <a:lnTo>
                  <a:pt x="0" y="3073433"/>
                </a:lnTo>
                <a:lnTo>
                  <a:pt x="5718014" y="3073433"/>
                </a:lnTo>
                <a:lnTo>
                  <a:pt x="5718014" y="0"/>
                </a:lnTo>
                <a:close/>
              </a:path>
            </a:pathLst>
          </a:custGeom>
          <a:blipFill>
            <a:blip r:embed="rId3">
              <a:alphaModFix amt="2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0673185" y="4340875"/>
            <a:ext cx="5718014" cy="3073433"/>
          </a:xfrm>
          <a:custGeom>
            <a:avLst/>
            <a:gdLst/>
            <a:ahLst/>
            <a:cxnLst/>
            <a:rect l="l" t="t" r="r" b="b"/>
            <a:pathLst>
              <a:path w="5718014" h="3073433">
                <a:moveTo>
                  <a:pt x="5718014" y="0"/>
                </a:moveTo>
                <a:lnTo>
                  <a:pt x="0" y="0"/>
                </a:lnTo>
                <a:lnTo>
                  <a:pt x="0" y="3073433"/>
                </a:lnTo>
                <a:lnTo>
                  <a:pt x="5718014" y="3073433"/>
                </a:lnTo>
                <a:lnTo>
                  <a:pt x="5718014" y="0"/>
                </a:lnTo>
                <a:close/>
              </a:path>
            </a:pathLst>
          </a:custGeom>
          <a:blipFill>
            <a:blip r:embed="rId3">
              <a:alphaModFix amt="2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2747441" y="4011570"/>
            <a:ext cx="5718014" cy="2245051"/>
            <a:chOff x="0" y="0"/>
            <a:chExt cx="1505979" cy="59128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05979" cy="591289"/>
            </a:xfrm>
            <a:custGeom>
              <a:avLst/>
              <a:gdLst/>
              <a:ahLst/>
              <a:cxnLst/>
              <a:rect l="l" t="t" r="r" b="b"/>
              <a:pathLst>
                <a:path w="1505979" h="591289">
                  <a:moveTo>
                    <a:pt x="44680" y="0"/>
                  </a:moveTo>
                  <a:lnTo>
                    <a:pt x="1461299" y="0"/>
                  </a:lnTo>
                  <a:cubicBezTo>
                    <a:pt x="1473149" y="0"/>
                    <a:pt x="1484513" y="4707"/>
                    <a:pt x="1492892" y="13087"/>
                  </a:cubicBezTo>
                  <a:cubicBezTo>
                    <a:pt x="1501272" y="21466"/>
                    <a:pt x="1505979" y="32830"/>
                    <a:pt x="1505979" y="44680"/>
                  </a:cubicBezTo>
                  <a:lnTo>
                    <a:pt x="1505979" y="546609"/>
                  </a:lnTo>
                  <a:cubicBezTo>
                    <a:pt x="1505979" y="558459"/>
                    <a:pt x="1501272" y="569823"/>
                    <a:pt x="1492892" y="578202"/>
                  </a:cubicBezTo>
                  <a:cubicBezTo>
                    <a:pt x="1484513" y="586582"/>
                    <a:pt x="1473149" y="591289"/>
                    <a:pt x="1461299" y="591289"/>
                  </a:cubicBezTo>
                  <a:lnTo>
                    <a:pt x="44680" y="591289"/>
                  </a:lnTo>
                  <a:cubicBezTo>
                    <a:pt x="32830" y="591289"/>
                    <a:pt x="21466" y="586582"/>
                    <a:pt x="13087" y="578202"/>
                  </a:cubicBezTo>
                  <a:cubicBezTo>
                    <a:pt x="4707" y="569823"/>
                    <a:pt x="0" y="558459"/>
                    <a:pt x="0" y="546609"/>
                  </a:cubicBezTo>
                  <a:lnTo>
                    <a:pt x="0" y="44680"/>
                  </a:lnTo>
                  <a:cubicBezTo>
                    <a:pt x="0" y="32830"/>
                    <a:pt x="4707" y="21466"/>
                    <a:pt x="13087" y="13087"/>
                  </a:cubicBezTo>
                  <a:cubicBezTo>
                    <a:pt x="21466" y="4707"/>
                    <a:pt x="32830" y="0"/>
                    <a:pt x="44680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505979" cy="6293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1790700" y="4260242"/>
            <a:ext cx="1736201" cy="1736201"/>
            <a:chOff x="0" y="0"/>
            <a:chExt cx="14400530" cy="1440053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400530" cy="14399261"/>
            </a:xfrm>
            <a:custGeom>
              <a:avLst/>
              <a:gdLst/>
              <a:ahLst/>
              <a:cxnLst/>
              <a:rect l="l" t="t" r="r" b="b"/>
              <a:pathLst>
                <a:path w="14400530" h="14399261">
                  <a:moveTo>
                    <a:pt x="7199630" y="0"/>
                  </a:moveTo>
                  <a:cubicBezTo>
                    <a:pt x="3223260" y="0"/>
                    <a:pt x="0" y="3223260"/>
                    <a:pt x="0" y="7199630"/>
                  </a:cubicBezTo>
                  <a:cubicBezTo>
                    <a:pt x="0" y="11176001"/>
                    <a:pt x="3223260" y="14399261"/>
                    <a:pt x="7199630" y="14399261"/>
                  </a:cubicBezTo>
                  <a:lnTo>
                    <a:pt x="14399261" y="14399261"/>
                  </a:lnTo>
                  <a:lnTo>
                    <a:pt x="14399261" y="7199630"/>
                  </a:lnTo>
                  <a:cubicBezTo>
                    <a:pt x="14400530" y="3223260"/>
                    <a:pt x="11176000" y="0"/>
                    <a:pt x="7199630" y="0"/>
                  </a:cubicBezTo>
                  <a:close/>
                </a:path>
              </a:pathLst>
            </a:custGeom>
            <a:solidFill>
              <a:srgbClr val="3A7377"/>
            </a:solidFill>
          </p:spPr>
        </p:sp>
      </p:grpSp>
      <p:grpSp>
        <p:nvGrpSpPr>
          <p:cNvPr id="10" name="Group 10"/>
          <p:cNvGrpSpPr>
            <a:grpSpLocks noChangeAspect="1"/>
          </p:cNvGrpSpPr>
          <p:nvPr/>
        </p:nvGrpSpPr>
        <p:grpSpPr>
          <a:xfrm>
            <a:off x="1909552" y="4379093"/>
            <a:ext cx="1498498" cy="1498498"/>
            <a:chOff x="0" y="0"/>
            <a:chExt cx="495300" cy="4953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95300" cy="495300"/>
            </a:xfrm>
            <a:custGeom>
              <a:avLst/>
              <a:gdLst/>
              <a:ahLst/>
              <a:cxnLst/>
              <a:rect l="l" t="t" r="r" b="b"/>
              <a:pathLst>
                <a:path w="495300" h="495300">
                  <a:moveTo>
                    <a:pt x="247650" y="0"/>
                  </a:moveTo>
                  <a:cubicBezTo>
                    <a:pt x="110490" y="0"/>
                    <a:pt x="0" y="110490"/>
                    <a:pt x="0" y="247650"/>
                  </a:cubicBezTo>
                  <a:cubicBezTo>
                    <a:pt x="0" y="384810"/>
                    <a:pt x="110490" y="495300"/>
                    <a:pt x="247650" y="495300"/>
                  </a:cubicBezTo>
                  <a:cubicBezTo>
                    <a:pt x="383540" y="495300"/>
                    <a:pt x="495300" y="384810"/>
                    <a:pt x="495300" y="247650"/>
                  </a:cubicBezTo>
                  <a:cubicBezTo>
                    <a:pt x="495300" y="110490"/>
                    <a:pt x="383540" y="0"/>
                    <a:pt x="247650" y="0"/>
                  </a:cubicBezTo>
                  <a:close/>
                  <a:moveTo>
                    <a:pt x="247650" y="457200"/>
                  </a:moveTo>
                  <a:cubicBezTo>
                    <a:pt x="132080" y="457200"/>
                    <a:pt x="38100" y="363220"/>
                    <a:pt x="38100" y="247650"/>
                  </a:cubicBezTo>
                  <a:cubicBezTo>
                    <a:pt x="38100" y="132080"/>
                    <a:pt x="132080" y="38100"/>
                    <a:pt x="247650" y="38100"/>
                  </a:cubicBezTo>
                  <a:cubicBezTo>
                    <a:pt x="363220" y="38100"/>
                    <a:pt x="457200" y="132080"/>
                    <a:pt x="457200" y="247650"/>
                  </a:cubicBezTo>
                  <a:cubicBezTo>
                    <a:pt x="457200" y="363220"/>
                    <a:pt x="363220" y="457200"/>
                    <a:pt x="247650" y="4572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38100" y="38100"/>
              <a:ext cx="419100" cy="419100"/>
            </a:xfrm>
            <a:custGeom>
              <a:avLst/>
              <a:gdLst/>
              <a:ahLst/>
              <a:cxnLst/>
              <a:rect l="l" t="t" r="r" b="b"/>
              <a:pathLst>
                <a:path w="419100" h="419100">
                  <a:moveTo>
                    <a:pt x="209550" y="0"/>
                  </a:moveTo>
                  <a:cubicBezTo>
                    <a:pt x="93980" y="0"/>
                    <a:pt x="0" y="93980"/>
                    <a:pt x="0" y="209550"/>
                  </a:cubicBezTo>
                  <a:cubicBezTo>
                    <a:pt x="0" y="325120"/>
                    <a:pt x="93980" y="419100"/>
                    <a:pt x="209550" y="419100"/>
                  </a:cubicBezTo>
                  <a:cubicBezTo>
                    <a:pt x="325120" y="419100"/>
                    <a:pt x="419100" y="325120"/>
                    <a:pt x="419100" y="209550"/>
                  </a:cubicBezTo>
                  <a:cubicBezTo>
                    <a:pt x="419100" y="93980"/>
                    <a:pt x="325120" y="0"/>
                    <a:pt x="209550" y="0"/>
                  </a:cubicBezTo>
                  <a:close/>
                </a:path>
              </a:pathLst>
            </a:custGeom>
            <a:solidFill>
              <a:srgbClr val="3A7377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10673185" y="4011570"/>
            <a:ext cx="5718014" cy="2245051"/>
            <a:chOff x="0" y="0"/>
            <a:chExt cx="1505979" cy="59128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505979" cy="591289"/>
            </a:xfrm>
            <a:custGeom>
              <a:avLst/>
              <a:gdLst/>
              <a:ahLst/>
              <a:cxnLst/>
              <a:rect l="l" t="t" r="r" b="b"/>
              <a:pathLst>
                <a:path w="1505979" h="591289">
                  <a:moveTo>
                    <a:pt x="44680" y="0"/>
                  </a:moveTo>
                  <a:lnTo>
                    <a:pt x="1461299" y="0"/>
                  </a:lnTo>
                  <a:cubicBezTo>
                    <a:pt x="1473149" y="0"/>
                    <a:pt x="1484513" y="4707"/>
                    <a:pt x="1492892" y="13087"/>
                  </a:cubicBezTo>
                  <a:cubicBezTo>
                    <a:pt x="1501272" y="21466"/>
                    <a:pt x="1505979" y="32830"/>
                    <a:pt x="1505979" y="44680"/>
                  </a:cubicBezTo>
                  <a:lnTo>
                    <a:pt x="1505979" y="546609"/>
                  </a:lnTo>
                  <a:cubicBezTo>
                    <a:pt x="1505979" y="558459"/>
                    <a:pt x="1501272" y="569823"/>
                    <a:pt x="1492892" y="578202"/>
                  </a:cubicBezTo>
                  <a:cubicBezTo>
                    <a:pt x="1484513" y="586582"/>
                    <a:pt x="1473149" y="591289"/>
                    <a:pt x="1461299" y="591289"/>
                  </a:cubicBezTo>
                  <a:lnTo>
                    <a:pt x="44680" y="591289"/>
                  </a:lnTo>
                  <a:cubicBezTo>
                    <a:pt x="32830" y="591289"/>
                    <a:pt x="21466" y="586582"/>
                    <a:pt x="13087" y="578202"/>
                  </a:cubicBezTo>
                  <a:cubicBezTo>
                    <a:pt x="4707" y="569823"/>
                    <a:pt x="0" y="558459"/>
                    <a:pt x="0" y="546609"/>
                  </a:cubicBezTo>
                  <a:lnTo>
                    <a:pt x="0" y="44680"/>
                  </a:lnTo>
                  <a:cubicBezTo>
                    <a:pt x="0" y="32830"/>
                    <a:pt x="4707" y="21466"/>
                    <a:pt x="13087" y="13087"/>
                  </a:cubicBezTo>
                  <a:cubicBezTo>
                    <a:pt x="21466" y="4707"/>
                    <a:pt x="32830" y="0"/>
                    <a:pt x="44680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505979" cy="6293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16" name="Group 16"/>
          <p:cNvGrpSpPr>
            <a:grpSpLocks noChangeAspect="1"/>
          </p:cNvGrpSpPr>
          <p:nvPr/>
        </p:nvGrpSpPr>
        <p:grpSpPr>
          <a:xfrm>
            <a:off x="9716444" y="4260242"/>
            <a:ext cx="1736201" cy="1736201"/>
            <a:chOff x="0" y="0"/>
            <a:chExt cx="14400530" cy="1440053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4400530" cy="14399261"/>
            </a:xfrm>
            <a:custGeom>
              <a:avLst/>
              <a:gdLst/>
              <a:ahLst/>
              <a:cxnLst/>
              <a:rect l="l" t="t" r="r" b="b"/>
              <a:pathLst>
                <a:path w="14400530" h="14399261">
                  <a:moveTo>
                    <a:pt x="7199630" y="0"/>
                  </a:moveTo>
                  <a:cubicBezTo>
                    <a:pt x="3223260" y="0"/>
                    <a:pt x="0" y="3223260"/>
                    <a:pt x="0" y="7199630"/>
                  </a:cubicBezTo>
                  <a:cubicBezTo>
                    <a:pt x="0" y="11176001"/>
                    <a:pt x="3223260" y="14399261"/>
                    <a:pt x="7199630" y="14399261"/>
                  </a:cubicBezTo>
                  <a:lnTo>
                    <a:pt x="14399261" y="14399261"/>
                  </a:lnTo>
                  <a:lnTo>
                    <a:pt x="14399261" y="7199630"/>
                  </a:lnTo>
                  <a:cubicBezTo>
                    <a:pt x="14400530" y="3223260"/>
                    <a:pt x="11176000" y="0"/>
                    <a:pt x="7199630" y="0"/>
                  </a:cubicBezTo>
                  <a:close/>
                </a:path>
              </a:pathLst>
            </a:custGeom>
            <a:solidFill>
              <a:srgbClr val="5EA6B2"/>
            </a:solidFill>
          </p:spPr>
        </p:sp>
      </p:grpSp>
      <p:grpSp>
        <p:nvGrpSpPr>
          <p:cNvPr id="18" name="Group 18"/>
          <p:cNvGrpSpPr>
            <a:grpSpLocks noChangeAspect="1"/>
          </p:cNvGrpSpPr>
          <p:nvPr/>
        </p:nvGrpSpPr>
        <p:grpSpPr>
          <a:xfrm>
            <a:off x="9835296" y="4379093"/>
            <a:ext cx="1498498" cy="1498498"/>
            <a:chOff x="0" y="0"/>
            <a:chExt cx="495300" cy="4953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95300" cy="495300"/>
            </a:xfrm>
            <a:custGeom>
              <a:avLst/>
              <a:gdLst/>
              <a:ahLst/>
              <a:cxnLst/>
              <a:rect l="l" t="t" r="r" b="b"/>
              <a:pathLst>
                <a:path w="495300" h="495300">
                  <a:moveTo>
                    <a:pt x="247650" y="0"/>
                  </a:moveTo>
                  <a:cubicBezTo>
                    <a:pt x="110490" y="0"/>
                    <a:pt x="0" y="110490"/>
                    <a:pt x="0" y="247650"/>
                  </a:cubicBezTo>
                  <a:cubicBezTo>
                    <a:pt x="0" y="384810"/>
                    <a:pt x="110490" y="495300"/>
                    <a:pt x="247650" y="495300"/>
                  </a:cubicBezTo>
                  <a:cubicBezTo>
                    <a:pt x="383540" y="495300"/>
                    <a:pt x="495300" y="384810"/>
                    <a:pt x="495300" y="247650"/>
                  </a:cubicBezTo>
                  <a:cubicBezTo>
                    <a:pt x="495300" y="110490"/>
                    <a:pt x="383540" y="0"/>
                    <a:pt x="247650" y="0"/>
                  </a:cubicBezTo>
                  <a:close/>
                  <a:moveTo>
                    <a:pt x="247650" y="457200"/>
                  </a:moveTo>
                  <a:cubicBezTo>
                    <a:pt x="132080" y="457200"/>
                    <a:pt x="38100" y="363220"/>
                    <a:pt x="38100" y="247650"/>
                  </a:cubicBezTo>
                  <a:cubicBezTo>
                    <a:pt x="38100" y="132080"/>
                    <a:pt x="132080" y="38100"/>
                    <a:pt x="247650" y="38100"/>
                  </a:cubicBezTo>
                  <a:cubicBezTo>
                    <a:pt x="363220" y="38100"/>
                    <a:pt x="457200" y="132080"/>
                    <a:pt x="457200" y="247650"/>
                  </a:cubicBezTo>
                  <a:cubicBezTo>
                    <a:pt x="457200" y="363220"/>
                    <a:pt x="363220" y="457200"/>
                    <a:pt x="247650" y="4572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0" name="Freeform 20"/>
            <p:cNvSpPr/>
            <p:nvPr/>
          </p:nvSpPr>
          <p:spPr>
            <a:xfrm>
              <a:off x="38100" y="38100"/>
              <a:ext cx="419100" cy="419100"/>
            </a:xfrm>
            <a:custGeom>
              <a:avLst/>
              <a:gdLst/>
              <a:ahLst/>
              <a:cxnLst/>
              <a:rect l="l" t="t" r="r" b="b"/>
              <a:pathLst>
                <a:path w="419100" h="419100">
                  <a:moveTo>
                    <a:pt x="209550" y="0"/>
                  </a:moveTo>
                  <a:cubicBezTo>
                    <a:pt x="93980" y="0"/>
                    <a:pt x="0" y="93980"/>
                    <a:pt x="0" y="209550"/>
                  </a:cubicBezTo>
                  <a:cubicBezTo>
                    <a:pt x="0" y="325120"/>
                    <a:pt x="93980" y="419100"/>
                    <a:pt x="209550" y="419100"/>
                  </a:cubicBezTo>
                  <a:cubicBezTo>
                    <a:pt x="325120" y="419100"/>
                    <a:pt x="419100" y="325120"/>
                    <a:pt x="419100" y="209550"/>
                  </a:cubicBezTo>
                  <a:cubicBezTo>
                    <a:pt x="419100" y="93980"/>
                    <a:pt x="325120" y="0"/>
                    <a:pt x="209550" y="0"/>
                  </a:cubicBezTo>
                  <a:close/>
                </a:path>
              </a:pathLst>
            </a:custGeom>
            <a:solidFill>
              <a:srgbClr val="5EA6B2"/>
            </a:solidFill>
          </p:spPr>
        </p:sp>
      </p:grpSp>
      <p:sp>
        <p:nvSpPr>
          <p:cNvPr id="21" name="Freeform 21"/>
          <p:cNvSpPr/>
          <p:nvPr/>
        </p:nvSpPr>
        <p:spPr>
          <a:xfrm flipH="1">
            <a:off x="2747441" y="7176656"/>
            <a:ext cx="5718014" cy="3073433"/>
          </a:xfrm>
          <a:custGeom>
            <a:avLst/>
            <a:gdLst/>
            <a:ahLst/>
            <a:cxnLst/>
            <a:rect l="l" t="t" r="r" b="b"/>
            <a:pathLst>
              <a:path w="5718014" h="3073433">
                <a:moveTo>
                  <a:pt x="5718014" y="0"/>
                </a:moveTo>
                <a:lnTo>
                  <a:pt x="0" y="0"/>
                </a:lnTo>
                <a:lnTo>
                  <a:pt x="0" y="3073432"/>
                </a:lnTo>
                <a:lnTo>
                  <a:pt x="5718014" y="3073432"/>
                </a:lnTo>
                <a:lnTo>
                  <a:pt x="5718014" y="0"/>
                </a:lnTo>
                <a:close/>
              </a:path>
            </a:pathLst>
          </a:custGeom>
          <a:blipFill>
            <a:blip r:embed="rId3">
              <a:alphaModFix amt="2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 flipH="1">
            <a:off x="10673185" y="7176656"/>
            <a:ext cx="5718014" cy="3073433"/>
          </a:xfrm>
          <a:custGeom>
            <a:avLst/>
            <a:gdLst/>
            <a:ahLst/>
            <a:cxnLst/>
            <a:rect l="l" t="t" r="r" b="b"/>
            <a:pathLst>
              <a:path w="5718014" h="3073433">
                <a:moveTo>
                  <a:pt x="5718014" y="0"/>
                </a:moveTo>
                <a:lnTo>
                  <a:pt x="0" y="0"/>
                </a:lnTo>
                <a:lnTo>
                  <a:pt x="0" y="3073432"/>
                </a:lnTo>
                <a:lnTo>
                  <a:pt x="5718014" y="3073432"/>
                </a:lnTo>
                <a:lnTo>
                  <a:pt x="5718014" y="0"/>
                </a:lnTo>
                <a:close/>
              </a:path>
            </a:pathLst>
          </a:custGeom>
          <a:blipFill>
            <a:blip r:embed="rId3">
              <a:alphaModFix amt="2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23" name="Group 23"/>
          <p:cNvGrpSpPr/>
          <p:nvPr/>
        </p:nvGrpSpPr>
        <p:grpSpPr>
          <a:xfrm>
            <a:off x="2747441" y="7013249"/>
            <a:ext cx="5718014" cy="2245051"/>
            <a:chOff x="0" y="0"/>
            <a:chExt cx="1505979" cy="59128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505979" cy="591289"/>
            </a:xfrm>
            <a:custGeom>
              <a:avLst/>
              <a:gdLst/>
              <a:ahLst/>
              <a:cxnLst/>
              <a:rect l="l" t="t" r="r" b="b"/>
              <a:pathLst>
                <a:path w="1505979" h="591289">
                  <a:moveTo>
                    <a:pt x="44680" y="0"/>
                  </a:moveTo>
                  <a:lnTo>
                    <a:pt x="1461299" y="0"/>
                  </a:lnTo>
                  <a:cubicBezTo>
                    <a:pt x="1473149" y="0"/>
                    <a:pt x="1484513" y="4707"/>
                    <a:pt x="1492892" y="13087"/>
                  </a:cubicBezTo>
                  <a:cubicBezTo>
                    <a:pt x="1501272" y="21466"/>
                    <a:pt x="1505979" y="32830"/>
                    <a:pt x="1505979" y="44680"/>
                  </a:cubicBezTo>
                  <a:lnTo>
                    <a:pt x="1505979" y="546609"/>
                  </a:lnTo>
                  <a:cubicBezTo>
                    <a:pt x="1505979" y="558459"/>
                    <a:pt x="1501272" y="569823"/>
                    <a:pt x="1492892" y="578202"/>
                  </a:cubicBezTo>
                  <a:cubicBezTo>
                    <a:pt x="1484513" y="586582"/>
                    <a:pt x="1473149" y="591289"/>
                    <a:pt x="1461299" y="591289"/>
                  </a:cubicBezTo>
                  <a:lnTo>
                    <a:pt x="44680" y="591289"/>
                  </a:lnTo>
                  <a:cubicBezTo>
                    <a:pt x="32830" y="591289"/>
                    <a:pt x="21466" y="586582"/>
                    <a:pt x="13087" y="578202"/>
                  </a:cubicBezTo>
                  <a:cubicBezTo>
                    <a:pt x="4707" y="569823"/>
                    <a:pt x="0" y="558459"/>
                    <a:pt x="0" y="546609"/>
                  </a:cubicBezTo>
                  <a:lnTo>
                    <a:pt x="0" y="44680"/>
                  </a:lnTo>
                  <a:cubicBezTo>
                    <a:pt x="0" y="32830"/>
                    <a:pt x="4707" y="21466"/>
                    <a:pt x="13087" y="13087"/>
                  </a:cubicBezTo>
                  <a:cubicBezTo>
                    <a:pt x="21466" y="4707"/>
                    <a:pt x="32830" y="0"/>
                    <a:pt x="44680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1505979" cy="6293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26" name="Group 26"/>
          <p:cNvGrpSpPr>
            <a:grpSpLocks noChangeAspect="1"/>
          </p:cNvGrpSpPr>
          <p:nvPr/>
        </p:nvGrpSpPr>
        <p:grpSpPr>
          <a:xfrm>
            <a:off x="1790700" y="7261921"/>
            <a:ext cx="1736201" cy="1736201"/>
            <a:chOff x="0" y="0"/>
            <a:chExt cx="14400530" cy="1440053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4400530" cy="14399261"/>
            </a:xfrm>
            <a:custGeom>
              <a:avLst/>
              <a:gdLst/>
              <a:ahLst/>
              <a:cxnLst/>
              <a:rect l="l" t="t" r="r" b="b"/>
              <a:pathLst>
                <a:path w="14400530" h="14399261">
                  <a:moveTo>
                    <a:pt x="7199630" y="0"/>
                  </a:moveTo>
                  <a:cubicBezTo>
                    <a:pt x="3223260" y="0"/>
                    <a:pt x="0" y="3223260"/>
                    <a:pt x="0" y="7199630"/>
                  </a:cubicBezTo>
                  <a:cubicBezTo>
                    <a:pt x="0" y="11176001"/>
                    <a:pt x="3223260" y="14399261"/>
                    <a:pt x="7199630" y="14399261"/>
                  </a:cubicBezTo>
                  <a:lnTo>
                    <a:pt x="14399261" y="14399261"/>
                  </a:lnTo>
                  <a:lnTo>
                    <a:pt x="14399261" y="7199630"/>
                  </a:lnTo>
                  <a:cubicBezTo>
                    <a:pt x="14400530" y="3223260"/>
                    <a:pt x="11176000" y="0"/>
                    <a:pt x="7199630" y="0"/>
                  </a:cubicBezTo>
                  <a:close/>
                </a:path>
              </a:pathLst>
            </a:custGeom>
            <a:solidFill>
              <a:srgbClr val="10AD5D"/>
            </a:solidFill>
          </p:spPr>
        </p:sp>
      </p:grpSp>
      <p:grpSp>
        <p:nvGrpSpPr>
          <p:cNvPr id="28" name="Group 28"/>
          <p:cNvGrpSpPr>
            <a:grpSpLocks noChangeAspect="1"/>
          </p:cNvGrpSpPr>
          <p:nvPr/>
        </p:nvGrpSpPr>
        <p:grpSpPr>
          <a:xfrm>
            <a:off x="1909552" y="7380772"/>
            <a:ext cx="1498498" cy="1498498"/>
            <a:chOff x="0" y="0"/>
            <a:chExt cx="495300" cy="4953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495300" cy="495300"/>
            </a:xfrm>
            <a:custGeom>
              <a:avLst/>
              <a:gdLst/>
              <a:ahLst/>
              <a:cxnLst/>
              <a:rect l="l" t="t" r="r" b="b"/>
              <a:pathLst>
                <a:path w="495300" h="495300">
                  <a:moveTo>
                    <a:pt x="247650" y="0"/>
                  </a:moveTo>
                  <a:cubicBezTo>
                    <a:pt x="110490" y="0"/>
                    <a:pt x="0" y="110490"/>
                    <a:pt x="0" y="247650"/>
                  </a:cubicBezTo>
                  <a:cubicBezTo>
                    <a:pt x="0" y="384810"/>
                    <a:pt x="110490" y="495300"/>
                    <a:pt x="247650" y="495300"/>
                  </a:cubicBezTo>
                  <a:cubicBezTo>
                    <a:pt x="383540" y="495300"/>
                    <a:pt x="495300" y="384810"/>
                    <a:pt x="495300" y="247650"/>
                  </a:cubicBezTo>
                  <a:cubicBezTo>
                    <a:pt x="495300" y="110490"/>
                    <a:pt x="383540" y="0"/>
                    <a:pt x="247650" y="0"/>
                  </a:cubicBezTo>
                  <a:close/>
                  <a:moveTo>
                    <a:pt x="247650" y="457200"/>
                  </a:moveTo>
                  <a:cubicBezTo>
                    <a:pt x="132080" y="457200"/>
                    <a:pt x="38100" y="363220"/>
                    <a:pt x="38100" y="247650"/>
                  </a:cubicBezTo>
                  <a:cubicBezTo>
                    <a:pt x="38100" y="132080"/>
                    <a:pt x="132080" y="38100"/>
                    <a:pt x="247650" y="38100"/>
                  </a:cubicBezTo>
                  <a:cubicBezTo>
                    <a:pt x="363220" y="38100"/>
                    <a:pt x="457200" y="132080"/>
                    <a:pt x="457200" y="247650"/>
                  </a:cubicBezTo>
                  <a:cubicBezTo>
                    <a:pt x="457200" y="363220"/>
                    <a:pt x="363220" y="457200"/>
                    <a:pt x="247650" y="4572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0" name="Freeform 30"/>
            <p:cNvSpPr/>
            <p:nvPr/>
          </p:nvSpPr>
          <p:spPr>
            <a:xfrm>
              <a:off x="38100" y="38100"/>
              <a:ext cx="419100" cy="419100"/>
            </a:xfrm>
            <a:custGeom>
              <a:avLst/>
              <a:gdLst/>
              <a:ahLst/>
              <a:cxnLst/>
              <a:rect l="l" t="t" r="r" b="b"/>
              <a:pathLst>
                <a:path w="419100" h="419100">
                  <a:moveTo>
                    <a:pt x="209550" y="0"/>
                  </a:moveTo>
                  <a:cubicBezTo>
                    <a:pt x="93980" y="0"/>
                    <a:pt x="0" y="93980"/>
                    <a:pt x="0" y="209550"/>
                  </a:cubicBezTo>
                  <a:cubicBezTo>
                    <a:pt x="0" y="325120"/>
                    <a:pt x="93980" y="419100"/>
                    <a:pt x="209550" y="419100"/>
                  </a:cubicBezTo>
                  <a:cubicBezTo>
                    <a:pt x="325120" y="419100"/>
                    <a:pt x="419100" y="325120"/>
                    <a:pt x="419100" y="209550"/>
                  </a:cubicBezTo>
                  <a:cubicBezTo>
                    <a:pt x="419100" y="93980"/>
                    <a:pt x="325120" y="0"/>
                    <a:pt x="209550" y="0"/>
                  </a:cubicBezTo>
                  <a:close/>
                </a:path>
              </a:pathLst>
            </a:custGeom>
            <a:solidFill>
              <a:srgbClr val="10AD5D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10673185" y="7013249"/>
            <a:ext cx="5718014" cy="2245051"/>
            <a:chOff x="0" y="0"/>
            <a:chExt cx="1505979" cy="59128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505979" cy="591289"/>
            </a:xfrm>
            <a:custGeom>
              <a:avLst/>
              <a:gdLst/>
              <a:ahLst/>
              <a:cxnLst/>
              <a:rect l="l" t="t" r="r" b="b"/>
              <a:pathLst>
                <a:path w="1505979" h="591289">
                  <a:moveTo>
                    <a:pt x="44680" y="0"/>
                  </a:moveTo>
                  <a:lnTo>
                    <a:pt x="1461299" y="0"/>
                  </a:lnTo>
                  <a:cubicBezTo>
                    <a:pt x="1473149" y="0"/>
                    <a:pt x="1484513" y="4707"/>
                    <a:pt x="1492892" y="13087"/>
                  </a:cubicBezTo>
                  <a:cubicBezTo>
                    <a:pt x="1501272" y="21466"/>
                    <a:pt x="1505979" y="32830"/>
                    <a:pt x="1505979" y="44680"/>
                  </a:cubicBezTo>
                  <a:lnTo>
                    <a:pt x="1505979" y="546609"/>
                  </a:lnTo>
                  <a:cubicBezTo>
                    <a:pt x="1505979" y="558459"/>
                    <a:pt x="1501272" y="569823"/>
                    <a:pt x="1492892" y="578202"/>
                  </a:cubicBezTo>
                  <a:cubicBezTo>
                    <a:pt x="1484513" y="586582"/>
                    <a:pt x="1473149" y="591289"/>
                    <a:pt x="1461299" y="591289"/>
                  </a:cubicBezTo>
                  <a:lnTo>
                    <a:pt x="44680" y="591289"/>
                  </a:lnTo>
                  <a:cubicBezTo>
                    <a:pt x="32830" y="591289"/>
                    <a:pt x="21466" y="586582"/>
                    <a:pt x="13087" y="578202"/>
                  </a:cubicBezTo>
                  <a:cubicBezTo>
                    <a:pt x="4707" y="569823"/>
                    <a:pt x="0" y="558459"/>
                    <a:pt x="0" y="546609"/>
                  </a:cubicBezTo>
                  <a:lnTo>
                    <a:pt x="0" y="44680"/>
                  </a:lnTo>
                  <a:cubicBezTo>
                    <a:pt x="0" y="32830"/>
                    <a:pt x="4707" y="21466"/>
                    <a:pt x="13087" y="13087"/>
                  </a:cubicBezTo>
                  <a:cubicBezTo>
                    <a:pt x="21466" y="4707"/>
                    <a:pt x="32830" y="0"/>
                    <a:pt x="44680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0" y="-38100"/>
              <a:ext cx="1505979" cy="6293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34" name="Group 34"/>
          <p:cNvGrpSpPr>
            <a:grpSpLocks noChangeAspect="1"/>
          </p:cNvGrpSpPr>
          <p:nvPr/>
        </p:nvGrpSpPr>
        <p:grpSpPr>
          <a:xfrm>
            <a:off x="9716444" y="7261921"/>
            <a:ext cx="1736201" cy="1736201"/>
            <a:chOff x="0" y="0"/>
            <a:chExt cx="14400530" cy="1440053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4400530" cy="14399261"/>
            </a:xfrm>
            <a:custGeom>
              <a:avLst/>
              <a:gdLst/>
              <a:ahLst/>
              <a:cxnLst/>
              <a:rect l="l" t="t" r="r" b="b"/>
              <a:pathLst>
                <a:path w="14400530" h="14399261">
                  <a:moveTo>
                    <a:pt x="7199630" y="0"/>
                  </a:moveTo>
                  <a:cubicBezTo>
                    <a:pt x="3223260" y="0"/>
                    <a:pt x="0" y="3223260"/>
                    <a:pt x="0" y="7199630"/>
                  </a:cubicBezTo>
                  <a:cubicBezTo>
                    <a:pt x="0" y="11176001"/>
                    <a:pt x="3223260" y="14399261"/>
                    <a:pt x="7199630" y="14399261"/>
                  </a:cubicBezTo>
                  <a:lnTo>
                    <a:pt x="14399261" y="14399261"/>
                  </a:lnTo>
                  <a:lnTo>
                    <a:pt x="14399261" y="7199630"/>
                  </a:lnTo>
                  <a:cubicBezTo>
                    <a:pt x="14400530" y="3223260"/>
                    <a:pt x="11176000" y="0"/>
                    <a:pt x="7199630" y="0"/>
                  </a:cubicBezTo>
                  <a:close/>
                </a:path>
              </a:pathLst>
            </a:custGeom>
            <a:solidFill>
              <a:srgbClr val="B9DB5F"/>
            </a:solidFill>
          </p:spPr>
        </p:sp>
      </p:grpSp>
      <p:grpSp>
        <p:nvGrpSpPr>
          <p:cNvPr id="36" name="Group 36"/>
          <p:cNvGrpSpPr>
            <a:grpSpLocks noChangeAspect="1"/>
          </p:cNvGrpSpPr>
          <p:nvPr/>
        </p:nvGrpSpPr>
        <p:grpSpPr>
          <a:xfrm>
            <a:off x="9835296" y="7380772"/>
            <a:ext cx="1498498" cy="1498498"/>
            <a:chOff x="0" y="0"/>
            <a:chExt cx="495300" cy="4953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495300" cy="495300"/>
            </a:xfrm>
            <a:custGeom>
              <a:avLst/>
              <a:gdLst/>
              <a:ahLst/>
              <a:cxnLst/>
              <a:rect l="l" t="t" r="r" b="b"/>
              <a:pathLst>
                <a:path w="495300" h="495300">
                  <a:moveTo>
                    <a:pt x="247650" y="0"/>
                  </a:moveTo>
                  <a:cubicBezTo>
                    <a:pt x="110490" y="0"/>
                    <a:pt x="0" y="110490"/>
                    <a:pt x="0" y="247650"/>
                  </a:cubicBezTo>
                  <a:cubicBezTo>
                    <a:pt x="0" y="384810"/>
                    <a:pt x="110490" y="495300"/>
                    <a:pt x="247650" y="495300"/>
                  </a:cubicBezTo>
                  <a:cubicBezTo>
                    <a:pt x="383540" y="495300"/>
                    <a:pt x="495300" y="384810"/>
                    <a:pt x="495300" y="247650"/>
                  </a:cubicBezTo>
                  <a:cubicBezTo>
                    <a:pt x="495300" y="110490"/>
                    <a:pt x="383540" y="0"/>
                    <a:pt x="247650" y="0"/>
                  </a:cubicBezTo>
                  <a:close/>
                  <a:moveTo>
                    <a:pt x="247650" y="457200"/>
                  </a:moveTo>
                  <a:cubicBezTo>
                    <a:pt x="132080" y="457200"/>
                    <a:pt x="38100" y="363220"/>
                    <a:pt x="38100" y="247650"/>
                  </a:cubicBezTo>
                  <a:cubicBezTo>
                    <a:pt x="38100" y="132080"/>
                    <a:pt x="132080" y="38100"/>
                    <a:pt x="247650" y="38100"/>
                  </a:cubicBezTo>
                  <a:cubicBezTo>
                    <a:pt x="363220" y="38100"/>
                    <a:pt x="457200" y="132080"/>
                    <a:pt x="457200" y="247650"/>
                  </a:cubicBezTo>
                  <a:cubicBezTo>
                    <a:pt x="457200" y="363220"/>
                    <a:pt x="363220" y="457200"/>
                    <a:pt x="247650" y="4572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8" name="Freeform 38"/>
            <p:cNvSpPr/>
            <p:nvPr/>
          </p:nvSpPr>
          <p:spPr>
            <a:xfrm>
              <a:off x="38100" y="38100"/>
              <a:ext cx="419100" cy="419100"/>
            </a:xfrm>
            <a:custGeom>
              <a:avLst/>
              <a:gdLst/>
              <a:ahLst/>
              <a:cxnLst/>
              <a:rect l="l" t="t" r="r" b="b"/>
              <a:pathLst>
                <a:path w="419100" h="419100">
                  <a:moveTo>
                    <a:pt x="209550" y="0"/>
                  </a:moveTo>
                  <a:cubicBezTo>
                    <a:pt x="93980" y="0"/>
                    <a:pt x="0" y="93980"/>
                    <a:pt x="0" y="209550"/>
                  </a:cubicBezTo>
                  <a:cubicBezTo>
                    <a:pt x="0" y="325120"/>
                    <a:pt x="93980" y="419100"/>
                    <a:pt x="209550" y="419100"/>
                  </a:cubicBezTo>
                  <a:cubicBezTo>
                    <a:pt x="325120" y="419100"/>
                    <a:pt x="419100" y="325120"/>
                    <a:pt x="419100" y="209550"/>
                  </a:cubicBezTo>
                  <a:cubicBezTo>
                    <a:pt x="419100" y="93980"/>
                    <a:pt x="325120" y="0"/>
                    <a:pt x="209550" y="0"/>
                  </a:cubicBezTo>
                  <a:close/>
                </a:path>
              </a:pathLst>
            </a:custGeom>
            <a:solidFill>
              <a:srgbClr val="B9DB5F"/>
            </a:solidFill>
          </p:spPr>
        </p:sp>
      </p:grpSp>
      <p:sp>
        <p:nvSpPr>
          <p:cNvPr id="39" name="AutoShape 39"/>
          <p:cNvSpPr/>
          <p:nvPr/>
        </p:nvSpPr>
        <p:spPr>
          <a:xfrm>
            <a:off x="-369380" y="650332"/>
            <a:ext cx="1279725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0" name="Freeform 40"/>
          <p:cNvSpPr/>
          <p:nvPr/>
        </p:nvSpPr>
        <p:spPr>
          <a:xfrm>
            <a:off x="2278109" y="7852863"/>
            <a:ext cx="761383" cy="710942"/>
          </a:xfrm>
          <a:custGeom>
            <a:avLst/>
            <a:gdLst/>
            <a:ahLst/>
            <a:cxnLst/>
            <a:rect l="l" t="t" r="r" b="b"/>
            <a:pathLst>
              <a:path w="761383" h="710942">
                <a:moveTo>
                  <a:pt x="0" y="0"/>
                </a:moveTo>
                <a:lnTo>
                  <a:pt x="761383" y="0"/>
                </a:lnTo>
                <a:lnTo>
                  <a:pt x="761383" y="710942"/>
                </a:lnTo>
                <a:lnTo>
                  <a:pt x="0" y="71094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1" name="Freeform 41"/>
          <p:cNvSpPr/>
          <p:nvPr/>
        </p:nvSpPr>
        <p:spPr>
          <a:xfrm>
            <a:off x="10348525" y="7694616"/>
            <a:ext cx="472039" cy="882317"/>
          </a:xfrm>
          <a:custGeom>
            <a:avLst/>
            <a:gdLst/>
            <a:ahLst/>
            <a:cxnLst/>
            <a:rect l="l" t="t" r="r" b="b"/>
            <a:pathLst>
              <a:path w="472039" h="882317">
                <a:moveTo>
                  <a:pt x="0" y="0"/>
                </a:moveTo>
                <a:lnTo>
                  <a:pt x="472039" y="0"/>
                </a:lnTo>
                <a:lnTo>
                  <a:pt x="472039" y="882317"/>
                </a:lnTo>
                <a:lnTo>
                  <a:pt x="0" y="88231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2" name="Freeform 42"/>
          <p:cNvSpPr/>
          <p:nvPr/>
        </p:nvSpPr>
        <p:spPr>
          <a:xfrm>
            <a:off x="10164838" y="4746933"/>
            <a:ext cx="839414" cy="762818"/>
          </a:xfrm>
          <a:custGeom>
            <a:avLst/>
            <a:gdLst/>
            <a:ahLst/>
            <a:cxnLst/>
            <a:rect l="l" t="t" r="r" b="b"/>
            <a:pathLst>
              <a:path w="839414" h="762818">
                <a:moveTo>
                  <a:pt x="0" y="0"/>
                </a:moveTo>
                <a:lnTo>
                  <a:pt x="839414" y="0"/>
                </a:lnTo>
                <a:lnTo>
                  <a:pt x="839414" y="762818"/>
                </a:lnTo>
                <a:lnTo>
                  <a:pt x="0" y="76281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3" name="Freeform 43"/>
          <p:cNvSpPr/>
          <p:nvPr/>
        </p:nvSpPr>
        <p:spPr>
          <a:xfrm>
            <a:off x="2193006" y="4662548"/>
            <a:ext cx="931589" cy="931589"/>
          </a:xfrm>
          <a:custGeom>
            <a:avLst/>
            <a:gdLst/>
            <a:ahLst/>
            <a:cxnLst/>
            <a:rect l="l" t="t" r="r" b="b"/>
            <a:pathLst>
              <a:path w="931589" h="931589">
                <a:moveTo>
                  <a:pt x="0" y="0"/>
                </a:moveTo>
                <a:lnTo>
                  <a:pt x="931589" y="0"/>
                </a:lnTo>
                <a:lnTo>
                  <a:pt x="931589" y="931589"/>
                </a:lnTo>
                <a:lnTo>
                  <a:pt x="0" y="93158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44" name="Freeform 44"/>
          <p:cNvSpPr/>
          <p:nvPr/>
        </p:nvSpPr>
        <p:spPr>
          <a:xfrm>
            <a:off x="-865757" y="-496474"/>
            <a:ext cx="1731513" cy="1525174"/>
          </a:xfrm>
          <a:custGeom>
            <a:avLst/>
            <a:gdLst/>
            <a:ahLst/>
            <a:cxnLst/>
            <a:rect l="l" t="t" r="r" b="b"/>
            <a:pathLst>
              <a:path w="1731513" h="1525174">
                <a:moveTo>
                  <a:pt x="0" y="0"/>
                </a:moveTo>
                <a:lnTo>
                  <a:pt x="1731514" y="0"/>
                </a:lnTo>
                <a:lnTo>
                  <a:pt x="1731514" y="1525174"/>
                </a:lnTo>
                <a:lnTo>
                  <a:pt x="0" y="152517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45" name="Freeform 45"/>
          <p:cNvSpPr/>
          <p:nvPr/>
        </p:nvSpPr>
        <p:spPr>
          <a:xfrm rot="-3807752" flipV="1">
            <a:off x="17013101" y="9453376"/>
            <a:ext cx="1837188" cy="1667248"/>
          </a:xfrm>
          <a:custGeom>
            <a:avLst/>
            <a:gdLst/>
            <a:ahLst/>
            <a:cxnLst/>
            <a:rect l="l" t="t" r="r" b="b"/>
            <a:pathLst>
              <a:path w="1837188" h="1667248">
                <a:moveTo>
                  <a:pt x="0" y="1667248"/>
                </a:moveTo>
                <a:lnTo>
                  <a:pt x="1837188" y="1667248"/>
                </a:lnTo>
                <a:lnTo>
                  <a:pt x="1837188" y="0"/>
                </a:lnTo>
                <a:lnTo>
                  <a:pt x="0" y="0"/>
                </a:lnTo>
                <a:lnTo>
                  <a:pt x="0" y="1667248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6"/>
          <p:cNvSpPr txBox="1"/>
          <p:nvPr/>
        </p:nvSpPr>
        <p:spPr>
          <a:xfrm>
            <a:off x="3939656" y="4350518"/>
            <a:ext cx="4144490" cy="4387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639"/>
              </a:lnSpc>
              <a:spcBef>
                <a:spcPct val="0"/>
              </a:spcBef>
            </a:pPr>
            <a:r>
              <a:rPr lang="en-US" altLang="zh-CN" sz="2599" b="1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Communica.</a:t>
            </a:r>
            <a:endParaRPr lang="en-US" sz="2599" b="1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3939655" y="4945894"/>
            <a:ext cx="4144491" cy="2814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altLang="zh-CN" sz="1599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Core Value: Transparent Communication - direct, honest, and open flow of information.</a:t>
            </a:r>
            <a:endParaRPr lang="en-US" sz="1599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49" name="TextBox 49"/>
          <p:cNvSpPr txBox="1"/>
          <p:nvPr/>
        </p:nvSpPr>
        <p:spPr>
          <a:xfrm>
            <a:off x="3541977" y="1028700"/>
            <a:ext cx="11204046" cy="796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6480"/>
              </a:lnSpc>
            </a:pPr>
            <a:r>
              <a:rPr lang="en-US" altLang="zh-CN" sz="5400" b="1" u="none" strike="noStrike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Company Culture</a:t>
            </a:r>
            <a:endParaRPr lang="en-US" sz="5400" b="1" u="none" strike="noStrike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51" name="TextBox 51"/>
          <p:cNvSpPr txBox="1"/>
          <p:nvPr/>
        </p:nvSpPr>
        <p:spPr>
          <a:xfrm>
            <a:off x="11865400" y="4350518"/>
            <a:ext cx="4144490" cy="4387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639"/>
              </a:lnSpc>
              <a:spcBef>
                <a:spcPct val="0"/>
              </a:spcBef>
            </a:pPr>
            <a:r>
              <a:rPr lang="en-US" altLang="zh-CN" sz="2599" b="1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Collab.</a:t>
            </a:r>
            <a:endParaRPr lang="en-US" sz="2599" b="1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52" name="TextBox 52"/>
          <p:cNvSpPr txBox="1"/>
          <p:nvPr/>
        </p:nvSpPr>
        <p:spPr>
          <a:xfrm>
            <a:off x="11865399" y="4945894"/>
            <a:ext cx="4144491" cy="2814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altLang="zh-CN" sz="1599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Core Value: Collaboration - emphasizing mutual support and strong teamwork to achieve goals.</a:t>
            </a:r>
            <a:endParaRPr lang="en-US" sz="1599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53" name="TextBox 53"/>
          <p:cNvSpPr txBox="1"/>
          <p:nvPr/>
        </p:nvSpPr>
        <p:spPr>
          <a:xfrm>
            <a:off x="3939656" y="7352197"/>
            <a:ext cx="4144490" cy="4387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639"/>
              </a:lnSpc>
              <a:spcBef>
                <a:spcPct val="0"/>
              </a:spcBef>
            </a:pPr>
            <a:r>
              <a:rPr lang="en-US" altLang="zh-CN" sz="2599" b="1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Challenge</a:t>
            </a:r>
            <a:endParaRPr lang="en-US" sz="2599" b="1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54" name="TextBox 54"/>
          <p:cNvSpPr txBox="1"/>
          <p:nvPr/>
        </p:nvSpPr>
        <p:spPr>
          <a:xfrm>
            <a:off x="3939655" y="7947573"/>
            <a:ext cx="4144491" cy="2814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altLang="zh-CN" sz="1599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Spirit: 'Dare to Challenge, Don't Fear Mistakes' - encouraging bold creation and learning from setbacks.</a:t>
            </a:r>
            <a:endParaRPr lang="en-US" sz="1599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55" name="TextBox 55"/>
          <p:cNvSpPr txBox="1"/>
          <p:nvPr/>
        </p:nvSpPr>
        <p:spPr>
          <a:xfrm>
            <a:off x="11865400" y="7352197"/>
            <a:ext cx="4144490" cy="4387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639"/>
              </a:lnSpc>
              <a:spcBef>
                <a:spcPct val="0"/>
              </a:spcBef>
            </a:pPr>
            <a:r>
              <a:rPr lang="en-US" altLang="zh-CN" sz="2599" b="1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Teamwork</a:t>
            </a:r>
            <a:endParaRPr lang="en-US" sz="2599" b="1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56" name="TextBox 56"/>
          <p:cNvSpPr txBox="1"/>
          <p:nvPr/>
        </p:nvSpPr>
        <p:spPr>
          <a:xfrm>
            <a:off x="11865399" y="7947573"/>
            <a:ext cx="4144491" cy="2814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altLang="zh-CN" sz="1599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Spirit: 'Teamwork, Grow Together' - fostering a supportive environment for collective growth.</a:t>
            </a:r>
            <a:endParaRPr lang="en-US" sz="1599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57" name="Freeform 57"/>
          <p:cNvSpPr/>
          <p:nvPr/>
        </p:nvSpPr>
        <p:spPr>
          <a:xfrm flipH="1">
            <a:off x="-5405648" y="9457960"/>
            <a:ext cx="7315200" cy="3425952"/>
          </a:xfrm>
          <a:custGeom>
            <a:avLst/>
            <a:gdLst/>
            <a:ahLst/>
            <a:cxnLst/>
            <a:rect l="l" t="t" r="r" b="b"/>
            <a:pathLst>
              <a:path w="7315200" h="3425952">
                <a:moveTo>
                  <a:pt x="7315200" y="0"/>
                </a:moveTo>
                <a:lnTo>
                  <a:pt x="0" y="0"/>
                </a:lnTo>
                <a:lnTo>
                  <a:pt x="0" y="3425952"/>
                </a:lnTo>
                <a:lnTo>
                  <a:pt x="7315200" y="3425952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  <p:sp>
        <p:nvSpPr>
          <p:cNvPr id="58" name="Freeform 58"/>
          <p:cNvSpPr/>
          <p:nvPr/>
        </p:nvSpPr>
        <p:spPr>
          <a:xfrm flipV="1">
            <a:off x="16165514" y="-2634240"/>
            <a:ext cx="7315200" cy="3425952"/>
          </a:xfrm>
          <a:custGeom>
            <a:avLst/>
            <a:gdLst/>
            <a:ahLst/>
            <a:cxnLst/>
            <a:rect l="l" t="t" r="r" b="b"/>
            <a:pathLst>
              <a:path w="7315200" h="3425952">
                <a:moveTo>
                  <a:pt x="0" y="3425952"/>
                </a:moveTo>
                <a:lnTo>
                  <a:pt x="7315200" y="3425952"/>
                </a:lnTo>
                <a:lnTo>
                  <a:pt x="7315200" y="0"/>
                </a:lnTo>
                <a:lnTo>
                  <a:pt x="0" y="0"/>
                </a:lnTo>
                <a:lnTo>
                  <a:pt x="0" y="3425952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</TotalTime>
  <Words>872</Words>
  <Application>Microsoft Macintosh PowerPoint</Application>
  <PresentationFormat>Custom</PresentationFormat>
  <Paragraphs>92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Montserrat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 and White Modern Financial Habits Presentation</dc:title>
  <cp:lastModifiedBy>Julian</cp:lastModifiedBy>
  <cp:revision>29</cp:revision>
  <dcterms:created xsi:type="dcterms:W3CDTF">2006-08-16T00:00:00Z</dcterms:created>
  <dcterms:modified xsi:type="dcterms:W3CDTF">2025-10-17T09:59:49Z</dcterms:modified>
  <dc:identifier>DAGxQBuX5Rc</dc:identifier>
</cp:coreProperties>
</file>